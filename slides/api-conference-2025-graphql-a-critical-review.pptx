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89"/>
  </p:notesMasterIdLst>
  <p:sldIdLst>
    <p:sldId id="256" r:id="rId2"/>
    <p:sldId id="1176" r:id="rId3"/>
    <p:sldId id="499" r:id="rId4"/>
    <p:sldId id="2030" r:id="rId5"/>
    <p:sldId id="2033" r:id="rId6"/>
    <p:sldId id="2034" r:id="rId7"/>
    <p:sldId id="1194" r:id="rId8"/>
    <p:sldId id="1169" r:id="rId9"/>
    <p:sldId id="1202" r:id="rId10"/>
    <p:sldId id="1170" r:id="rId11"/>
    <p:sldId id="2080" r:id="rId12"/>
    <p:sldId id="1172" r:id="rId13"/>
    <p:sldId id="2081" r:id="rId14"/>
    <p:sldId id="2082" r:id="rId15"/>
    <p:sldId id="2083" r:id="rId16"/>
    <p:sldId id="1123" r:id="rId17"/>
    <p:sldId id="2086" r:id="rId18"/>
    <p:sldId id="2087" r:id="rId19"/>
    <p:sldId id="2088" r:id="rId20"/>
    <p:sldId id="2089" r:id="rId21"/>
    <p:sldId id="2075" r:id="rId22"/>
    <p:sldId id="2090" r:id="rId23"/>
    <p:sldId id="2091" r:id="rId24"/>
    <p:sldId id="2092" r:id="rId25"/>
    <p:sldId id="1314" r:id="rId26"/>
    <p:sldId id="1309" r:id="rId27"/>
    <p:sldId id="1313" r:id="rId28"/>
    <p:sldId id="1311" r:id="rId29"/>
    <p:sldId id="1312" r:id="rId30"/>
    <p:sldId id="2029" r:id="rId31"/>
    <p:sldId id="1315" r:id="rId32"/>
    <p:sldId id="1316" r:id="rId33"/>
    <p:sldId id="1317" r:id="rId34"/>
    <p:sldId id="2028" r:id="rId35"/>
    <p:sldId id="2093" r:id="rId36"/>
    <p:sldId id="2094" r:id="rId37"/>
    <p:sldId id="2095" r:id="rId38"/>
    <p:sldId id="2096" r:id="rId39"/>
    <p:sldId id="2097" r:id="rId40"/>
    <p:sldId id="2098" r:id="rId41"/>
    <p:sldId id="2099" r:id="rId42"/>
    <p:sldId id="2100" r:id="rId43"/>
    <p:sldId id="2101" r:id="rId44"/>
    <p:sldId id="1320" r:id="rId45"/>
    <p:sldId id="1321" r:id="rId46"/>
    <p:sldId id="2011" r:id="rId47"/>
    <p:sldId id="2102" r:id="rId48"/>
    <p:sldId id="2103" r:id="rId49"/>
    <p:sldId id="2104" r:id="rId50"/>
    <p:sldId id="1995" r:id="rId51"/>
    <p:sldId id="2073" r:id="rId52"/>
    <p:sldId id="2109" r:id="rId53"/>
    <p:sldId id="2110" r:id="rId54"/>
    <p:sldId id="2112" r:id="rId55"/>
    <p:sldId id="2113" r:id="rId56"/>
    <p:sldId id="2042" r:id="rId57"/>
    <p:sldId id="2114" r:id="rId58"/>
    <p:sldId id="2115" r:id="rId59"/>
    <p:sldId id="2116" r:id="rId60"/>
    <p:sldId id="2117" r:id="rId61"/>
    <p:sldId id="1998" r:id="rId62"/>
    <p:sldId id="1999" r:id="rId63"/>
    <p:sldId id="2047" r:id="rId64"/>
    <p:sldId id="2118" r:id="rId65"/>
    <p:sldId id="2119" r:id="rId66"/>
    <p:sldId id="2050" r:id="rId67"/>
    <p:sldId id="2121" r:id="rId68"/>
    <p:sldId id="2122" r:id="rId69"/>
    <p:sldId id="2055" r:id="rId70"/>
    <p:sldId id="2123" r:id="rId71"/>
    <p:sldId id="2124" r:id="rId72"/>
    <p:sldId id="2125" r:id="rId73"/>
    <p:sldId id="2126" r:id="rId74"/>
    <p:sldId id="2127" r:id="rId75"/>
    <p:sldId id="2068" r:id="rId76"/>
    <p:sldId id="2128" r:id="rId77"/>
    <p:sldId id="2129" r:id="rId78"/>
    <p:sldId id="2130" r:id="rId79"/>
    <p:sldId id="2131" r:id="rId80"/>
    <p:sldId id="2132" r:id="rId81"/>
    <p:sldId id="2133" r:id="rId82"/>
    <p:sldId id="2136" r:id="rId83"/>
    <p:sldId id="2137" r:id="rId84"/>
    <p:sldId id="2138" r:id="rId85"/>
    <p:sldId id="2139" r:id="rId86"/>
    <p:sldId id="2070" r:id="rId87"/>
    <p:sldId id="1799" r:id="rId8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B3FEC54-C99A-2341-AAD7-27E0ADE2F16E}">
          <p14:sldIdLst>
            <p14:sldId id="256"/>
            <p14:sldId id="1176"/>
            <p14:sldId id="499"/>
            <p14:sldId id="2030"/>
            <p14:sldId id="2033"/>
            <p14:sldId id="2034"/>
            <p14:sldId id="1194"/>
            <p14:sldId id="1169"/>
            <p14:sldId id="1202"/>
            <p14:sldId id="1170"/>
            <p14:sldId id="2080"/>
            <p14:sldId id="1172"/>
            <p14:sldId id="2081"/>
            <p14:sldId id="2082"/>
            <p14:sldId id="2083"/>
            <p14:sldId id="1123"/>
            <p14:sldId id="2086"/>
            <p14:sldId id="2087"/>
            <p14:sldId id="2088"/>
            <p14:sldId id="2089"/>
            <p14:sldId id="2075"/>
            <p14:sldId id="2090"/>
            <p14:sldId id="2091"/>
            <p14:sldId id="2092"/>
            <p14:sldId id="1314"/>
            <p14:sldId id="1309"/>
            <p14:sldId id="1313"/>
            <p14:sldId id="1311"/>
            <p14:sldId id="1312"/>
            <p14:sldId id="2029"/>
            <p14:sldId id="1315"/>
            <p14:sldId id="1316"/>
            <p14:sldId id="1317"/>
            <p14:sldId id="2028"/>
            <p14:sldId id="2093"/>
            <p14:sldId id="2094"/>
            <p14:sldId id="2095"/>
            <p14:sldId id="2096"/>
            <p14:sldId id="2097"/>
            <p14:sldId id="2098"/>
            <p14:sldId id="2099"/>
            <p14:sldId id="2100"/>
            <p14:sldId id="2101"/>
            <p14:sldId id="1320"/>
            <p14:sldId id="1321"/>
            <p14:sldId id="2011"/>
            <p14:sldId id="2102"/>
            <p14:sldId id="2103"/>
            <p14:sldId id="2104"/>
            <p14:sldId id="1995"/>
            <p14:sldId id="2073"/>
            <p14:sldId id="2109"/>
            <p14:sldId id="2110"/>
            <p14:sldId id="2112"/>
            <p14:sldId id="2113"/>
            <p14:sldId id="2042"/>
            <p14:sldId id="2114"/>
            <p14:sldId id="2115"/>
            <p14:sldId id="2116"/>
            <p14:sldId id="2117"/>
            <p14:sldId id="1998"/>
            <p14:sldId id="1999"/>
            <p14:sldId id="2047"/>
            <p14:sldId id="2118"/>
            <p14:sldId id="2119"/>
            <p14:sldId id="2050"/>
            <p14:sldId id="2121"/>
            <p14:sldId id="2122"/>
            <p14:sldId id="2055"/>
            <p14:sldId id="2123"/>
            <p14:sldId id="2124"/>
            <p14:sldId id="2125"/>
            <p14:sldId id="2126"/>
            <p14:sldId id="2127"/>
            <p14:sldId id="2068"/>
            <p14:sldId id="2128"/>
            <p14:sldId id="2129"/>
            <p14:sldId id="2130"/>
            <p14:sldId id="2131"/>
            <p14:sldId id="2132"/>
            <p14:sldId id="2133"/>
            <p14:sldId id="2136"/>
            <p14:sldId id="2137"/>
            <p14:sldId id="2138"/>
            <p14:sldId id="2139"/>
            <p14:sldId id="2070"/>
            <p14:sldId id="17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73B"/>
    <a:srgbClr val="5EA985"/>
    <a:srgbClr val="025249"/>
    <a:srgbClr val="B58900"/>
    <a:srgbClr val="41719C"/>
    <a:srgbClr val="9E60B8"/>
    <a:srgbClr val="5697D5"/>
    <a:srgbClr val="E7D641"/>
    <a:srgbClr val="E7E1AF"/>
    <a:srgbClr val="D4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1"/>
    <p:restoredTop sz="96853" autoAdjust="0"/>
  </p:normalViewPr>
  <p:slideViewPr>
    <p:cSldViewPr snapToGrid="0" snapToObjects="1">
      <p:cViewPr varScale="1">
        <p:scale>
          <a:sx n="170" d="100"/>
          <a:sy n="170" d="100"/>
        </p:scale>
        <p:origin x="75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4T10:47:58.0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0 204,'94'-9,"-42"3,2-2,2-3,2-2,12-2,4-1,7 1,2 0,7-1,0 2,-4 1,-1 2,-10 3,-3 0,-8 2,-4 1,-8 3,-2 1,41-2,-4 0,-13 0,-17 1,-15 2,-7 0,-5 0,0 0,-3 0,-3 0,-2 0,-1 0,-2 0,0 0,-1 0,1 0,1 0,2 1,1 1,3 0,1 0,4-2,0 0,-3 0,-1 0,-2 0,4 0,-1 0,-2 1,0 1,-2 0,0-1,1 1,-1 0,-1 0,3 0,2-2,3 0,5 0,-3 0,-1 1,2 1,1 0,5 1,0 0,-2-1,-2 1,-3 0,-6 0,-3 1,-3-1,-1 0,-4-1,-2 0,2 0,-3 0,5 1,-4 0,1-1,6 0,-9-2,9 0,-9 3,3-3,2 3,1-3,-2 1,1 0,-2 3,1 0,-2 1,3 1,-5-1,5-1,-2 0,1-3,0 0,1-1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4T10:48:07.6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56,'58'6,"1"-2,12 4,-12-2,7 2,16 0,6 1,-18-2,3 0,-1 0,-5-1,0 0,-1-1,25 0,-2-2,3 0,3-2,-23-1,1 0,2 0,6 0,1 0,1 0,0 0,1 0,-1 0,-4 0,-1 0,-2 0,-8 0,-2 0,0 0,33 0,-3 0,-17 0,-2 0,-3-1,-1-1,-5 0,-2 0,-7-1,0 0,2 0,-1 1,34-3,-11 0,-5 2,-20 1,-7 2,-12 0,-8-1,-9-1,-7 0,-2 1,2 1,3 0,-3 0,2 0,-4 0,4 0,3 0,-4 0,-1 0,0 0,-1 0,25 0,-5 1,55 4,-31-2,4 0,10 0,2-1,5 0,-1-1,-7 0,-3-2,-6 0,0-1,1-2,0-1,-8 0,-2 0,46-7,-11 0,-6 6,-2 0,-10 4,-7 2,-4 0,3 0,-2 0,-7 0,-4 0,-3 0,-4 0,-3 0,-6 0,-4 1,-3 1,0 2,0 0,-3-2,0 0,-3-2,-2 0,-2 0,0 0,-2 0,6 0,-3 0,3 0,-5 1,3 1,0-1,4 1,3 0,2 0,5 0,2-1,1 1,2 0,-1 0,-4 0,0-2,0 0,4 0,3 0,3 0,10 0,4 0,-2 2,1 0,-7 2,4 0,6-1,0-1,-3 0,-4 0,-6 0,-2 0,-6-2,-2 0,-1 0,-1 0,5 0,-1 0,-2 0,3 0,-3 0,1 0,-2-1,-2-3,-1-2,-2-1,-2 0,-4 1,-3 3,-2 1,-4 2,2 0,-3 0,4-1,1 0,27-1,5 7,9 2,12 1,4 1,2 1,-1 0,-2 1,-4-2,-14-4,-1-1,7 0,1-1,8-1,1 0,-2-2,-1 1,-8-1,0 0,0 0,0 0,-8 0,-1 0,46 0,-3 2,-23 1,1 0,-14 1,-6-2,-7 1,-2 3,0 0,-4 2,-5-1,-5 1,-3-1,-5 0,-2-1,-5-1,1-1,-1 0,-1 1,2-2,-2 0,2 0,2 0,0 0,0-1,1-1,1-1,3 0,3 0,2 0,5 0,3 0,3 0,3 0,1 0,1 0,1 0,-3 0,-2 0,-2 0,-4-2,-2-1,-5-2,0-3,0 0,0-1,-1 1,-3 2,-4 0,-1 2,-3 1,0 0,0 1,1 0,2-2,0 2,3 0,-1 1,0 1,-2 0,-2 0,2-1,-5 0,6-1,-3 1,1 1,0 0,-1 0,0 0,-2 0,2 0,1 0,-2 0,1 0,0-4,1 3,6-3,3 4,1 0,1 0,52 2,10 2,6-1,2-1,-40-2,16 0,7 0,-4 0,5 0,-10 0,-2 0,-2 0,-5 0,1 0,-8 0,-11 0,-11 0,-5 0,-7 0,-3 0,-2 0,-2 0,1 0,3 0,1 0,1 0,-3 0,0 0,2 0,1 0,2 0,2 0,1 0,5 0,-1 0,5 0,5 0,-2 0,9 0,-3 0,0 0,1 0,-5 0,0 0,0 0,0 0,2 0,2 0,0 0,0 0,0 0,0-2,-4 0,-4-2,-4-1,-3 0,-1-2,-1 1,0 1,-2 1,-3 1,-3 0,0 1,-2 0,2-1,-1 1,0 0,2 0,3 2,0 0,1 0,-2 0,-4 0,-1 0,-1 0,1 0,-3 0,12-4,23 3,3-3,15 4,-9 0,6 0,13 0,5 0,11 0,3 0,4 0,-3 0,-21 0,-3 0,0 0,0 0,-4 0,0 0,-2 0,-2 0,-10 0,-2 0,44 0,-10-2,-1-1,9 1,-9-1,-7 2,-5 1,-7 0,4 0,-3-1,-5 1,-4 0,-6 0,-2 0,-2-2,-3 0,-3-2,-8 0,-1 0,0-1,4 1,4-2,1 0,-2 0,0-2,-1 1,-1 1,2 0,-3 1,-2-1,-2 1,-2 1,-1 0,0 1,-1-1,-2 0,2 1,-3 0,-1 0,1 0,-2-1,2 2,1-2,-1 2,-3 0,2 0,-2 2,-1-1,0 1,1 0,-1 0,3 0,-1 0,-3 0,-1 0,-4 0,-1 0,0 0,2 0,-1 0,-1 0,-1 0,2 0,-3 0,8 0,-9 0,6 0,-5 0,2 0,-1 0,6 3,-2 1,2 3,-5-1,-1 0,2-1,-4-1,7 0,-8-3,5 2,4-1,-3 1,5 0,-7 0,-4-1,5 3,0 0,-2 0,2-2,-3-1,2-2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4T10:48:09.8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1 126,'75'-5,"-11"-1,-9-3,-5 0,9-2,2 1,-9 3,4-1,-10 4,-6-2,-4 1,-6 1,2 0,2 3,1-1,-1 0,-2 0,-3-1,-2 1,-5-2,-3 1,-7 0,4-2,-3 3,5-1,-1 1,-2 1,2-1,2 2,-6 0,5 0,-3 0,-1 0,-1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854BB-5908-0843-BA41-B7E7E599A04D}" type="datetimeFigureOut">
              <a:rPr lang="de-DE" smtClean="0"/>
              <a:t>20.10.25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7E9B5-BB04-A741-9555-7CF01DDDA8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26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908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250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5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364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4596D-B16D-11D7-3126-D19D19AF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418683-8D89-1685-F3D0-E86D9EEA2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D3B2FE3-35F1-4C88-0DCE-A963DAF1B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F33CFB-C46F-6B75-F82C-3EA65BA15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1020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755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780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E9B5-BB04-A741-9555-7CF01DDDA8C6}" type="slidenum">
              <a:rPr lang="de-DE" smtClean="0"/>
              <a:t>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887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35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 baseline="0">
                <a:solidFill>
                  <a:srgbClr val="025249"/>
                </a:solidFill>
              </a:defRPr>
            </a:lvl1pPr>
            <a:lvl2pPr>
              <a:defRPr baseline="0">
                <a:solidFill>
                  <a:srgbClr val="025249"/>
                </a:solidFill>
              </a:defRPr>
            </a:lvl2pPr>
            <a:lvl3pPr>
              <a:defRPr baseline="0">
                <a:solidFill>
                  <a:srgbClr val="025249"/>
                </a:solidFill>
              </a:defRPr>
            </a:lvl3pPr>
            <a:lvl4pPr>
              <a:defRPr baseline="0">
                <a:solidFill>
                  <a:srgbClr val="025249"/>
                </a:solidFill>
              </a:defRPr>
            </a:lvl4pPr>
            <a:lvl5pPr>
              <a:defRPr baseline="0">
                <a:solidFill>
                  <a:srgbClr val="025249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81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91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6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37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6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12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30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48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864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4559300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4550834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3255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1A2B03-64EA-03E4-1A30-5D1600504D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7469" y="714614"/>
            <a:ext cx="8667590" cy="442888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rgbClr val="F3973B"/>
                </a:solidFill>
              </a:defRPr>
            </a:lvl1pPr>
            <a:lvl2pPr>
              <a:defRPr>
                <a:solidFill>
                  <a:srgbClr val="025249"/>
                </a:solidFill>
              </a:defRPr>
            </a:lvl2pPr>
            <a:lvl3pPr>
              <a:defRPr sz="1800">
                <a:solidFill>
                  <a:srgbClr val="025249"/>
                </a:solidFill>
              </a:defRPr>
            </a:lvl3pPr>
            <a:lvl4pPr>
              <a:defRPr>
                <a:solidFill>
                  <a:srgbClr val="025249"/>
                </a:solidFill>
              </a:defRPr>
            </a:lvl4pPr>
            <a:lvl5pPr>
              <a:defRPr>
                <a:solidFill>
                  <a:srgbClr val="025249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69029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EN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3B586C4-B190-D430-E854-728EDD68E27C}"/>
              </a:ext>
            </a:extLst>
          </p:cNvPr>
          <p:cNvSpPr txBox="1"/>
          <p:nvPr userDrawn="1"/>
        </p:nvSpPr>
        <p:spPr>
          <a:xfrm>
            <a:off x="210312" y="769546"/>
            <a:ext cx="8805672" cy="3865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24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Wir veröffentlichen mit </a:t>
            </a:r>
            <a:r>
              <a:rPr lang="de-DE" sz="2400" b="1" dirty="0" err="1">
                <a:solidFill>
                  <a:srgbClr val="EB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sz="24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eine </a:t>
            </a:r>
            <a:r>
              <a:rPr lang="de-DE" sz="2400" b="1" dirty="0">
                <a:solidFill>
                  <a:srgbClr val="9E60B8"/>
                </a:solidFill>
                <a:latin typeface="Source Sans Pro" charset="0"/>
                <a:ea typeface="Source Sans Pro" charset="0"/>
                <a:cs typeface="Source Sans Pro" charset="0"/>
              </a:rPr>
              <a:t>fachliche</a:t>
            </a:r>
            <a:r>
              <a:rPr lang="de-DE" sz="24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API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2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Welche Daten wir zur Verfügung stellen ist unsere Aufgabe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2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Wir legen fest, in welcher Form die Daten zur Verfügung gestellt werden</a:t>
            </a:r>
            <a:endParaRPr lang="de-DE" sz="2200" dirty="0">
              <a:solidFill>
                <a:srgbClr val="36544F"/>
              </a:solidFill>
              <a:latin typeface="Source Sans Pro" charset="0"/>
            </a:endParaRPr>
          </a:p>
          <a:p>
            <a:pPr>
              <a:lnSpc>
                <a:spcPct val="150000"/>
              </a:lnSpc>
            </a:pPr>
            <a:r>
              <a:rPr lang="de-DE" sz="22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</a:t>
            </a:r>
            <a:r>
              <a:rPr lang="de-DE" sz="2200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Wir legen damit explizit selbst fest, wie unsere API aussehen soll</a:t>
            </a:r>
            <a:br>
              <a:rPr lang="de-DE" sz="2200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</a:br>
            <a:endParaRPr lang="de-DE" sz="2200" dirty="0">
              <a:solidFill>
                <a:srgbClr val="36544F"/>
              </a:solidFill>
              <a:latin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sz="2400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	</a:t>
            </a:r>
          </a:p>
          <a:p>
            <a:pPr>
              <a:lnSpc>
                <a:spcPct val="120000"/>
              </a:lnSpc>
            </a:pPr>
            <a:br>
              <a:rPr lang="de-DE" sz="2400" i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</a:br>
            <a:endParaRPr lang="de-DE" sz="2400" i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85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4559300"/>
            <a:ext cx="9144000" cy="34289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</p:spTree>
    <p:extLst>
      <p:ext uri="{BB962C8B-B14F-4D97-AF65-F5344CB8AC3E}">
        <p14:creationId xmlns:p14="http://schemas.microsoft.com/office/powerpoint/2010/main" val="117664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7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51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customXml" Target="../ink/ink2.xml"/><Relationship Id="rId4" Type="http://schemas.openxmlformats.org/officeDocument/2006/relationships/image" Target="../media/image19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raphql.schule/" TargetMode="External"/><Relationship Id="rId5" Type="http://schemas.openxmlformats.org/officeDocument/2006/relationships/hyperlink" Target="mailto:nils@nilshartmann.net" TargetMode="External"/><Relationship Id="rId4" Type="http://schemas.openxmlformats.org/officeDocument/2006/relationships/hyperlink" Target="https://graphql.schule/api-confer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619F542-AAC1-03FB-3F6B-1E87CB781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49"/>
          <a:stretch/>
        </p:blipFill>
        <p:spPr>
          <a:xfrm>
            <a:off x="0" y="-993061"/>
            <a:ext cx="9978086" cy="6476601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278ECD9A-9A4F-8474-C2B2-6829E7DD2FE6}"/>
              </a:ext>
            </a:extLst>
          </p:cNvPr>
          <p:cNvSpPr/>
          <p:nvPr/>
        </p:nvSpPr>
        <p:spPr>
          <a:xfrm>
            <a:off x="1" y="-9993"/>
            <a:ext cx="9143999" cy="4560826"/>
          </a:xfrm>
          <a:prstGeom prst="rect">
            <a:avLst/>
          </a:prstGeom>
          <a:solidFill>
            <a:srgbClr val="D4EBE9">
              <a:alpha val="3786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583827D-AF88-4F48-8D0F-147CD5A74D67}"/>
              </a:ext>
            </a:extLst>
          </p:cNvPr>
          <p:cNvSpPr/>
          <p:nvPr/>
        </p:nvSpPr>
        <p:spPr>
          <a:xfrm>
            <a:off x="0" y="4550833"/>
            <a:ext cx="9144000" cy="592667"/>
          </a:xfrm>
          <a:prstGeom prst="rect">
            <a:avLst/>
          </a:prstGeom>
          <a:solidFill>
            <a:srgbClr val="5AB88F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0" y="4550833"/>
            <a:ext cx="9144000" cy="592667"/>
          </a:xfrm>
        </p:spPr>
        <p:txBody>
          <a:bodyPr>
            <a:normAutofit/>
          </a:bodyPr>
          <a:lstStyle/>
          <a:p>
            <a:r>
              <a:rPr lang="de-DE" sz="1200" spc="60" dirty="0">
                <a:solidFill>
                  <a:srgbClr val="D4EBE9"/>
                </a:solidFill>
              </a:rPr>
              <a:t>API </a:t>
            </a:r>
            <a:r>
              <a:rPr lang="de-DE" sz="1200" spc="60" dirty="0" err="1">
                <a:solidFill>
                  <a:srgbClr val="D4EBE9"/>
                </a:solidFill>
              </a:rPr>
              <a:t>conference</a:t>
            </a:r>
            <a:r>
              <a:rPr lang="de-DE" sz="1200" spc="60" dirty="0">
                <a:solidFill>
                  <a:srgbClr val="D4EBE9"/>
                </a:solidFill>
              </a:rPr>
              <a:t> 2025 | Berlin, </a:t>
            </a:r>
            <a:r>
              <a:rPr lang="de-DE" sz="1200" spc="60" dirty="0" err="1">
                <a:solidFill>
                  <a:srgbClr val="D4EBE9"/>
                </a:solidFill>
              </a:rPr>
              <a:t>October</a:t>
            </a:r>
            <a:r>
              <a:rPr lang="de-DE" sz="1200" spc="60" dirty="0">
                <a:solidFill>
                  <a:srgbClr val="D4EBE9"/>
                </a:solidFill>
              </a:rPr>
              <a:t>, 22. | https://</a:t>
            </a:r>
            <a:r>
              <a:rPr lang="de-DE" sz="1200" spc="60" dirty="0" err="1">
                <a:solidFill>
                  <a:srgbClr val="D4EBE9"/>
                </a:solidFill>
              </a:rPr>
              <a:t>graphql.schule</a:t>
            </a:r>
            <a:endParaRPr lang="de-DE" sz="1200" spc="60" dirty="0">
              <a:solidFill>
                <a:srgbClr val="D4EBE9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55AA03D-2AF4-3B04-10B9-E081FD602040}"/>
              </a:ext>
            </a:extLst>
          </p:cNvPr>
          <p:cNvSpPr/>
          <p:nvPr/>
        </p:nvSpPr>
        <p:spPr>
          <a:xfrm>
            <a:off x="132154" y="1716278"/>
            <a:ext cx="60662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600" b="1" dirty="0">
                <a:ln>
                  <a:solidFill>
                    <a:srgbClr val="D4EBE9"/>
                  </a:solidFill>
                </a:ln>
                <a:solidFill>
                  <a:srgbClr val="EF7D1D"/>
                </a:solidFill>
                <a:latin typeface="Montserrat" charset="0"/>
                <a:ea typeface="Montserrat" charset="0"/>
                <a:cs typeface="Montserrat" charset="0"/>
              </a:rPr>
              <a:t>GraphQL</a:t>
            </a:r>
            <a:endParaRPr lang="de-DE" sz="4800" b="1" dirty="0">
              <a:ln>
                <a:solidFill>
                  <a:srgbClr val="D4EBE9"/>
                </a:solidFill>
              </a:ln>
              <a:solidFill>
                <a:srgbClr val="EF7D1D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86B91E9-1648-B47A-4857-C365879CBF88}"/>
              </a:ext>
            </a:extLst>
          </p:cNvPr>
          <p:cNvSpPr txBox="1"/>
          <p:nvPr/>
        </p:nvSpPr>
        <p:spPr>
          <a:xfrm>
            <a:off x="-1" y="3032765"/>
            <a:ext cx="600790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4900" b="1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41719C"/>
                </a:solidFill>
                <a:latin typeface="Montserrat" charset="0"/>
                <a:ea typeface="Montserrat" charset="0"/>
                <a:cs typeface="Montserrat" charset="0"/>
              </a:rPr>
              <a:t>a </a:t>
            </a:r>
            <a:r>
              <a:rPr lang="de-DE" sz="4900" b="1" dirty="0" err="1">
                <a:ln>
                  <a:solidFill>
                    <a:srgbClr val="B58900"/>
                  </a:solidFill>
                </a:ln>
                <a:solidFill>
                  <a:srgbClr val="B04432"/>
                </a:solidFill>
                <a:latin typeface="Montserrat" charset="0"/>
                <a:ea typeface="Montserrat" charset="0"/>
                <a:cs typeface="Montserrat" charset="0"/>
              </a:rPr>
              <a:t>critical</a:t>
            </a:r>
            <a:r>
              <a:rPr lang="de-DE" sz="4900" b="1" dirty="0">
                <a:ln>
                  <a:solidFill>
                    <a:srgbClr val="B58900"/>
                  </a:solidFill>
                </a:ln>
                <a:solidFill>
                  <a:srgbClr val="B04432"/>
                </a:solidFill>
                <a:latin typeface="Montserrat" charset="0"/>
                <a:ea typeface="Montserrat" charset="0"/>
                <a:cs typeface="Montserrat" charset="0"/>
              </a:rPr>
              <a:t> </a:t>
            </a:r>
            <a:r>
              <a:rPr lang="de-DE" sz="4900" b="1" dirty="0">
                <a:ln w="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rgbClr val="5EA985"/>
                </a:solidFill>
                <a:latin typeface="Montserrat" charset="0"/>
                <a:ea typeface="Montserrat" charset="0"/>
                <a:cs typeface="Montserrat" charset="0"/>
              </a:rPr>
              <a:t>review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B40F53F-DD91-2A7C-2EDC-8197ACDA1A37}"/>
              </a:ext>
            </a:extLst>
          </p:cNvPr>
          <p:cNvGrpSpPr/>
          <p:nvPr/>
        </p:nvGrpSpPr>
        <p:grpSpPr>
          <a:xfrm>
            <a:off x="221979" y="139731"/>
            <a:ext cx="2501921" cy="769442"/>
            <a:chOff x="12484424" y="2415330"/>
            <a:chExt cx="2501921" cy="769442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0614A48-D4E1-C1F4-9E78-7FCD035CCDA9}"/>
                </a:ext>
              </a:extLst>
            </p:cNvPr>
            <p:cNvSpPr txBox="1"/>
            <p:nvPr/>
          </p:nvSpPr>
          <p:spPr>
            <a:xfrm>
              <a:off x="12484424" y="2415330"/>
              <a:ext cx="2501921" cy="46166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51012"/>
              </a:schemeClr>
            </a:solidFill>
          </p:spPr>
          <p:txBody>
            <a:bodyPr wrap="square" rtlCol="0">
              <a:spAutoFit/>
            </a:bodyPr>
            <a:lstStyle/>
            <a:p>
              <a:pPr algn="just"/>
              <a:r>
                <a:rPr lang="de-DE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" charset="0"/>
                  <a:ea typeface="Source Sans Pro" charset="0"/>
                  <a:cs typeface="Source Sans Pro" charset="0"/>
                </a:rPr>
                <a:t>NILS HARTMANN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FC354D7A-3A1F-3FA3-66DD-862DB23B8B86}"/>
                </a:ext>
              </a:extLst>
            </p:cNvPr>
            <p:cNvSpPr txBox="1"/>
            <p:nvPr/>
          </p:nvSpPr>
          <p:spPr>
            <a:xfrm>
              <a:off x="12484424" y="2876995"/>
              <a:ext cx="2494466" cy="307777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51355"/>
              </a:schemeClr>
            </a:solidFill>
          </p:spPr>
          <p:txBody>
            <a:bodyPr wrap="square" rtlCol="0">
              <a:spAutoFit/>
            </a:bodyPr>
            <a:lstStyle/>
            <a:p>
              <a:pPr algn="just"/>
              <a:r>
                <a:rPr lang="de-DE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SemiBold" panose="020B0503030403020204" pitchFamily="34" charset="0"/>
                  <a:ea typeface="Source Sans Pro" charset="0"/>
                  <a:cs typeface="Source Sans Pro" charset="0"/>
                </a:rPr>
                <a:t>https://</a:t>
              </a:r>
              <a:r>
                <a:rPr lang="de-DE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SemiBold" panose="020B0503030403020204" pitchFamily="34" charset="0"/>
                  <a:ea typeface="Source Sans Pro" charset="0"/>
                  <a:cs typeface="Source Sans Pro" charset="0"/>
                </a:rPr>
                <a:t>nilshartmann.net</a:t>
              </a:r>
              <a:endParaRPr lang="de-DE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027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pc="60" dirty="0"/>
              <a:t>https://</a:t>
            </a:r>
            <a:r>
              <a:rPr lang="de-DE" spc="60" dirty="0" err="1"/>
              <a:t>nilshartmann.net</a:t>
            </a:r>
            <a:endParaRPr lang="de-DE" spc="60" dirty="0"/>
          </a:p>
        </p:txBody>
      </p:sp>
      <p:sp>
        <p:nvSpPr>
          <p:cNvPr id="3" name="Textfeld 2"/>
          <p:cNvSpPr txBox="1"/>
          <p:nvPr/>
        </p:nvSpPr>
        <p:spPr>
          <a:xfrm>
            <a:off x="1643167" y="315650"/>
            <a:ext cx="585769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700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NILS HARTMANN</a:t>
            </a:r>
          </a:p>
          <a:p>
            <a:pPr algn="ctr"/>
            <a:r>
              <a:rPr lang="de-DE" sz="1200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nils@nilshartmann.net</a:t>
            </a:r>
            <a:endParaRPr lang="de-DE" sz="1200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de-DE" sz="1200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endParaRPr lang="de-DE" sz="1200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algn="ctr"/>
            <a:r>
              <a:rPr lang="de-DE" sz="1800" b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Software Developer, </a:t>
            </a:r>
            <a:r>
              <a:rPr lang="de-DE" sz="1800" b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Architect</a:t>
            </a:r>
            <a:r>
              <a:rPr lang="de-DE" sz="1800" b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and Coach </a:t>
            </a:r>
            <a:r>
              <a:rPr lang="de-DE" sz="1800" b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from</a:t>
            </a:r>
            <a:r>
              <a:rPr lang="de-DE" sz="1800" b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Hamburg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CD9C7B-1EC0-B64B-8EFD-E44C1A4A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415" y="2188138"/>
            <a:ext cx="1264947" cy="1844884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A0226B8-0AE2-E246-8B5B-A4D1C2599CAB}"/>
              </a:ext>
            </a:extLst>
          </p:cNvPr>
          <p:cNvSpPr/>
          <p:nvPr/>
        </p:nvSpPr>
        <p:spPr>
          <a:xfrm>
            <a:off x="4572000" y="4150122"/>
            <a:ext cx="3714750" cy="26943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1151" b="1" dirty="0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https://</a:t>
            </a:r>
            <a:r>
              <a:rPr lang="de-DE" sz="1151" b="1" dirty="0" err="1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reactbuch.de</a:t>
            </a:r>
            <a:endParaRPr lang="de-DE" sz="1151" b="1" dirty="0">
              <a:solidFill>
                <a:srgbClr val="B58900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87F8C36-51E4-7813-9F4F-4D2A03599E84}"/>
              </a:ext>
            </a:extLst>
          </p:cNvPr>
          <p:cNvSpPr/>
          <p:nvPr/>
        </p:nvSpPr>
        <p:spPr>
          <a:xfrm>
            <a:off x="1224998" y="4150122"/>
            <a:ext cx="3714750" cy="26943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1151" b="1" dirty="0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https://</a:t>
            </a:r>
            <a:r>
              <a:rPr lang="de-DE" sz="1151" b="1" dirty="0" err="1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graphql.schule</a:t>
            </a:r>
            <a:r>
              <a:rPr lang="de-DE" sz="1151" b="1" dirty="0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/video-</a:t>
            </a:r>
            <a:r>
              <a:rPr lang="de-DE" sz="1151" b="1" dirty="0" err="1">
                <a:solidFill>
                  <a:srgbClr val="B58900"/>
                </a:solidFill>
                <a:latin typeface="Source Sans Pro" charset="0"/>
                <a:ea typeface="Source Sans Pro" charset="0"/>
                <a:cs typeface="Source Sans Pro" charset="0"/>
              </a:rPr>
              <a:t>tutorial</a:t>
            </a:r>
            <a:endParaRPr lang="de-DE" sz="1151" b="1" dirty="0">
              <a:solidFill>
                <a:srgbClr val="B58900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283DA9-BE52-85CC-E2BC-8784FAC22A00}"/>
              </a:ext>
            </a:extLst>
          </p:cNvPr>
          <p:cNvSpPr txBox="1"/>
          <p:nvPr/>
        </p:nvSpPr>
        <p:spPr>
          <a:xfrm>
            <a:off x="857250" y="1659940"/>
            <a:ext cx="74295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350" b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Java, Spring, GraphQL, TypeScript, </a:t>
            </a:r>
            <a:r>
              <a:rPr lang="de-DE" sz="1350" b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React</a:t>
            </a:r>
            <a:endParaRPr lang="de-DE" sz="1350" b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013EAAE-7F74-EB61-C589-9E3AE9842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744" y="2172363"/>
            <a:ext cx="2551343" cy="184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3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356354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3600" b="1" dirty="0" err="1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One</a:t>
            </a:r>
            <a:r>
              <a:rPr lang="de-DE" sz="36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 </a:t>
            </a:r>
            <a:r>
              <a:rPr lang="de-DE" sz="3600" b="1" dirty="0" err="1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application</a:t>
            </a:r>
            <a:r>
              <a:rPr lang="de-DE" sz="36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, 3 </a:t>
            </a:r>
            <a:r>
              <a:rPr lang="de-DE" sz="3600" b="1" dirty="0" err="1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views</a:t>
            </a:r>
            <a:r>
              <a:rPr lang="de-DE" sz="48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...</a:t>
            </a:r>
            <a:endParaRPr lang="de-DE" sz="8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de-DE" sz="1200" cap="none" spc="75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FA335B8-797B-A9CC-4167-7FDA0B737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409" y="417311"/>
            <a:ext cx="3343181" cy="3028244"/>
          </a:xfrm>
          <a:prstGeom prst="rect">
            <a:avLst/>
          </a:prstGeom>
          <a:ln w="6350" cap="rnd">
            <a:solidFill>
              <a:schemeClr val="bg1">
                <a:lumMod val="50000"/>
              </a:schemeClr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0841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06A90B-0A8F-21D1-220D-363AA9F07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View #1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61B7526-9312-D914-C1C5-856060B59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426" y="139484"/>
            <a:ext cx="4613148" cy="4178576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2706956-2590-C31A-5413-251C83C4FECB}"/>
              </a:ext>
            </a:extLst>
          </p:cNvPr>
          <p:cNvSpPr/>
          <p:nvPr/>
        </p:nvSpPr>
        <p:spPr>
          <a:xfrm>
            <a:off x="1009522" y="661045"/>
            <a:ext cx="18849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rgbClr val="9E60B8"/>
                </a:solidFill>
                <a:latin typeface="Source Sans Pro" panose="020B0503030403020204" pitchFamily="34" charset="0"/>
                <a:ea typeface="Source Sans Pro SemiBold" charset="0"/>
                <a:cs typeface="Source Sans Pro SemiBold" charset="0"/>
              </a:rPr>
              <a:t>User</a:t>
            </a: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username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  <a:p>
            <a:pPr marL="171450" indent="-171450">
              <a:buFontTx/>
              <a:buChar char="-"/>
            </a:pPr>
            <a:endParaRPr lang="de-DE" sz="1200" b="1" dirty="0">
              <a:solidFill>
                <a:srgbClr val="025249"/>
              </a:solidFill>
              <a:latin typeface="Source Sans Pro SemiBold" charset="0"/>
              <a:ea typeface="Source Sans Pro SemiBold" charset="0"/>
              <a:cs typeface="Source Sans Pro SemiBold" charset="0"/>
            </a:endParaRP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B5C3429D-193A-51AA-1B84-12B12D4DA4DE}"/>
              </a:ext>
            </a:extLst>
          </p:cNvPr>
          <p:cNvCxnSpPr>
            <a:cxnSpLocks/>
          </p:cNvCxnSpPr>
          <p:nvPr/>
        </p:nvCxnSpPr>
        <p:spPr>
          <a:xfrm>
            <a:off x="2000634" y="997162"/>
            <a:ext cx="785740" cy="0"/>
          </a:xfrm>
          <a:prstGeom prst="line">
            <a:avLst/>
          </a:prstGeom>
          <a:ln w="12700">
            <a:solidFill>
              <a:srgbClr val="9E60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9A76EF79-C970-7F06-5DB4-24BB87B313AC}"/>
              </a:ext>
            </a:extLst>
          </p:cNvPr>
          <p:cNvSpPr/>
          <p:nvPr/>
        </p:nvSpPr>
        <p:spPr>
          <a:xfrm>
            <a:off x="2786374" y="997162"/>
            <a:ext cx="595066" cy="138500"/>
          </a:xfrm>
          <a:prstGeom prst="rect">
            <a:avLst/>
          </a:prstGeom>
          <a:noFill/>
          <a:ln w="15875">
            <a:solidFill>
              <a:srgbClr val="9E60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1C3C7ED-B67E-6FA5-6034-031AD4EE57B1}"/>
              </a:ext>
            </a:extLst>
          </p:cNvPr>
          <p:cNvSpPr/>
          <p:nvPr/>
        </p:nvSpPr>
        <p:spPr>
          <a:xfrm>
            <a:off x="1112197" y="1339365"/>
            <a:ext cx="18849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rgbClr val="41719C"/>
                </a:solidFill>
                <a:latin typeface="Source Sans Pro" panose="020B0503030403020204" pitchFamily="34" charset="0"/>
                <a:ea typeface="Source Sans Pro SemiBold" charset="0"/>
                <a:cs typeface="Source Sans Pro SemiBold" charset="0"/>
              </a:rPr>
              <a:t>Story</a:t>
            </a:r>
          </a:p>
          <a:p>
            <a:pPr marL="171450" indent="-171450">
              <a:buFontTx/>
              <a:buChar char="-"/>
            </a:pPr>
            <a:r>
              <a:rPr lang="de-DE" sz="1200" b="1" dirty="0">
                <a:solidFill>
                  <a:srgbClr val="41719C"/>
                </a:solidFill>
                <a:latin typeface="Source Sans Pro" panose="020B0503030403020204" pitchFamily="34" charset="0"/>
              </a:rPr>
              <a:t>title</a:t>
            </a: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41719C"/>
                </a:solidFill>
                <a:latin typeface="Source Sans Pro" panose="020B0503030403020204" pitchFamily="34" charset="0"/>
              </a:rPr>
              <a:t>excerpt</a:t>
            </a:r>
            <a:endParaRPr lang="de-DE" sz="1200" b="1" dirty="0">
              <a:solidFill>
                <a:srgbClr val="41719C"/>
              </a:solidFill>
              <a:latin typeface="Source Sans Pro" panose="020B0503030403020204" pitchFamily="34" charset="0"/>
            </a:endParaRP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2DFF4D81-BD37-26D7-C1E7-1C1BC786C5F9}"/>
              </a:ext>
            </a:extLst>
          </p:cNvPr>
          <p:cNvCxnSpPr>
            <a:cxnSpLocks/>
          </p:cNvCxnSpPr>
          <p:nvPr/>
        </p:nvCxnSpPr>
        <p:spPr>
          <a:xfrm flipV="1">
            <a:off x="1638556" y="1423763"/>
            <a:ext cx="1150994" cy="59601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7EEA75F5-3A0D-175B-A8CB-157D0B630260}"/>
              </a:ext>
            </a:extLst>
          </p:cNvPr>
          <p:cNvSpPr/>
          <p:nvPr/>
        </p:nvSpPr>
        <p:spPr>
          <a:xfrm>
            <a:off x="2801825" y="1256428"/>
            <a:ext cx="1991104" cy="873041"/>
          </a:xfrm>
          <a:prstGeom prst="rect">
            <a:avLst/>
          </a:prstGeom>
          <a:noFill/>
          <a:ln w="15875">
            <a:solidFill>
              <a:srgbClr val="41719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</p:spTree>
    <p:extLst>
      <p:ext uri="{BB962C8B-B14F-4D97-AF65-F5344CB8AC3E}">
        <p14:creationId xmlns:p14="http://schemas.microsoft.com/office/powerpoint/2010/main" val="782425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59BBE-0325-A0A0-AF41-2D00585A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7D4F276-1D59-B573-9B37-DE3E9E419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426" y="167014"/>
            <a:ext cx="4613148" cy="41785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DAE9B1-2D5D-E7E0-A5C2-38E0B348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View #2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EF7EEA2-8A91-1BBF-C1C9-2D398F8D2F4A}"/>
              </a:ext>
            </a:extLst>
          </p:cNvPr>
          <p:cNvSpPr/>
          <p:nvPr/>
        </p:nvSpPr>
        <p:spPr>
          <a:xfrm>
            <a:off x="7392201" y="856009"/>
            <a:ext cx="1884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rgbClr val="9E60B8"/>
                </a:solidFill>
                <a:latin typeface="Source Sans Pro" panose="020B0503030403020204" pitchFamily="34" charset="0"/>
              </a:rPr>
              <a:t>User</a:t>
            </a: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username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bio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location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30D86319-E169-4A36-519D-5E2C77E738E0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6448301" y="1013205"/>
            <a:ext cx="995774" cy="258303"/>
          </a:xfrm>
          <a:prstGeom prst="line">
            <a:avLst/>
          </a:prstGeom>
          <a:ln w="12700">
            <a:solidFill>
              <a:srgbClr val="9E60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13A919F0-199E-19BD-D409-59547AFA38BB}"/>
              </a:ext>
            </a:extLst>
          </p:cNvPr>
          <p:cNvSpPr/>
          <p:nvPr/>
        </p:nvSpPr>
        <p:spPr>
          <a:xfrm>
            <a:off x="5290922" y="1045610"/>
            <a:ext cx="1157379" cy="451796"/>
          </a:xfrm>
          <a:prstGeom prst="rect">
            <a:avLst/>
          </a:prstGeom>
          <a:noFill/>
          <a:ln w="15875">
            <a:solidFill>
              <a:srgbClr val="9E60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E9FF885-5E77-E31B-5790-17173223E1E3}"/>
              </a:ext>
            </a:extLst>
          </p:cNvPr>
          <p:cNvSpPr/>
          <p:nvPr/>
        </p:nvSpPr>
        <p:spPr>
          <a:xfrm>
            <a:off x="1112197" y="1370050"/>
            <a:ext cx="1884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rgbClr val="41719C"/>
                </a:solidFill>
                <a:latin typeface="Source Sans Pro" panose="020B0503030403020204" pitchFamily="34" charset="0"/>
              </a:rPr>
              <a:t>Story</a:t>
            </a:r>
          </a:p>
          <a:p>
            <a:pPr marL="171450" indent="-171450">
              <a:buFontTx/>
              <a:buChar char="-"/>
            </a:pPr>
            <a:r>
              <a:rPr lang="de-DE" sz="1200" b="1" dirty="0">
                <a:solidFill>
                  <a:srgbClr val="41719C"/>
                </a:solidFill>
                <a:latin typeface="Source Sans Pro" panose="020B0503030403020204" pitchFamily="34" charset="0"/>
              </a:rPr>
              <a:t>title</a:t>
            </a:r>
          </a:p>
          <a:p>
            <a:pPr marL="171450" indent="-171450">
              <a:buFontTx/>
              <a:buChar char="-"/>
            </a:pPr>
            <a:r>
              <a:rPr lang="de-DE" sz="1200" b="1" dirty="0">
                <a:solidFill>
                  <a:srgbClr val="41719C"/>
                </a:solidFill>
                <a:latin typeface="Source Sans Pro" panose="020B0503030403020204" pitchFamily="34" charset="0"/>
              </a:rPr>
              <a:t>tags</a:t>
            </a: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41719C"/>
                </a:solidFill>
                <a:latin typeface="Source Sans Pro" panose="020B0503030403020204" pitchFamily="34" charset="0"/>
              </a:rPr>
              <a:t>body</a:t>
            </a:r>
            <a:endParaRPr lang="de-DE" sz="1200" b="1" dirty="0">
              <a:solidFill>
                <a:srgbClr val="41719C"/>
              </a:solidFill>
              <a:latin typeface="Source Sans Pro" panose="020B0503030403020204" pitchFamily="34" charset="0"/>
            </a:endParaRP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C2111E1D-22F8-66D3-241B-BD8A6F9B4D51}"/>
              </a:ext>
            </a:extLst>
          </p:cNvPr>
          <p:cNvCxnSpPr>
            <a:cxnSpLocks/>
          </p:cNvCxnSpPr>
          <p:nvPr/>
        </p:nvCxnSpPr>
        <p:spPr>
          <a:xfrm>
            <a:off x="1620145" y="1521954"/>
            <a:ext cx="775595" cy="0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95881F26-6916-DF44-2BEA-950A100566BC}"/>
              </a:ext>
            </a:extLst>
          </p:cNvPr>
          <p:cNvSpPr/>
          <p:nvPr/>
        </p:nvSpPr>
        <p:spPr>
          <a:xfrm>
            <a:off x="2395740" y="1226009"/>
            <a:ext cx="2851319" cy="1590834"/>
          </a:xfrm>
          <a:prstGeom prst="rect">
            <a:avLst/>
          </a:prstGeom>
          <a:noFill/>
          <a:ln w="15875">
            <a:solidFill>
              <a:srgbClr val="41719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4674987-FEFF-2658-CA9D-9904948AFD05}"/>
              </a:ext>
            </a:extLst>
          </p:cNvPr>
          <p:cNvSpPr/>
          <p:nvPr/>
        </p:nvSpPr>
        <p:spPr>
          <a:xfrm>
            <a:off x="1009522" y="3147500"/>
            <a:ext cx="11322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rgbClr val="5EA985"/>
                </a:solidFill>
                <a:latin typeface="Source Sans Pro" panose="020B0503030403020204" pitchFamily="34" charset="0"/>
                <a:ea typeface="Source Sans Pro SemiBold" charset="0"/>
                <a:cs typeface="Source Sans Pro SemiBold" charset="0"/>
              </a:rPr>
              <a:t>Comment</a:t>
            </a: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5EA985"/>
                </a:solidFill>
                <a:latin typeface="Source Sans Pro" panose="020B0503030403020204" pitchFamily="34" charset="0"/>
              </a:rPr>
              <a:t>writtenBy</a:t>
            </a:r>
            <a:endParaRPr lang="de-DE" sz="1200" b="1" dirty="0">
              <a:solidFill>
                <a:srgbClr val="5EA985"/>
              </a:solidFill>
              <a:latin typeface="Source Sans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5EA985"/>
                </a:solidFill>
                <a:latin typeface="Source Sans Pro" panose="020B0503030403020204" pitchFamily="34" charset="0"/>
              </a:rPr>
              <a:t>content</a:t>
            </a:r>
            <a:endParaRPr lang="de-DE" sz="1200" b="1" dirty="0">
              <a:solidFill>
                <a:srgbClr val="5EA985"/>
              </a:solidFill>
              <a:latin typeface="Source Sans Pro" panose="020B0503030403020204" pitchFamily="34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ECBBA8-3B17-B2D6-12B9-4679533AD25E}"/>
              </a:ext>
            </a:extLst>
          </p:cNvPr>
          <p:cNvSpPr/>
          <p:nvPr/>
        </p:nvSpPr>
        <p:spPr>
          <a:xfrm>
            <a:off x="2648256" y="3218411"/>
            <a:ext cx="1119808" cy="390754"/>
          </a:xfrm>
          <a:prstGeom prst="rect">
            <a:avLst/>
          </a:prstGeom>
          <a:noFill/>
          <a:ln w="15875">
            <a:solidFill>
              <a:srgbClr val="5EA98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DFED5CDA-2E15-1187-28FE-BBFE7C617DBB}"/>
              </a:ext>
            </a:extLst>
          </p:cNvPr>
          <p:cNvCxnSpPr>
            <a:cxnSpLocks/>
          </p:cNvCxnSpPr>
          <p:nvPr/>
        </p:nvCxnSpPr>
        <p:spPr>
          <a:xfrm>
            <a:off x="1818423" y="3312087"/>
            <a:ext cx="829833" cy="179816"/>
          </a:xfrm>
          <a:prstGeom prst="line">
            <a:avLst/>
          </a:prstGeom>
          <a:ln w="12700">
            <a:solidFill>
              <a:srgbClr val="5EA9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23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0818-382F-3C58-641B-23A42D6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CEF6E2A-9926-8739-EC8C-48768011A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426" y="167014"/>
            <a:ext cx="4613148" cy="417857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50219A0-7383-8535-919F-6490117B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View #3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249D699-8B7F-6D31-1EA7-DFE70C0875E6}"/>
              </a:ext>
            </a:extLst>
          </p:cNvPr>
          <p:cNvSpPr/>
          <p:nvPr/>
        </p:nvSpPr>
        <p:spPr>
          <a:xfrm>
            <a:off x="1028223" y="397696"/>
            <a:ext cx="18849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rgbClr val="9E60B8"/>
                </a:solidFill>
                <a:latin typeface="Source Sans Pro" panose="020B0503030403020204" pitchFamily="34" charset="0"/>
              </a:rPr>
              <a:t>User</a:t>
            </a: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username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bio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location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joined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9E60B8"/>
                </a:solidFill>
                <a:latin typeface="Source Sans Pro" panose="020B0503030403020204" pitchFamily="34" charset="0"/>
              </a:rPr>
              <a:t>contact</a:t>
            </a:r>
            <a:endParaRPr lang="de-DE" sz="1200" b="1" dirty="0">
              <a:solidFill>
                <a:srgbClr val="9E60B8"/>
              </a:solidFill>
              <a:latin typeface="Source Sans Pro" panose="020B0503030403020204" pitchFamily="34" charset="0"/>
            </a:endParaRP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FBCB31EB-C828-96FB-0AD6-0927A43B4505}"/>
              </a:ext>
            </a:extLst>
          </p:cNvPr>
          <p:cNvCxnSpPr>
            <a:cxnSpLocks/>
          </p:cNvCxnSpPr>
          <p:nvPr/>
        </p:nvCxnSpPr>
        <p:spPr>
          <a:xfrm>
            <a:off x="1846613" y="890649"/>
            <a:ext cx="1445256" cy="448716"/>
          </a:xfrm>
          <a:prstGeom prst="line">
            <a:avLst/>
          </a:prstGeom>
          <a:ln w="12700">
            <a:solidFill>
              <a:srgbClr val="9E60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5616B63D-3333-D78F-62C9-54999208B661}"/>
              </a:ext>
            </a:extLst>
          </p:cNvPr>
          <p:cNvSpPr/>
          <p:nvPr/>
        </p:nvSpPr>
        <p:spPr>
          <a:xfrm>
            <a:off x="3291869" y="964697"/>
            <a:ext cx="2461726" cy="1035113"/>
          </a:xfrm>
          <a:prstGeom prst="rect">
            <a:avLst/>
          </a:prstGeom>
          <a:noFill/>
          <a:ln w="15875">
            <a:solidFill>
              <a:srgbClr val="9E60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1FD2796-5F1D-9D0A-FE15-31D8F0F64658}"/>
              </a:ext>
            </a:extLst>
          </p:cNvPr>
          <p:cNvSpPr/>
          <p:nvPr/>
        </p:nvSpPr>
        <p:spPr>
          <a:xfrm>
            <a:off x="1028223" y="2269489"/>
            <a:ext cx="1884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rgbClr val="41719C"/>
                </a:solidFill>
                <a:latin typeface="Source Sans Pro" panose="020B0503030403020204" pitchFamily="34" charset="0"/>
              </a:rPr>
              <a:t>Story</a:t>
            </a:r>
          </a:p>
          <a:p>
            <a:pPr marL="171450" indent="-171450">
              <a:buFontTx/>
              <a:buChar char="-"/>
            </a:pPr>
            <a:r>
              <a:rPr lang="de-DE" sz="1200" b="1" dirty="0">
                <a:solidFill>
                  <a:srgbClr val="41719C"/>
                </a:solidFill>
                <a:latin typeface="Source Sans Pro" panose="020B0503030403020204" pitchFamily="34" charset="0"/>
              </a:rPr>
              <a:t>title</a:t>
            </a: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F0150511-187A-FAB9-CF19-6E9E70C932E8}"/>
              </a:ext>
            </a:extLst>
          </p:cNvPr>
          <p:cNvCxnSpPr>
            <a:cxnSpLocks/>
          </p:cNvCxnSpPr>
          <p:nvPr/>
        </p:nvCxnSpPr>
        <p:spPr>
          <a:xfrm>
            <a:off x="1579418" y="2518142"/>
            <a:ext cx="2326003" cy="153134"/>
          </a:xfrm>
          <a:prstGeom prst="line">
            <a:avLst/>
          </a:prstGeom>
          <a:ln w="12700">
            <a:solidFill>
              <a:srgbClr val="41719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74760C03-8EBC-5B3E-C201-68CE7B506BCE}"/>
              </a:ext>
            </a:extLst>
          </p:cNvPr>
          <p:cNvSpPr/>
          <p:nvPr/>
        </p:nvSpPr>
        <p:spPr>
          <a:xfrm>
            <a:off x="3905421" y="2518142"/>
            <a:ext cx="2642666" cy="353933"/>
          </a:xfrm>
          <a:prstGeom prst="rect">
            <a:avLst/>
          </a:prstGeom>
          <a:noFill/>
          <a:ln w="15875">
            <a:solidFill>
              <a:srgbClr val="41719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043BECA4-32DD-7D8F-AC21-87132A6C4EA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846613" y="3835730"/>
            <a:ext cx="2058808" cy="122852"/>
          </a:xfrm>
          <a:prstGeom prst="line">
            <a:avLst/>
          </a:prstGeom>
          <a:ln w="12700">
            <a:solidFill>
              <a:srgbClr val="5EA9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7D3FD40D-0D7B-1433-1DD0-9C38AF1B8843}"/>
              </a:ext>
            </a:extLst>
          </p:cNvPr>
          <p:cNvSpPr/>
          <p:nvPr/>
        </p:nvSpPr>
        <p:spPr>
          <a:xfrm>
            <a:off x="1009522" y="3588659"/>
            <a:ext cx="1884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b="1" dirty="0">
                <a:solidFill>
                  <a:srgbClr val="5EA985"/>
                </a:solidFill>
                <a:latin typeface="Source Sans Pro" panose="020B0503030403020204" pitchFamily="34" charset="0"/>
              </a:rPr>
              <a:t>Comment</a:t>
            </a:r>
          </a:p>
          <a:p>
            <a:pPr marL="171450" indent="-171450">
              <a:buFontTx/>
              <a:buChar char="-"/>
            </a:pPr>
            <a:r>
              <a:rPr lang="de-DE" sz="1200" b="1" dirty="0" err="1">
                <a:solidFill>
                  <a:srgbClr val="5EA985"/>
                </a:solidFill>
                <a:latin typeface="Source Sans Pro" panose="020B0503030403020204" pitchFamily="34" charset="0"/>
              </a:rPr>
              <a:t>content</a:t>
            </a:r>
            <a:endParaRPr lang="de-DE" sz="1200" b="1" dirty="0">
              <a:solidFill>
                <a:srgbClr val="5EA985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373B3DC-3231-C5E7-13D4-83B019C5C32A}"/>
              </a:ext>
            </a:extLst>
          </p:cNvPr>
          <p:cNvSpPr/>
          <p:nvPr/>
        </p:nvSpPr>
        <p:spPr>
          <a:xfrm>
            <a:off x="3905421" y="3885250"/>
            <a:ext cx="2642666" cy="146663"/>
          </a:xfrm>
          <a:prstGeom prst="rect">
            <a:avLst/>
          </a:prstGeom>
          <a:noFill/>
          <a:ln w="15875">
            <a:solidFill>
              <a:srgbClr val="5EA98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</p:spTree>
    <p:extLst>
      <p:ext uri="{BB962C8B-B14F-4D97-AF65-F5344CB8AC3E}">
        <p14:creationId xmlns:p14="http://schemas.microsoft.com/office/powerpoint/2010/main" val="3906456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769938"/>
            <a:ext cx="8769350" cy="39973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rgbClr val="EF7D1D"/>
                </a:solidFill>
                <a:latin typeface="Source Sans Pro" charset="0"/>
              </a:rPr>
              <a:t>An API </a:t>
            </a:r>
            <a:r>
              <a:rPr lang="de-DE" sz="2400" b="1" dirty="0" err="1">
                <a:solidFill>
                  <a:srgbClr val="EF7D1D"/>
                </a:solidFill>
                <a:latin typeface="Source Sans Pro" charset="0"/>
              </a:rPr>
              <a:t>for</a:t>
            </a:r>
            <a:r>
              <a:rPr lang="de-DE" sz="2400" b="1" dirty="0">
                <a:solidFill>
                  <a:srgbClr val="EF7D1D"/>
                </a:solidFill>
                <a:latin typeface="Source Sans Pro" charset="0"/>
              </a:rPr>
              <a:t> </a:t>
            </a:r>
            <a:r>
              <a:rPr lang="de-DE" sz="2400" b="1" dirty="0" err="1">
                <a:solidFill>
                  <a:srgbClr val="EF7D1D"/>
                </a:solidFill>
                <a:latin typeface="Source Sans Pro" charset="0"/>
              </a:rPr>
              <a:t>this</a:t>
            </a:r>
            <a:r>
              <a:rPr lang="de-DE" sz="2400" b="1" dirty="0">
                <a:solidFill>
                  <a:srgbClr val="EF7D1D"/>
                </a:solidFill>
                <a:latin typeface="Source Sans Pro" charset="0"/>
              </a:rPr>
              <a:t> </a:t>
            </a:r>
            <a:r>
              <a:rPr lang="de-DE" sz="2400" b="1" dirty="0" err="1">
                <a:solidFill>
                  <a:srgbClr val="EF7D1D"/>
                </a:solidFill>
                <a:latin typeface="Source Sans Pro" charset="0"/>
              </a:rPr>
              <a:t>example</a:t>
            </a:r>
            <a:r>
              <a:rPr lang="de-DE" sz="2400" b="1" dirty="0">
                <a:solidFill>
                  <a:srgbClr val="EF7D1D"/>
                </a:solidFill>
                <a:latin typeface="Source Sans Pro" charset="0"/>
              </a:rPr>
              <a:t> App …</a:t>
            </a:r>
          </a:p>
        </p:txBody>
      </p:sp>
    </p:spTree>
    <p:extLst>
      <p:ext uri="{BB962C8B-B14F-4D97-AF65-F5344CB8AC3E}">
        <p14:creationId xmlns:p14="http://schemas.microsoft.com/office/powerpoint/2010/main" val="2735416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Approach 1: Backend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defines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the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API /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data</a:t>
            </a:r>
            <a:endParaRPr lang="de-DE" sz="1800" dirty="0">
              <a:solidFill>
                <a:srgbClr val="EF7D1D"/>
              </a:solidFill>
              <a:latin typeface="Source Sans Pro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D8F4191-7EAF-B999-C87E-CAB93D74CA18}"/>
              </a:ext>
            </a:extLst>
          </p:cNvPr>
          <p:cNvSpPr/>
          <p:nvPr/>
        </p:nvSpPr>
        <p:spPr>
          <a:xfrm>
            <a:off x="1323133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story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6D62B0C-549C-0F75-DB62-8A187D266931}"/>
              </a:ext>
            </a:extLst>
          </p:cNvPr>
          <p:cNvSpPr/>
          <p:nvPr/>
        </p:nvSpPr>
        <p:spPr>
          <a:xfrm>
            <a:off x="3841897" y="2571750"/>
            <a:ext cx="1659196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comment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1009D33-FAEC-2F3C-A47A-7CFE4A327683}"/>
              </a:ext>
            </a:extLst>
          </p:cNvPr>
          <p:cNvSpPr/>
          <p:nvPr/>
        </p:nvSpPr>
        <p:spPr>
          <a:xfrm>
            <a:off x="6316730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user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FDD441B-8324-251F-70B5-4D8EBE351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6" y="2939287"/>
            <a:ext cx="1580042" cy="163548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65535B5-136A-38C1-BEA2-7262C97D6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75" y="2974641"/>
            <a:ext cx="1580042" cy="163548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7D320D-F1C0-9C3B-8D79-973323DDC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283" y="2929056"/>
            <a:ext cx="1578474" cy="163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8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Approach 1: Backend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defines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the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API /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data</a:t>
            </a:r>
            <a:endParaRPr lang="de-DE" sz="1800" dirty="0">
              <a:solidFill>
                <a:srgbClr val="EF7D1D"/>
              </a:solidFill>
              <a:latin typeface="Source Sans Pro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25249"/>
                </a:solidFill>
              </a:rPr>
              <a:t>REST / HTTP APIs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C445231-96BD-87ED-4A7E-684A2D7142B4}"/>
              </a:ext>
            </a:extLst>
          </p:cNvPr>
          <p:cNvSpPr/>
          <p:nvPr/>
        </p:nvSpPr>
        <p:spPr>
          <a:xfrm>
            <a:off x="1323133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story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7D4D546-6D7F-F5CC-11F4-35FAC13E03BF}"/>
              </a:ext>
            </a:extLst>
          </p:cNvPr>
          <p:cNvSpPr/>
          <p:nvPr/>
        </p:nvSpPr>
        <p:spPr>
          <a:xfrm>
            <a:off x="3841897" y="2571750"/>
            <a:ext cx="1659196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comment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1D7BEDD-EFCF-2914-17AD-1680760F341A}"/>
              </a:ext>
            </a:extLst>
          </p:cNvPr>
          <p:cNvSpPr/>
          <p:nvPr/>
        </p:nvSpPr>
        <p:spPr>
          <a:xfrm>
            <a:off x="6316730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user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26F64AD-DBA2-D218-1CEE-705D3FA21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6" y="2939287"/>
            <a:ext cx="1580042" cy="163548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7E1F53B-B191-3D66-64B4-8B4DE22B2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75" y="2974641"/>
            <a:ext cx="1580042" cy="163548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EB8D68D-8066-4E29-689A-29518BBAB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283" y="2929056"/>
            <a:ext cx="1578474" cy="163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4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Approach 2: Client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defines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the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API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based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on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its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requirements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,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views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,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use-cases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, ...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BA4062E-4ED6-44B4-4713-38D729FA2B99}"/>
              </a:ext>
            </a:extLst>
          </p:cNvPr>
          <p:cNvSpPr/>
          <p:nvPr/>
        </p:nvSpPr>
        <p:spPr>
          <a:xfrm>
            <a:off x="1323133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feed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DCA4A2D-C16B-49A0-9B5E-0EEB02520883}"/>
              </a:ext>
            </a:extLst>
          </p:cNvPr>
          <p:cNvSpPr/>
          <p:nvPr/>
        </p:nvSpPr>
        <p:spPr>
          <a:xfrm>
            <a:off x="3841896" y="2571750"/>
            <a:ext cx="19145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story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-view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18BBF89-FC63-2B7C-DBDF-32AA021FD33F}"/>
              </a:ext>
            </a:extLst>
          </p:cNvPr>
          <p:cNvSpPr/>
          <p:nvPr/>
        </p:nvSpPr>
        <p:spPr>
          <a:xfrm>
            <a:off x="6316730" y="2571750"/>
            <a:ext cx="2066293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/user-detail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8C8CD903-B947-63A6-814A-4DD8359E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67" y="2940829"/>
            <a:ext cx="1580042" cy="163548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823176A1-5B6A-74DB-6EC4-F109851FC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75" y="2974641"/>
            <a:ext cx="1578474" cy="163385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2701869-6723-B096-5A99-E3A39B87C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31" y="2915236"/>
            <a:ext cx="1591826" cy="164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2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825D-3D29-BCAA-9C83-7307AC37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B43CD-1B2E-C3BC-A0D7-66C4D258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044549-4602-7EBE-8EDD-4A8F0E7255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Approach 2: Client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defines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the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API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based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on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its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requirements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,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views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,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use-cases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, ...</a:t>
            </a:r>
          </a:p>
          <a:p>
            <a:r>
              <a:rPr lang="de-DE" sz="1800" dirty="0">
                <a:solidFill>
                  <a:srgbClr val="025249"/>
                </a:solidFill>
                <a:latin typeface="Source Sans Pro" charset="0"/>
              </a:rPr>
              <a:t>Backend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</a:rPr>
              <a:t>for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</a:rPr>
              <a:t> Frontend (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</a:rPr>
              <a:t>BfF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</a:rPr>
              <a:t>)</a:t>
            </a:r>
          </a:p>
          <a:p>
            <a:endParaRPr lang="de-DE" sz="1800" dirty="0">
              <a:solidFill>
                <a:srgbClr val="EF7D1D"/>
              </a:solidFill>
              <a:latin typeface="Source Sans Pro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E4355ED-EA45-67EE-1B96-8C3082BD3531}"/>
              </a:ext>
            </a:extLst>
          </p:cNvPr>
          <p:cNvSpPr/>
          <p:nvPr/>
        </p:nvSpPr>
        <p:spPr>
          <a:xfrm>
            <a:off x="1323133" y="2571750"/>
            <a:ext cx="15167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feed</a:t>
            </a:r>
            <a:endParaRPr lang="de-DE" sz="15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7687A63-5D6D-BDE5-1CC7-DE10A46392CE}"/>
              </a:ext>
            </a:extLst>
          </p:cNvPr>
          <p:cNvSpPr/>
          <p:nvPr/>
        </p:nvSpPr>
        <p:spPr>
          <a:xfrm>
            <a:off x="3841896" y="2571750"/>
            <a:ext cx="1914527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story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-view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24B67E3-EDA7-6ACA-CB6A-921D6E4ADF26}"/>
              </a:ext>
            </a:extLst>
          </p:cNvPr>
          <p:cNvSpPr/>
          <p:nvPr/>
        </p:nvSpPr>
        <p:spPr>
          <a:xfrm>
            <a:off x="6316730" y="2571750"/>
            <a:ext cx="2066293" cy="36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de-DE" sz="1500" dirty="0" err="1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api</a:t>
            </a:r>
            <a:r>
              <a:rPr lang="de-DE" sz="1500" dirty="0">
                <a:solidFill>
                  <a:srgbClr val="36544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/user-detail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2C224CF-A3C7-B2C0-9843-335E3E165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67" y="2940829"/>
            <a:ext cx="1580042" cy="163548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F1072562-BDFB-0BE7-4C38-47D8814E9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75" y="2974641"/>
            <a:ext cx="1578474" cy="163385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B2B080B-15DF-848B-BC30-225923F8D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31" y="2915236"/>
            <a:ext cx="1591826" cy="164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39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15D90-ABE5-8C45-A674-A792F084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0864C-49B6-184D-B106-DC15D7C131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Approach 3: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GraphQL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...</a:t>
            </a:r>
          </a:p>
          <a:p>
            <a:endParaRPr lang="de-DE" b="0" dirty="0">
              <a:solidFill>
                <a:srgbClr val="0252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48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09F0F-5F1F-F37A-B09A-4AFCF48B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E0DF82-D94F-9905-EEF3-9B48D9D54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AF92A5-8881-2502-48A0-5BDAA5096A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Approach 3: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GraphQL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...</a:t>
            </a:r>
          </a:p>
          <a:p>
            <a:r>
              <a:rPr lang="de-DE" sz="1800" dirty="0">
                <a:solidFill>
                  <a:srgbClr val="025249"/>
                </a:solidFill>
              </a:rPr>
              <a:t>As </a:t>
            </a:r>
            <a:r>
              <a:rPr lang="de-DE" sz="1800" dirty="0" err="1">
                <a:solidFill>
                  <a:srgbClr val="025249"/>
                </a:solidFill>
              </a:rPr>
              <a:t>approach</a:t>
            </a:r>
            <a:r>
              <a:rPr lang="de-DE" sz="1800" dirty="0">
                <a:solidFill>
                  <a:srgbClr val="025249"/>
                </a:solidFill>
              </a:rPr>
              <a:t> 1: Server </a:t>
            </a:r>
            <a:r>
              <a:rPr lang="de-DE" sz="1800" dirty="0" err="1">
                <a:solidFill>
                  <a:srgbClr val="025249"/>
                </a:solidFill>
              </a:rPr>
              <a:t>defines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the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data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model</a:t>
            </a:r>
            <a:endParaRPr lang="de-DE" sz="1800" dirty="0">
              <a:solidFill>
                <a:srgbClr val="025249"/>
              </a:solidFill>
            </a:endParaRPr>
          </a:p>
          <a:p>
            <a:endParaRPr lang="de-DE" b="0" dirty="0">
              <a:solidFill>
                <a:srgbClr val="025249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3A0298B-4D99-FBDF-218A-39BC050C0C2F}"/>
              </a:ext>
            </a:extLst>
          </p:cNvPr>
          <p:cNvCxnSpPr/>
          <p:nvPr/>
        </p:nvCxnSpPr>
        <p:spPr>
          <a:xfrm>
            <a:off x="2923675" y="3613955"/>
            <a:ext cx="834887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2D230D7-C96D-CEC1-1DB3-A3D71E326D3B}"/>
              </a:ext>
            </a:extLst>
          </p:cNvPr>
          <p:cNvCxnSpPr/>
          <p:nvPr/>
        </p:nvCxnSpPr>
        <p:spPr>
          <a:xfrm>
            <a:off x="5451287" y="3613955"/>
            <a:ext cx="8348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89DFC614-BF67-C1A0-D4D7-D0F0D22C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6" y="2939287"/>
            <a:ext cx="1580042" cy="16354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9921070-2A70-9F8C-8D77-6CA6F2D8E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75" y="2974641"/>
            <a:ext cx="1580042" cy="163548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1B4C79E-91F4-878B-E233-3962455AB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790" y="2929056"/>
            <a:ext cx="1578474" cy="163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33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40B27-356E-4D28-F75D-746A5855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32850D-4649-E503-2348-45A201A1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482F45-9A1D-B8D7-DACA-15FF1C4AC3B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Approach 3: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GraphQL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...</a:t>
            </a:r>
          </a:p>
          <a:p>
            <a:r>
              <a:rPr lang="de-DE" sz="1800" b="0" dirty="0">
                <a:solidFill>
                  <a:srgbClr val="025249"/>
                </a:solidFill>
              </a:rPr>
              <a:t>As </a:t>
            </a:r>
            <a:r>
              <a:rPr lang="de-DE" sz="1800" b="0" dirty="0" err="1">
                <a:solidFill>
                  <a:srgbClr val="025249"/>
                </a:solidFill>
              </a:rPr>
              <a:t>approach</a:t>
            </a:r>
            <a:r>
              <a:rPr lang="de-DE" sz="1800" b="0" dirty="0">
                <a:solidFill>
                  <a:srgbClr val="025249"/>
                </a:solidFill>
              </a:rPr>
              <a:t> 1: Server </a:t>
            </a:r>
            <a:r>
              <a:rPr lang="de-DE" sz="1800" b="0" dirty="0" err="1">
                <a:solidFill>
                  <a:srgbClr val="025249"/>
                </a:solidFill>
              </a:rPr>
              <a:t>defines</a:t>
            </a:r>
            <a:r>
              <a:rPr lang="de-DE" sz="1800" b="0" dirty="0">
                <a:solidFill>
                  <a:srgbClr val="025249"/>
                </a:solidFill>
              </a:rPr>
              <a:t> </a:t>
            </a:r>
            <a:r>
              <a:rPr lang="de-DE" sz="1800" b="0" dirty="0" err="1">
                <a:solidFill>
                  <a:srgbClr val="025249"/>
                </a:solidFill>
              </a:rPr>
              <a:t>the</a:t>
            </a:r>
            <a:r>
              <a:rPr lang="de-DE" sz="1800" b="0" dirty="0">
                <a:solidFill>
                  <a:srgbClr val="025249"/>
                </a:solidFill>
              </a:rPr>
              <a:t> </a:t>
            </a:r>
            <a:r>
              <a:rPr lang="de-DE" sz="1800" b="0" dirty="0" err="1">
                <a:solidFill>
                  <a:srgbClr val="025249"/>
                </a:solidFill>
              </a:rPr>
              <a:t>data</a:t>
            </a:r>
            <a:r>
              <a:rPr lang="de-DE" sz="1800" b="0" dirty="0">
                <a:solidFill>
                  <a:srgbClr val="025249"/>
                </a:solidFill>
              </a:rPr>
              <a:t> </a:t>
            </a:r>
            <a:r>
              <a:rPr lang="de-DE" sz="1800" b="0" dirty="0" err="1">
                <a:solidFill>
                  <a:srgbClr val="025249"/>
                </a:solidFill>
              </a:rPr>
              <a:t>model</a:t>
            </a:r>
            <a:endParaRPr lang="de-DE" sz="1800" b="0" dirty="0">
              <a:solidFill>
                <a:srgbClr val="025249"/>
              </a:solidFill>
            </a:endParaRPr>
          </a:p>
          <a:p>
            <a:r>
              <a:rPr lang="de-DE" sz="1800" dirty="0">
                <a:solidFill>
                  <a:srgbClr val="025249"/>
                </a:solidFill>
              </a:rPr>
              <a:t>...but </a:t>
            </a:r>
            <a:r>
              <a:rPr lang="de-DE" sz="1800" dirty="0" err="1">
                <a:solidFill>
                  <a:srgbClr val="025249"/>
                </a:solidFill>
              </a:rPr>
              <a:t>the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client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can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select</a:t>
            </a:r>
            <a:r>
              <a:rPr lang="de-DE" sz="1800" dirty="0">
                <a:solidFill>
                  <a:srgbClr val="025249"/>
                </a:solidFill>
              </a:rPr>
              <a:t> in </a:t>
            </a:r>
            <a:r>
              <a:rPr lang="de-DE" sz="1800" dirty="0" err="1">
                <a:solidFill>
                  <a:srgbClr val="025249"/>
                </a:solidFill>
              </a:rPr>
              <a:t>every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request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the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data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it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wants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to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read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from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the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model</a:t>
            </a:r>
            <a:endParaRPr lang="de-DE" sz="1800" dirty="0">
              <a:solidFill>
                <a:srgbClr val="025249"/>
              </a:solidFill>
            </a:endParaRPr>
          </a:p>
          <a:p>
            <a:endParaRPr lang="de-DE" sz="1800" dirty="0">
              <a:solidFill>
                <a:srgbClr val="025249"/>
              </a:solidFill>
            </a:endParaRPr>
          </a:p>
          <a:p>
            <a:endParaRPr lang="de-DE" b="0" dirty="0">
              <a:solidFill>
                <a:srgbClr val="025249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5F0DB2E-F20B-5847-EAC7-AFCC95FBBD84}"/>
              </a:ext>
            </a:extLst>
          </p:cNvPr>
          <p:cNvCxnSpPr/>
          <p:nvPr/>
        </p:nvCxnSpPr>
        <p:spPr>
          <a:xfrm>
            <a:off x="2923675" y="3613955"/>
            <a:ext cx="834887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D6B69D8-2F99-C42D-329A-E20D9B19FE21}"/>
              </a:ext>
            </a:extLst>
          </p:cNvPr>
          <p:cNvCxnSpPr/>
          <p:nvPr/>
        </p:nvCxnSpPr>
        <p:spPr>
          <a:xfrm>
            <a:off x="5451287" y="3613955"/>
            <a:ext cx="8348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55958676-F601-5EA4-4A6D-AD620D9C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6" y="2939287"/>
            <a:ext cx="1580042" cy="16354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12E3B81-F8E8-819B-54B2-1D289683F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75" y="2974641"/>
            <a:ext cx="1580042" cy="163548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E4AA0A-C341-BAD7-4075-711981661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790" y="2929056"/>
            <a:ext cx="1578474" cy="163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47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CEDA-6A7F-6460-03F6-027F8711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CF4BBD-EA6C-472C-7DFB-ADD96A50B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</a:t>
            </a:r>
            <a:r>
              <a:rPr lang="de-DE" dirty="0" err="1"/>
              <a:t>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90CC34-2055-F190-F3D0-92A24A5313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Approach 3: </a:t>
            </a:r>
            <a:r>
              <a:rPr lang="de-DE" sz="1800" dirty="0" err="1">
                <a:solidFill>
                  <a:srgbClr val="EF7D1D"/>
                </a:solidFill>
                <a:latin typeface="Source Sans Pro" charset="0"/>
              </a:rPr>
              <a:t>GraphQL</a:t>
            </a:r>
            <a:r>
              <a:rPr lang="de-DE" sz="1800" dirty="0">
                <a:solidFill>
                  <a:srgbClr val="EF7D1D"/>
                </a:solidFill>
                <a:latin typeface="Source Sans Pro" charset="0"/>
              </a:rPr>
              <a:t>...</a:t>
            </a:r>
          </a:p>
          <a:p>
            <a:r>
              <a:rPr lang="de-DE" sz="1800" b="0" dirty="0">
                <a:solidFill>
                  <a:srgbClr val="025249"/>
                </a:solidFill>
              </a:rPr>
              <a:t>As </a:t>
            </a:r>
            <a:r>
              <a:rPr lang="de-DE" sz="1800" b="0" dirty="0" err="1">
                <a:solidFill>
                  <a:srgbClr val="025249"/>
                </a:solidFill>
              </a:rPr>
              <a:t>approach</a:t>
            </a:r>
            <a:r>
              <a:rPr lang="de-DE" sz="1800" b="0" dirty="0">
                <a:solidFill>
                  <a:srgbClr val="025249"/>
                </a:solidFill>
              </a:rPr>
              <a:t> 1: Server </a:t>
            </a:r>
            <a:r>
              <a:rPr lang="de-DE" sz="1800" b="0" dirty="0" err="1">
                <a:solidFill>
                  <a:srgbClr val="025249"/>
                </a:solidFill>
              </a:rPr>
              <a:t>defines</a:t>
            </a:r>
            <a:r>
              <a:rPr lang="de-DE" sz="1800" b="0" dirty="0">
                <a:solidFill>
                  <a:srgbClr val="025249"/>
                </a:solidFill>
              </a:rPr>
              <a:t> </a:t>
            </a:r>
            <a:r>
              <a:rPr lang="de-DE" sz="1800" b="0" dirty="0" err="1">
                <a:solidFill>
                  <a:srgbClr val="025249"/>
                </a:solidFill>
              </a:rPr>
              <a:t>the</a:t>
            </a:r>
            <a:r>
              <a:rPr lang="de-DE" sz="1800" b="0" dirty="0">
                <a:solidFill>
                  <a:srgbClr val="025249"/>
                </a:solidFill>
              </a:rPr>
              <a:t> </a:t>
            </a:r>
            <a:r>
              <a:rPr lang="de-DE" sz="1800" b="0" dirty="0" err="1">
                <a:solidFill>
                  <a:srgbClr val="025249"/>
                </a:solidFill>
              </a:rPr>
              <a:t>data</a:t>
            </a:r>
            <a:r>
              <a:rPr lang="de-DE" sz="1800" b="0" dirty="0">
                <a:solidFill>
                  <a:srgbClr val="025249"/>
                </a:solidFill>
              </a:rPr>
              <a:t> </a:t>
            </a:r>
            <a:r>
              <a:rPr lang="de-DE" sz="1800" b="0" dirty="0" err="1">
                <a:solidFill>
                  <a:srgbClr val="025249"/>
                </a:solidFill>
              </a:rPr>
              <a:t>model</a:t>
            </a:r>
            <a:endParaRPr lang="de-DE" sz="1800" b="0" dirty="0">
              <a:solidFill>
                <a:srgbClr val="025249"/>
              </a:solidFill>
            </a:endParaRPr>
          </a:p>
          <a:p>
            <a:r>
              <a:rPr lang="de-DE" sz="1800" dirty="0">
                <a:solidFill>
                  <a:srgbClr val="025249"/>
                </a:solidFill>
              </a:rPr>
              <a:t>...but </a:t>
            </a:r>
            <a:r>
              <a:rPr lang="de-DE" sz="1800" dirty="0" err="1">
                <a:solidFill>
                  <a:srgbClr val="025249"/>
                </a:solidFill>
              </a:rPr>
              <a:t>the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client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can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select</a:t>
            </a:r>
            <a:r>
              <a:rPr lang="de-DE" sz="1800" dirty="0">
                <a:solidFill>
                  <a:srgbClr val="025249"/>
                </a:solidFill>
              </a:rPr>
              <a:t> in </a:t>
            </a:r>
            <a:r>
              <a:rPr lang="de-DE" sz="1800" dirty="0" err="1">
                <a:solidFill>
                  <a:srgbClr val="025249"/>
                </a:solidFill>
              </a:rPr>
              <a:t>every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request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the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data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it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wants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to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read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from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the</a:t>
            </a:r>
            <a:r>
              <a:rPr lang="de-DE" sz="1800" dirty="0">
                <a:solidFill>
                  <a:srgbClr val="025249"/>
                </a:solidFill>
              </a:rPr>
              <a:t> </a:t>
            </a:r>
            <a:r>
              <a:rPr lang="de-DE" sz="1800" dirty="0" err="1">
                <a:solidFill>
                  <a:srgbClr val="025249"/>
                </a:solidFill>
              </a:rPr>
              <a:t>model</a:t>
            </a:r>
            <a:endParaRPr lang="de-DE" sz="1800" dirty="0">
              <a:solidFill>
                <a:srgbClr val="025249"/>
              </a:solidFill>
            </a:endParaRPr>
          </a:p>
          <a:p>
            <a:endParaRPr lang="de-DE" sz="1800" dirty="0">
              <a:solidFill>
                <a:srgbClr val="025249"/>
              </a:solidFill>
            </a:endParaRPr>
          </a:p>
          <a:p>
            <a:endParaRPr lang="de-DE" b="0" dirty="0">
              <a:solidFill>
                <a:srgbClr val="025249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83CF391-3701-2FCE-ADB4-23E5F92665DE}"/>
              </a:ext>
            </a:extLst>
          </p:cNvPr>
          <p:cNvCxnSpPr/>
          <p:nvPr/>
        </p:nvCxnSpPr>
        <p:spPr>
          <a:xfrm>
            <a:off x="2923675" y="3613955"/>
            <a:ext cx="834887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DD2FE1A-5CAC-87B0-A8E8-4F436E420155}"/>
              </a:ext>
            </a:extLst>
          </p:cNvPr>
          <p:cNvCxnSpPr/>
          <p:nvPr/>
        </p:nvCxnSpPr>
        <p:spPr>
          <a:xfrm>
            <a:off x="5451287" y="3613955"/>
            <a:ext cx="8348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B05A1E43-43BF-848E-56AF-097D46D8D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6" y="2939287"/>
            <a:ext cx="1580042" cy="16354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B78365A-F36A-9C4A-E171-04498EB8E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75" y="2974641"/>
            <a:ext cx="1580042" cy="163548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BD76ABD-84C2-0E59-6C7C-3F8840C3D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790" y="2929056"/>
            <a:ext cx="1578474" cy="163385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149CF8E-410E-53FA-E761-CFBE7E902545}"/>
              </a:ext>
            </a:extLst>
          </p:cNvPr>
          <p:cNvSpPr txBox="1"/>
          <p:nvPr/>
        </p:nvSpPr>
        <p:spPr>
          <a:xfrm>
            <a:off x="1495605" y="2057126"/>
            <a:ext cx="6479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{ </a:t>
            </a:r>
            <a:r>
              <a:rPr lang="de-DE" sz="1600" dirty="0" err="1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stories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{ </a:t>
            </a:r>
            <a:r>
              <a:rPr lang="de-DE" sz="1600" dirty="0">
                <a:solidFill>
                  <a:srgbClr val="5697D5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title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600" dirty="0" err="1">
                <a:solidFill>
                  <a:srgbClr val="5697D5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excerpt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{ </a:t>
            </a:r>
            <a:r>
              <a:rPr lang="de-DE" sz="1600" dirty="0" err="1">
                <a:solidFill>
                  <a:srgbClr val="5697D5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user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{ </a:t>
            </a:r>
            <a:r>
              <a:rPr lang="de-DE" sz="1600" dirty="0" err="1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fullname</a:t>
            </a:r>
            <a:r>
              <a:rPr lang="de-DE" sz="1600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} } } }</a:t>
            </a:r>
          </a:p>
        </p:txBody>
      </p:sp>
    </p:spTree>
    <p:extLst>
      <p:ext uri="{BB962C8B-B14F-4D97-AF65-F5344CB8AC3E}">
        <p14:creationId xmlns:p14="http://schemas.microsoft.com/office/powerpoint/2010/main" val="18591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954136" y="2848386"/>
            <a:ext cx="5235729" cy="13965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475" b="1" dirty="0" err="1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GraphQL</a:t>
            </a:r>
            <a:endParaRPr lang="de-DE" sz="15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6E0B396-70F0-564B-9AD5-C075B0DA8461}"/>
              </a:ext>
            </a:extLst>
          </p:cNvPr>
          <p:cNvSpPr/>
          <p:nvPr/>
        </p:nvSpPr>
        <p:spPr>
          <a:xfrm>
            <a:off x="1235785" y="918022"/>
            <a:ext cx="66724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"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GraphQL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is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a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query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language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for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APIs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and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a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runtime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for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fulfilling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those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b="1" i="1" dirty="0" err="1">
                <a:solidFill>
                  <a:srgbClr val="41719C"/>
                </a:solidFill>
                <a:latin typeface="Source Sans Pro" panose="020B0503030403020204" pitchFamily="34" charset="77"/>
              </a:rPr>
              <a:t>queries</a:t>
            </a:r>
            <a:r>
              <a:rPr lang="de-DE" sz="2100" b="1" i="1" dirty="0">
                <a:solidFill>
                  <a:srgbClr val="41719C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with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your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existing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 </a:t>
            </a:r>
            <a:r>
              <a:rPr lang="de-DE" sz="2100" i="1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data</a:t>
            </a:r>
            <a:r>
              <a:rPr lang="de-DE" sz="2100" i="1" dirty="0">
                <a:solidFill>
                  <a:srgbClr val="36544F"/>
                </a:solidFill>
                <a:latin typeface="Source Sans Pro" panose="020B0503030403020204" pitchFamily="34" charset="77"/>
              </a:rPr>
              <a:t>"</a:t>
            </a:r>
          </a:p>
          <a:p>
            <a:endParaRPr lang="de-DE" sz="1500" dirty="0">
              <a:solidFill>
                <a:srgbClr val="36544F"/>
              </a:solidFill>
              <a:latin typeface="Source Sans Pro" panose="020B0503030403020204" pitchFamily="34" charset="77"/>
            </a:endParaRPr>
          </a:p>
          <a:p>
            <a:r>
              <a:rPr lang="de-DE" sz="1500" dirty="0">
                <a:solidFill>
                  <a:srgbClr val="36544F"/>
                </a:solidFill>
                <a:latin typeface="Source Sans Pro" panose="020B0503030403020204" pitchFamily="34" charset="77"/>
              </a:rPr>
              <a:t> - https://</a:t>
            </a:r>
            <a:r>
              <a:rPr lang="de-DE" sz="1500" dirty="0" err="1">
                <a:solidFill>
                  <a:srgbClr val="36544F"/>
                </a:solidFill>
                <a:latin typeface="Source Sans Pro" panose="020B0503030403020204" pitchFamily="34" charset="77"/>
              </a:rPr>
              <a:t>graphql.org</a:t>
            </a:r>
            <a:endParaRPr lang="de-DE" sz="1050" dirty="0">
              <a:solidFill>
                <a:srgbClr val="36544F"/>
              </a:solidFill>
              <a:latin typeface="Source Sans Pro" panose="020B0503030403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5283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E30BF-08B8-EA8B-B9C4-E276DF30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61554252-08DB-7BE5-4C8C-45ED16FC81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97"/>
          <a:stretch/>
        </p:blipFill>
        <p:spPr>
          <a:xfrm>
            <a:off x="5517266" y="1346623"/>
            <a:ext cx="3383644" cy="3310258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16994F0A-9B26-A470-9A40-9244A18D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</a:t>
            </a:r>
            <a:r>
              <a:rPr lang="de-DE" dirty="0" err="1"/>
              <a:t>schema</a:t>
            </a:r>
            <a:endParaRPr lang="de-DE" dirty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55295E9F-D6A1-CFB4-914F-DA52E504464A}"/>
              </a:ext>
            </a:extLst>
          </p:cNvPr>
          <p:cNvCxnSpPr>
            <a:cxnSpLocks/>
          </p:cNvCxnSpPr>
          <p:nvPr/>
        </p:nvCxnSpPr>
        <p:spPr>
          <a:xfrm>
            <a:off x="6413976" y="1925277"/>
            <a:ext cx="292723" cy="243354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AA62355F-8C21-E57E-FB01-B003B25D9982}"/>
              </a:ext>
            </a:extLst>
          </p:cNvPr>
          <p:cNvSpPr/>
          <p:nvPr/>
        </p:nvSpPr>
        <p:spPr>
          <a:xfrm>
            <a:off x="5830526" y="1785330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</a:rPr>
              <a:t>Objekte</a:t>
            </a:r>
            <a:endParaRPr lang="de-DE" sz="1050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93D15270-F532-291E-8154-4DC3DBBB2FCA}"/>
              </a:ext>
            </a:extLst>
          </p:cNvPr>
          <p:cNvCxnSpPr>
            <a:cxnSpLocks/>
          </p:cNvCxnSpPr>
          <p:nvPr/>
        </p:nvCxnSpPr>
        <p:spPr>
          <a:xfrm flipH="1">
            <a:off x="6413976" y="1605167"/>
            <a:ext cx="982700" cy="30712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24B71C95-06C9-E619-346E-BA7FEFB2A3C5}"/>
              </a:ext>
            </a:extLst>
          </p:cNvPr>
          <p:cNvCxnSpPr>
            <a:cxnSpLocks/>
          </p:cNvCxnSpPr>
          <p:nvPr/>
        </p:nvCxnSpPr>
        <p:spPr>
          <a:xfrm flipH="1">
            <a:off x="7012170" y="3714599"/>
            <a:ext cx="1025576" cy="30025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419A0AE1-BD49-1354-9C25-CDCF32D628CE}"/>
              </a:ext>
            </a:extLst>
          </p:cNvPr>
          <p:cNvSpPr/>
          <p:nvPr/>
        </p:nvSpPr>
        <p:spPr>
          <a:xfrm>
            <a:off x="6428497" y="3875671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endParaRPr lang="de-DE" sz="1050" dirty="0"/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E0FB5377-21B8-47CD-629E-137FB4BBDAE2}"/>
              </a:ext>
            </a:extLst>
          </p:cNvPr>
          <p:cNvCxnSpPr>
            <a:cxnSpLocks/>
          </p:cNvCxnSpPr>
          <p:nvPr/>
        </p:nvCxnSpPr>
        <p:spPr>
          <a:xfrm>
            <a:off x="6528122" y="3554731"/>
            <a:ext cx="357155" cy="39053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D3C57E67-1D7F-A965-DCB2-6F698BEA2B78}"/>
              </a:ext>
            </a:extLst>
          </p:cNvPr>
          <p:cNvCxnSpPr>
            <a:cxnSpLocks/>
          </p:cNvCxnSpPr>
          <p:nvPr/>
        </p:nvCxnSpPr>
        <p:spPr>
          <a:xfrm flipH="1">
            <a:off x="7037305" y="3875671"/>
            <a:ext cx="910644" cy="13918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34A64BE0-D84A-D4DE-161C-95F73CDAD1FD}"/>
              </a:ext>
            </a:extLst>
          </p:cNvPr>
          <p:cNvCxnSpPr>
            <a:cxnSpLocks/>
          </p:cNvCxnSpPr>
          <p:nvPr/>
        </p:nvCxnSpPr>
        <p:spPr>
          <a:xfrm flipH="1">
            <a:off x="7004228" y="4019836"/>
            <a:ext cx="785534" cy="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766C73D2-3EBD-5599-23BE-A49B6D1CC704}"/>
              </a:ext>
            </a:extLst>
          </p:cNvPr>
          <p:cNvSpPr txBox="1"/>
          <p:nvPr/>
        </p:nvSpPr>
        <p:spPr>
          <a:xfrm>
            <a:off x="375513" y="769545"/>
            <a:ext cx="7124700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GraphQL API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provides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Fields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716EB908-924A-A319-4A2F-1137796577DD}"/>
              </a:ext>
            </a:extLst>
          </p:cNvPr>
          <p:cNvCxnSpPr>
            <a:cxnSpLocks/>
          </p:cNvCxnSpPr>
          <p:nvPr/>
        </p:nvCxnSpPr>
        <p:spPr>
          <a:xfrm>
            <a:off x="6616113" y="3332113"/>
            <a:ext cx="269164" cy="6131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534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2381-0F57-FBAC-AB17-DC9CC7AD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0B64D670-B270-FBD1-482D-284AAF1899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97"/>
          <a:stretch/>
        </p:blipFill>
        <p:spPr>
          <a:xfrm>
            <a:off x="5517266" y="1346623"/>
            <a:ext cx="3383644" cy="3310258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B23C70E9-9986-AC4C-12C4-4AC13FDE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</a:t>
            </a:r>
            <a:r>
              <a:rPr lang="de-DE" dirty="0" err="1"/>
              <a:t>schema</a:t>
            </a:r>
            <a:endParaRPr lang="de-DE" dirty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E2EE22AE-C531-2ADF-5896-1BA72D3E68E6}"/>
              </a:ext>
            </a:extLst>
          </p:cNvPr>
          <p:cNvCxnSpPr>
            <a:cxnSpLocks/>
          </p:cNvCxnSpPr>
          <p:nvPr/>
        </p:nvCxnSpPr>
        <p:spPr>
          <a:xfrm>
            <a:off x="6413976" y="1925277"/>
            <a:ext cx="292723" cy="243354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C8EF4C09-016E-2708-6116-6FF0EFE68DBA}"/>
              </a:ext>
            </a:extLst>
          </p:cNvPr>
          <p:cNvSpPr/>
          <p:nvPr/>
        </p:nvSpPr>
        <p:spPr>
          <a:xfrm>
            <a:off x="5830526" y="1785330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</a:rPr>
              <a:t>Objekte</a:t>
            </a:r>
            <a:endParaRPr lang="de-DE" sz="1050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73810018-EFBB-92F6-C43C-AE01720F130A}"/>
              </a:ext>
            </a:extLst>
          </p:cNvPr>
          <p:cNvCxnSpPr>
            <a:cxnSpLocks/>
          </p:cNvCxnSpPr>
          <p:nvPr/>
        </p:nvCxnSpPr>
        <p:spPr>
          <a:xfrm flipH="1">
            <a:off x="6413976" y="1605167"/>
            <a:ext cx="982700" cy="30712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5F9CCF32-9400-44D0-AA7D-1A88F8AA754F}"/>
              </a:ext>
            </a:extLst>
          </p:cNvPr>
          <p:cNvCxnSpPr>
            <a:cxnSpLocks/>
          </p:cNvCxnSpPr>
          <p:nvPr/>
        </p:nvCxnSpPr>
        <p:spPr>
          <a:xfrm flipH="1">
            <a:off x="7012170" y="3714599"/>
            <a:ext cx="1025576" cy="30025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E99C2AEC-8618-ACE7-5A2F-64AA048B4B80}"/>
              </a:ext>
            </a:extLst>
          </p:cNvPr>
          <p:cNvSpPr/>
          <p:nvPr/>
        </p:nvSpPr>
        <p:spPr>
          <a:xfrm>
            <a:off x="6428497" y="3875671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endParaRPr lang="de-DE" sz="1050" dirty="0"/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B9574CB2-6041-0B4D-4CD6-06F8A79693D2}"/>
              </a:ext>
            </a:extLst>
          </p:cNvPr>
          <p:cNvCxnSpPr>
            <a:cxnSpLocks/>
          </p:cNvCxnSpPr>
          <p:nvPr/>
        </p:nvCxnSpPr>
        <p:spPr>
          <a:xfrm>
            <a:off x="6528122" y="3554731"/>
            <a:ext cx="357155" cy="39053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A05513C4-0E8F-CE1E-73B3-804D3F47F45D}"/>
              </a:ext>
            </a:extLst>
          </p:cNvPr>
          <p:cNvCxnSpPr>
            <a:cxnSpLocks/>
          </p:cNvCxnSpPr>
          <p:nvPr/>
        </p:nvCxnSpPr>
        <p:spPr>
          <a:xfrm flipH="1">
            <a:off x="7037305" y="3875671"/>
            <a:ext cx="910644" cy="13918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8751FA05-3FD6-050D-66FD-82C65B764C57}"/>
              </a:ext>
            </a:extLst>
          </p:cNvPr>
          <p:cNvCxnSpPr>
            <a:cxnSpLocks/>
          </p:cNvCxnSpPr>
          <p:nvPr/>
        </p:nvCxnSpPr>
        <p:spPr>
          <a:xfrm flipH="1">
            <a:off x="7004228" y="4019836"/>
            <a:ext cx="785534" cy="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9CCE38C4-B97B-D312-AFC5-F2404310FD26}"/>
              </a:ext>
            </a:extLst>
          </p:cNvPr>
          <p:cNvSpPr txBox="1"/>
          <p:nvPr/>
        </p:nvSpPr>
        <p:spPr>
          <a:xfrm>
            <a:off x="375513" y="769545"/>
            <a:ext cx="7124700" cy="7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GraphQL API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provides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Fields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API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described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in a </a:t>
            </a:r>
            <a:r>
              <a:rPr lang="de-DE" b="1" dirty="0">
                <a:solidFill>
                  <a:srgbClr val="5EA985"/>
                </a:solidFill>
                <a:latin typeface="Source Sans Pro" charset="0"/>
              </a:rPr>
              <a:t>Schema</a:t>
            </a:r>
            <a:endParaRPr lang="de-DE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3AE38DB0-D970-29C9-19E9-7C4A72170DCA}"/>
              </a:ext>
            </a:extLst>
          </p:cNvPr>
          <p:cNvCxnSpPr>
            <a:cxnSpLocks/>
          </p:cNvCxnSpPr>
          <p:nvPr/>
        </p:nvCxnSpPr>
        <p:spPr>
          <a:xfrm>
            <a:off x="6616113" y="3332113"/>
            <a:ext cx="269164" cy="6131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99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5054-C6EA-06C7-BBF4-A841110E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5930FF3-4C47-E6A6-6BFA-E9069C918A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97"/>
          <a:stretch/>
        </p:blipFill>
        <p:spPr>
          <a:xfrm>
            <a:off x="5517266" y="1346623"/>
            <a:ext cx="3383644" cy="3310258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B9946654-19FC-3E51-0F5E-C25BCF6F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</a:t>
            </a:r>
            <a:r>
              <a:rPr lang="de-DE" dirty="0" err="1"/>
              <a:t>schema</a:t>
            </a:r>
            <a:endParaRPr lang="de-DE" dirty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CD890BCF-BC67-D93C-4875-C698D66798CF}"/>
              </a:ext>
            </a:extLst>
          </p:cNvPr>
          <p:cNvCxnSpPr>
            <a:cxnSpLocks/>
          </p:cNvCxnSpPr>
          <p:nvPr/>
        </p:nvCxnSpPr>
        <p:spPr>
          <a:xfrm>
            <a:off x="6413976" y="1925277"/>
            <a:ext cx="292723" cy="243354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F263F86E-095C-1C44-A17D-26887E479239}"/>
              </a:ext>
            </a:extLst>
          </p:cNvPr>
          <p:cNvSpPr/>
          <p:nvPr/>
        </p:nvSpPr>
        <p:spPr>
          <a:xfrm>
            <a:off x="5830526" y="1785330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</a:rPr>
              <a:t>Objekte</a:t>
            </a:r>
            <a:endParaRPr lang="de-DE" sz="1050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591EDE24-6AEF-1012-7AFF-3DD35A7B84FE}"/>
              </a:ext>
            </a:extLst>
          </p:cNvPr>
          <p:cNvCxnSpPr>
            <a:cxnSpLocks/>
          </p:cNvCxnSpPr>
          <p:nvPr/>
        </p:nvCxnSpPr>
        <p:spPr>
          <a:xfrm flipH="1">
            <a:off x="6413976" y="1605167"/>
            <a:ext cx="982700" cy="30712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7942AF60-DC4F-FF3A-9780-7F792677FFA9}"/>
              </a:ext>
            </a:extLst>
          </p:cNvPr>
          <p:cNvCxnSpPr>
            <a:cxnSpLocks/>
          </p:cNvCxnSpPr>
          <p:nvPr/>
        </p:nvCxnSpPr>
        <p:spPr>
          <a:xfrm flipH="1">
            <a:off x="7012170" y="3714599"/>
            <a:ext cx="1025576" cy="30025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5355FA6E-E83B-94C9-9C53-F8854D3DD8E4}"/>
              </a:ext>
            </a:extLst>
          </p:cNvPr>
          <p:cNvSpPr/>
          <p:nvPr/>
        </p:nvSpPr>
        <p:spPr>
          <a:xfrm>
            <a:off x="6428497" y="3875671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endParaRPr lang="de-DE" sz="1050" dirty="0"/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7A9C374-42E1-4E07-8E23-089BB0EBFBB5}"/>
              </a:ext>
            </a:extLst>
          </p:cNvPr>
          <p:cNvCxnSpPr>
            <a:cxnSpLocks/>
          </p:cNvCxnSpPr>
          <p:nvPr/>
        </p:nvCxnSpPr>
        <p:spPr>
          <a:xfrm>
            <a:off x="6528122" y="3554731"/>
            <a:ext cx="357155" cy="39053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97DED56F-34D4-FCAF-84D1-9E9DBBB096CC}"/>
              </a:ext>
            </a:extLst>
          </p:cNvPr>
          <p:cNvCxnSpPr>
            <a:cxnSpLocks/>
          </p:cNvCxnSpPr>
          <p:nvPr/>
        </p:nvCxnSpPr>
        <p:spPr>
          <a:xfrm flipH="1">
            <a:off x="7037305" y="3875671"/>
            <a:ext cx="910644" cy="13918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FED6F737-F370-1664-0C5E-00207AA0FA00}"/>
              </a:ext>
            </a:extLst>
          </p:cNvPr>
          <p:cNvCxnSpPr>
            <a:cxnSpLocks/>
          </p:cNvCxnSpPr>
          <p:nvPr/>
        </p:nvCxnSpPr>
        <p:spPr>
          <a:xfrm flipH="1">
            <a:off x="7004228" y="4019836"/>
            <a:ext cx="785534" cy="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1DB32FE7-381C-75A1-06A4-103AF48074A1}"/>
              </a:ext>
            </a:extLst>
          </p:cNvPr>
          <p:cNvSpPr txBox="1"/>
          <p:nvPr/>
        </p:nvSpPr>
        <p:spPr>
          <a:xfrm>
            <a:off x="375513" y="769545"/>
            <a:ext cx="7124700" cy="121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GraphQL API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provides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Fields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API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described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in a </a:t>
            </a:r>
            <a:r>
              <a:rPr lang="de-DE" b="1" dirty="0">
                <a:solidFill>
                  <a:srgbClr val="5EA985"/>
                </a:solidFill>
                <a:latin typeface="Source Sans Pro" charset="0"/>
              </a:rPr>
              <a:t>Schema</a:t>
            </a:r>
            <a:endParaRPr lang="de-DE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make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API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typesafe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has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an own </a:t>
            </a:r>
            <a:r>
              <a:rPr lang="de-DE" sz="1800" b="1" dirty="0" err="1">
                <a:solidFill>
                  <a:srgbClr val="9E60B8"/>
                </a:solidFill>
                <a:latin typeface="Source Sans Pro" charset="0"/>
                <a:ea typeface="Source Sans Pro" charset="0"/>
                <a:cs typeface="Source Sans Pro" charset="0"/>
              </a:rPr>
              <a:t>Typesystem</a:t>
            </a:r>
            <a:endParaRPr lang="de-DE" sz="1800" b="1" dirty="0">
              <a:solidFill>
                <a:srgbClr val="9E60B8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6FFE0D69-0E63-979E-5E20-4AACC047D44A}"/>
              </a:ext>
            </a:extLst>
          </p:cNvPr>
          <p:cNvCxnSpPr>
            <a:cxnSpLocks/>
          </p:cNvCxnSpPr>
          <p:nvPr/>
        </p:nvCxnSpPr>
        <p:spPr>
          <a:xfrm>
            <a:off x="6616113" y="3332113"/>
            <a:ext cx="269164" cy="6131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6DCC1B1C-562F-7CA0-0D12-59A6745E599B}"/>
              </a:ext>
            </a:extLst>
          </p:cNvPr>
          <p:cNvSpPr txBox="1"/>
          <p:nvPr/>
        </p:nvSpPr>
        <p:spPr>
          <a:xfrm>
            <a:off x="1017127" y="2046954"/>
            <a:ext cx="5005567" cy="2978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endParaRPr lang="de-DE" sz="1151" dirty="0">
              <a:solidFill>
                <a:srgbClr val="41719C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Story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ID!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title: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body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b="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comments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b="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[Comment!]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b="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writtenBy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b="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User</a:t>
            </a: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Story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 ... }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User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 ... }</a:t>
            </a: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4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EB71E-EB7D-18AB-4F59-47C91F5F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C8D46D0-D1AB-1DA4-55E6-5FCDE1EA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97"/>
          <a:stretch/>
        </p:blipFill>
        <p:spPr>
          <a:xfrm>
            <a:off x="5517266" y="1346623"/>
            <a:ext cx="3383644" cy="3310258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C7B4879A-2990-68F2-8A1E-FED2C2E7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</a:t>
            </a:r>
            <a:r>
              <a:rPr lang="de-DE" dirty="0" err="1"/>
              <a:t>schema</a:t>
            </a:r>
            <a:endParaRPr lang="de-DE" dirty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57B429DF-5C3B-D80B-E85C-EA26232675F2}"/>
              </a:ext>
            </a:extLst>
          </p:cNvPr>
          <p:cNvCxnSpPr>
            <a:cxnSpLocks/>
          </p:cNvCxnSpPr>
          <p:nvPr/>
        </p:nvCxnSpPr>
        <p:spPr>
          <a:xfrm>
            <a:off x="6413976" y="1925277"/>
            <a:ext cx="292723" cy="243354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F4E04F19-FF97-62F2-DB08-74A89C4CD811}"/>
              </a:ext>
            </a:extLst>
          </p:cNvPr>
          <p:cNvSpPr/>
          <p:nvPr/>
        </p:nvSpPr>
        <p:spPr>
          <a:xfrm>
            <a:off x="5830526" y="1785330"/>
            <a:ext cx="1166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</a:rPr>
              <a:t>Objekte</a:t>
            </a:r>
            <a:endParaRPr lang="de-DE" sz="1050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9CFFBFA-AF68-49EF-3F33-A8094D9A0746}"/>
              </a:ext>
            </a:extLst>
          </p:cNvPr>
          <p:cNvCxnSpPr>
            <a:cxnSpLocks/>
          </p:cNvCxnSpPr>
          <p:nvPr/>
        </p:nvCxnSpPr>
        <p:spPr>
          <a:xfrm flipH="1">
            <a:off x="6413976" y="1605167"/>
            <a:ext cx="982700" cy="307121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DC95F8BA-EFE5-6C73-E6EC-057333880370}"/>
              </a:ext>
            </a:extLst>
          </p:cNvPr>
          <p:cNvCxnSpPr>
            <a:cxnSpLocks/>
          </p:cNvCxnSpPr>
          <p:nvPr/>
        </p:nvCxnSpPr>
        <p:spPr>
          <a:xfrm flipH="1">
            <a:off x="7012170" y="3714599"/>
            <a:ext cx="1025576" cy="300252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8A3BA9EA-BA41-78DB-B06E-B431D8593A1A}"/>
              </a:ext>
            </a:extLst>
          </p:cNvPr>
          <p:cNvSpPr/>
          <p:nvPr/>
        </p:nvSpPr>
        <p:spPr>
          <a:xfrm>
            <a:off x="6428497" y="3875671"/>
            <a:ext cx="6554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Felder</a:t>
            </a:r>
            <a:endParaRPr lang="de-DE" sz="1050" dirty="0"/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F5817408-9862-DAE0-8353-529D71B546CC}"/>
              </a:ext>
            </a:extLst>
          </p:cNvPr>
          <p:cNvCxnSpPr>
            <a:cxnSpLocks/>
          </p:cNvCxnSpPr>
          <p:nvPr/>
        </p:nvCxnSpPr>
        <p:spPr>
          <a:xfrm>
            <a:off x="6528122" y="3554731"/>
            <a:ext cx="357155" cy="39053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28431A29-E778-34F1-8765-7CF27BC9C20E}"/>
              </a:ext>
            </a:extLst>
          </p:cNvPr>
          <p:cNvCxnSpPr>
            <a:cxnSpLocks/>
          </p:cNvCxnSpPr>
          <p:nvPr/>
        </p:nvCxnSpPr>
        <p:spPr>
          <a:xfrm flipH="1">
            <a:off x="7037305" y="3875671"/>
            <a:ext cx="910644" cy="13918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1D024A6A-B6C3-A2BF-1C19-22F691CCD969}"/>
              </a:ext>
            </a:extLst>
          </p:cNvPr>
          <p:cNvCxnSpPr>
            <a:cxnSpLocks/>
          </p:cNvCxnSpPr>
          <p:nvPr/>
        </p:nvCxnSpPr>
        <p:spPr>
          <a:xfrm flipH="1">
            <a:off x="7004228" y="4019836"/>
            <a:ext cx="785534" cy="0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82F53716-4BD2-A96D-3EF4-7FF417E34534}"/>
              </a:ext>
            </a:extLst>
          </p:cNvPr>
          <p:cNvSpPr txBox="1"/>
          <p:nvPr/>
        </p:nvSpPr>
        <p:spPr>
          <a:xfrm>
            <a:off x="375513" y="769545"/>
            <a:ext cx="7124700" cy="121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GraphQL API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provides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Fields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API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described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in a </a:t>
            </a:r>
            <a:r>
              <a:rPr lang="de-DE" b="1" dirty="0">
                <a:solidFill>
                  <a:srgbClr val="5EA985"/>
                </a:solidFill>
                <a:latin typeface="Source Sans Pro" charset="0"/>
              </a:rPr>
              <a:t>Schema</a:t>
            </a:r>
            <a:endParaRPr lang="de-DE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make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API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typesafe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has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an own </a:t>
            </a:r>
            <a:r>
              <a:rPr lang="de-DE" sz="1800" b="1" dirty="0" err="1">
                <a:solidFill>
                  <a:srgbClr val="9E60B8"/>
                </a:solidFill>
                <a:latin typeface="Source Sans Pro" charset="0"/>
                <a:ea typeface="Source Sans Pro" charset="0"/>
                <a:cs typeface="Source Sans Pro" charset="0"/>
              </a:rPr>
              <a:t>Typesystem</a:t>
            </a:r>
            <a:endParaRPr lang="de-DE" sz="1800" b="1" dirty="0">
              <a:solidFill>
                <a:srgbClr val="9E60B8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603F3083-1B76-CAA7-F3F6-D23C0567F494}"/>
              </a:ext>
            </a:extLst>
          </p:cNvPr>
          <p:cNvCxnSpPr>
            <a:cxnSpLocks/>
          </p:cNvCxnSpPr>
          <p:nvPr/>
        </p:nvCxnSpPr>
        <p:spPr>
          <a:xfrm>
            <a:off x="6616113" y="3332113"/>
            <a:ext cx="269164" cy="613148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09269792-034A-9512-21A2-B9DE2220F2C9}"/>
              </a:ext>
            </a:extLst>
          </p:cNvPr>
          <p:cNvSpPr txBox="1"/>
          <p:nvPr/>
        </p:nvSpPr>
        <p:spPr>
          <a:xfrm>
            <a:off x="1017127" y="2046954"/>
            <a:ext cx="5005567" cy="2978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endParaRPr lang="de-DE" sz="1151" dirty="0">
              <a:solidFill>
                <a:srgbClr val="41719C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Story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id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ID!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title: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body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String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!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b="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comments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b="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[Comment!]</a:t>
            </a: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  </a:t>
            </a:r>
            <a:r>
              <a:rPr lang="de-DE" sz="1151" b="1" dirty="0" err="1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writtenBy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: </a:t>
            </a:r>
            <a:r>
              <a:rPr lang="de-DE" sz="1151" b="1" dirty="0">
                <a:solidFill>
                  <a:srgbClr val="9E60B8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User</a:t>
            </a: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Story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 ... }</a:t>
            </a:r>
          </a:p>
          <a:p>
            <a:pPr>
              <a:lnSpc>
                <a:spcPct val="110000"/>
              </a:lnSpc>
            </a:pPr>
            <a:endParaRPr lang="de-DE" sz="1151" dirty="0">
              <a:solidFill>
                <a:srgbClr val="025249"/>
              </a:solidFill>
              <a:latin typeface="Source Code Pro Light" panose="020B0409030403020204" pitchFamily="49" charset="0"/>
              <a:ea typeface="Source Code Pro Light" panose="020B0409030403020204" pitchFamily="49" charset="0"/>
            </a:endParaRPr>
          </a:p>
          <a:p>
            <a:pPr>
              <a:lnSpc>
                <a:spcPct val="110000"/>
              </a:lnSpc>
            </a:pPr>
            <a:r>
              <a:rPr lang="de-DE" sz="1151" dirty="0">
                <a:solidFill>
                  <a:srgbClr val="41719C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9E60B8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User</a:t>
            </a:r>
            <a: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de-DE" sz="1151" dirty="0">
                <a:solidFill>
                  <a:srgbClr val="025249"/>
                </a:solidFill>
                <a:latin typeface="Source Code Pro Light" panose="020B0409030403020204" pitchFamily="49" charset="0"/>
                <a:ea typeface="Source Code Pro Light" panose="020B0409030403020204" pitchFamily="49" charset="0"/>
              </a:rPr>
              <a:t>{ ... }</a:t>
            </a:r>
          </a:p>
          <a:p>
            <a:br>
              <a:rPr lang="de-DE" sz="1151" dirty="0">
                <a:solidFill>
                  <a:srgbClr val="02524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de-DE" sz="1151" dirty="0">
              <a:solidFill>
                <a:srgbClr val="025249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7816758-986A-FAD0-A60C-2402C20E2912}"/>
              </a:ext>
            </a:extLst>
          </p:cNvPr>
          <p:cNvSpPr txBox="1"/>
          <p:nvPr/>
        </p:nvSpPr>
        <p:spPr>
          <a:xfrm>
            <a:off x="376773" y="4652378"/>
            <a:ext cx="5908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41719C"/>
                </a:solidFill>
                <a:latin typeface="Candara" panose="020E0502030303020204" pitchFamily="34" charset="0"/>
              </a:rPr>
              <a:t>👉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You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can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think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of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a </a:t>
            </a:r>
            <a:r>
              <a:rPr lang="de-DE" b="1" i="1" dirty="0">
                <a:solidFill>
                  <a:srgbClr val="41719C"/>
                </a:solidFill>
                <a:latin typeface="Candara" panose="020E0502030303020204" pitchFamily="34" charset="0"/>
              </a:rPr>
              <a:t>Field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as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a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Function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that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returns</a:t>
            </a:r>
            <a:r>
              <a:rPr lang="de-DE" b="1" i="1" dirty="0">
                <a:solidFill>
                  <a:srgbClr val="025249"/>
                </a:solidFill>
                <a:latin typeface="Candara" panose="020E0502030303020204" pitchFamily="34" charset="0"/>
              </a:rPr>
              <a:t> a </a:t>
            </a:r>
            <a:r>
              <a:rPr lang="de-DE" b="1" i="1" dirty="0" err="1">
                <a:solidFill>
                  <a:srgbClr val="025249"/>
                </a:solidFill>
                <a:latin typeface="Candara" panose="020E0502030303020204" pitchFamily="34" charset="0"/>
              </a:rPr>
              <a:t>value</a:t>
            </a:r>
            <a:endParaRPr lang="de-DE" b="1" i="1" dirty="0">
              <a:solidFill>
                <a:srgbClr val="025249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667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DABF-8E1F-5CA4-DBFA-22D27B27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4BC46BC-C604-E1B8-477C-81834334E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</a:t>
            </a:r>
            <a:r>
              <a:rPr lang="de-DE" dirty="0" err="1"/>
              <a:t>schema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61C9C72-77C8-8701-3759-51F75982FCD6}"/>
              </a:ext>
            </a:extLst>
          </p:cNvPr>
          <p:cNvSpPr txBox="1"/>
          <p:nvPr/>
        </p:nvSpPr>
        <p:spPr>
          <a:xfrm>
            <a:off x="375513" y="769545"/>
            <a:ext cx="8554704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API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provides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Fields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49715FB-5BAF-CD67-87DF-C83705A3C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144" y="1196246"/>
            <a:ext cx="4057073" cy="325756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453DEE5-366D-A2A5-C064-E928FC8DEE1C}"/>
              </a:ext>
            </a:extLst>
          </p:cNvPr>
          <p:cNvSpPr txBox="1"/>
          <p:nvPr/>
        </p:nvSpPr>
        <p:spPr>
          <a:xfrm>
            <a:off x="375513" y="769545"/>
            <a:ext cx="4445303" cy="1149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Graph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starts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at a </a:t>
            </a:r>
            <a:r>
              <a:rPr lang="de-DE" sz="1800" b="1" i="1" dirty="0">
                <a:solidFill>
                  <a:srgbClr val="41719C"/>
                </a:solidFill>
                <a:latin typeface="Source Sans Pro" charset="0"/>
                <a:ea typeface="Source Sans Pro" charset="0"/>
                <a:cs typeface="Source Sans Pro" charset="0"/>
              </a:rPr>
              <a:t>Root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AD6882C-315A-8D30-2B63-BFAFBB5B7509}"/>
              </a:ext>
            </a:extLst>
          </p:cNvPr>
          <p:cNvSpPr/>
          <p:nvPr/>
        </p:nvSpPr>
        <p:spPr>
          <a:xfrm>
            <a:off x="6351306" y="4547043"/>
            <a:ext cx="11793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Root-Objekte</a:t>
            </a:r>
            <a:endParaRPr lang="de-DE" sz="1050" dirty="0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8037AEF2-8008-1607-9285-E013EB401A82}"/>
              </a:ext>
            </a:extLst>
          </p:cNvPr>
          <p:cNvCxnSpPr>
            <a:cxnSpLocks/>
          </p:cNvCxnSpPr>
          <p:nvPr/>
        </p:nvCxnSpPr>
        <p:spPr>
          <a:xfrm>
            <a:off x="6351306" y="4478736"/>
            <a:ext cx="181230" cy="195265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397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03C7-00FE-238B-A4AC-FA9588F5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1ECB927-9191-B0BC-DDA9-BD3D09D5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</a:t>
            </a:r>
            <a:r>
              <a:rPr lang="de-DE" dirty="0" err="1"/>
              <a:t>schema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3B764D3-9415-578B-1A01-E71ABD9B6D30}"/>
              </a:ext>
            </a:extLst>
          </p:cNvPr>
          <p:cNvSpPr txBox="1"/>
          <p:nvPr/>
        </p:nvSpPr>
        <p:spPr>
          <a:xfrm>
            <a:off x="375513" y="769545"/>
            <a:ext cx="8554704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API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provides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Fields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2A14EF0-CF2E-63C0-CBB3-AFA91D401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144" y="1196246"/>
            <a:ext cx="4057073" cy="325756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056076A-33F3-B657-E77A-636E077438B5}"/>
              </a:ext>
            </a:extLst>
          </p:cNvPr>
          <p:cNvSpPr txBox="1"/>
          <p:nvPr/>
        </p:nvSpPr>
        <p:spPr>
          <a:xfrm>
            <a:off x="375513" y="769545"/>
            <a:ext cx="4445303" cy="2756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Graph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starts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at a </a:t>
            </a:r>
            <a:r>
              <a:rPr lang="de-DE" sz="1800" b="1" i="1" dirty="0">
                <a:solidFill>
                  <a:srgbClr val="41719C"/>
                </a:solidFill>
                <a:latin typeface="Source Sans Pro" charset="0"/>
                <a:ea typeface="Source Sans Pro" charset="0"/>
                <a:cs typeface="Source Sans Pro" charset="0"/>
              </a:rPr>
              <a:t>Root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There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up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three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differen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 Root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: </a:t>
            </a:r>
            <a:r>
              <a:rPr lang="de-DE" sz="1800" b="1" i="1" dirty="0" err="1">
                <a:solidFill>
                  <a:srgbClr val="9E60B8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sz="1800" b="1" i="1" dirty="0" err="1">
                <a:solidFill>
                  <a:srgbClr val="5EA985"/>
                </a:solidFill>
                <a:latin typeface="Source Sans Pro" charset="0"/>
                <a:ea typeface="Source Sans Pro" charset="0"/>
                <a:cs typeface="Source Sans Pro" charset="0"/>
              </a:rPr>
              <a:t>mutation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und </a:t>
            </a:r>
            <a:r>
              <a:rPr lang="de-DE" b="1" i="1" dirty="0" err="1">
                <a:solidFill>
                  <a:srgbClr val="F3973B"/>
                </a:solidFill>
                <a:latin typeface="Source Sans Pro" charset="0"/>
                <a:ea typeface="Source Sans Pro" charset="0"/>
                <a:cs typeface="Source Sans Pro" charset="0"/>
              </a:rPr>
              <a:t>subscription</a:t>
            </a:r>
            <a:endParaRPr lang="de-DE" sz="1800" b="1" i="1" dirty="0">
              <a:solidFill>
                <a:srgbClr val="F3973B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B0CF73C-B656-EEA0-6C66-0909EFD76DFE}"/>
              </a:ext>
            </a:extLst>
          </p:cNvPr>
          <p:cNvSpPr/>
          <p:nvPr/>
        </p:nvSpPr>
        <p:spPr>
          <a:xfrm>
            <a:off x="6351306" y="4547043"/>
            <a:ext cx="11793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Root-Objekte</a:t>
            </a:r>
            <a:endParaRPr lang="de-DE" sz="1050" dirty="0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A673FAAE-D755-2CD2-5B8F-8BD688EC7A8B}"/>
              </a:ext>
            </a:extLst>
          </p:cNvPr>
          <p:cNvCxnSpPr>
            <a:cxnSpLocks/>
          </p:cNvCxnSpPr>
          <p:nvPr/>
        </p:nvCxnSpPr>
        <p:spPr>
          <a:xfrm>
            <a:off x="6351306" y="4478736"/>
            <a:ext cx="181230" cy="195265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881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3022-9204-DB8C-DD0D-E2C5DC0F2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1D4326D-EFD1-DBA2-B638-803BB9CB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</a:t>
            </a:r>
            <a:r>
              <a:rPr lang="de-DE" dirty="0" err="1"/>
              <a:t>schema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B2EA2AB-8C89-E390-6043-E56477C485F1}"/>
              </a:ext>
            </a:extLst>
          </p:cNvPr>
          <p:cNvSpPr txBox="1"/>
          <p:nvPr/>
        </p:nvSpPr>
        <p:spPr>
          <a:xfrm>
            <a:off x="375513" y="769545"/>
            <a:ext cx="8554704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API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provides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Fields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70EE003-2E81-28FB-A6CF-650132403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144" y="1196246"/>
            <a:ext cx="4057073" cy="325756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11A2492-A848-52F9-3019-9D7D18144E83}"/>
              </a:ext>
            </a:extLst>
          </p:cNvPr>
          <p:cNvSpPr txBox="1"/>
          <p:nvPr/>
        </p:nvSpPr>
        <p:spPr>
          <a:xfrm>
            <a:off x="375513" y="769545"/>
            <a:ext cx="4445303" cy="3587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Graph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starts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at a </a:t>
            </a:r>
            <a:r>
              <a:rPr lang="de-DE" sz="1800" b="1" i="1" dirty="0">
                <a:solidFill>
                  <a:srgbClr val="41719C"/>
                </a:solidFill>
                <a:latin typeface="Source Sans Pro" charset="0"/>
                <a:ea typeface="Source Sans Pro" charset="0"/>
                <a:cs typeface="Source Sans Pro" charset="0"/>
              </a:rPr>
              <a:t>Root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There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up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three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differen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 Root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: </a:t>
            </a:r>
            <a:r>
              <a:rPr lang="de-DE" sz="1800" b="1" i="1" dirty="0" err="1">
                <a:solidFill>
                  <a:srgbClr val="9E60B8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sz="1800" b="1" i="1" dirty="0" err="1">
                <a:solidFill>
                  <a:srgbClr val="5EA985"/>
                </a:solidFill>
                <a:latin typeface="Source Sans Pro" charset="0"/>
                <a:ea typeface="Source Sans Pro" charset="0"/>
                <a:cs typeface="Source Sans Pro" charset="0"/>
              </a:rPr>
              <a:t>mutation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und </a:t>
            </a:r>
            <a:r>
              <a:rPr lang="de-DE" b="1" i="1" dirty="0" err="1">
                <a:solidFill>
                  <a:srgbClr val="F3973B"/>
                </a:solidFill>
                <a:latin typeface="Source Sans Pro" charset="0"/>
                <a:ea typeface="Source Sans Pro" charset="0"/>
                <a:cs typeface="Source Sans Pro" charset="0"/>
              </a:rPr>
              <a:t>subscription</a:t>
            </a:r>
            <a:endParaRPr lang="de-DE" sz="1800" b="1" i="1" dirty="0">
              <a:solidFill>
                <a:srgbClr val="F3973B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Each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Root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defines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an </a:t>
            </a:r>
            <a:r>
              <a:rPr lang="de-DE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Entrypoint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Graph (and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thus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API)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B70792-F0A3-4C57-1910-2BF76A0038C5}"/>
              </a:ext>
            </a:extLst>
          </p:cNvPr>
          <p:cNvSpPr/>
          <p:nvPr/>
        </p:nvSpPr>
        <p:spPr>
          <a:xfrm>
            <a:off x="6351306" y="4547043"/>
            <a:ext cx="11793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Root-Objekte</a:t>
            </a:r>
            <a:endParaRPr lang="de-DE" sz="1050" dirty="0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6EB270F2-3E7C-01B0-4AD7-BE06E7CB2663}"/>
              </a:ext>
            </a:extLst>
          </p:cNvPr>
          <p:cNvCxnSpPr>
            <a:cxnSpLocks/>
          </p:cNvCxnSpPr>
          <p:nvPr/>
        </p:nvCxnSpPr>
        <p:spPr>
          <a:xfrm>
            <a:off x="6351306" y="4478736"/>
            <a:ext cx="181230" cy="195265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03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80A2D-E1E8-CEE6-3BE5-74A69C80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CACFFA6-4AB2-3395-6FD7-2D441DD4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GraphQl</a:t>
            </a:r>
            <a:r>
              <a:rPr lang="de-DE" dirty="0"/>
              <a:t> </a:t>
            </a:r>
            <a:r>
              <a:rPr lang="de-DE" dirty="0" err="1"/>
              <a:t>schema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F30424B-7685-2FFD-E255-A5637ABE31C1}"/>
              </a:ext>
            </a:extLst>
          </p:cNvPr>
          <p:cNvSpPr txBox="1"/>
          <p:nvPr/>
        </p:nvSpPr>
        <p:spPr>
          <a:xfrm>
            <a:off x="375513" y="769545"/>
            <a:ext cx="8554704" cy="401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API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provides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</a:rPr>
              <a:t>Fields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249A11-F903-ED7E-28B9-946CFAA7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144" y="1196246"/>
            <a:ext cx="4057073" cy="325756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1AB3DBC-3C8A-4A67-9B8F-FC68E3276910}"/>
              </a:ext>
            </a:extLst>
          </p:cNvPr>
          <p:cNvSpPr txBox="1"/>
          <p:nvPr/>
        </p:nvSpPr>
        <p:spPr>
          <a:xfrm>
            <a:off x="375513" y="769545"/>
            <a:ext cx="4445303" cy="4418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Graph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starts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at a </a:t>
            </a:r>
            <a:r>
              <a:rPr lang="de-DE" sz="1800" b="1" i="1" dirty="0">
                <a:solidFill>
                  <a:srgbClr val="41719C"/>
                </a:solidFill>
                <a:latin typeface="Source Sans Pro" charset="0"/>
                <a:ea typeface="Source Sans Pro" charset="0"/>
                <a:cs typeface="Source Sans Pro" charset="0"/>
              </a:rPr>
              <a:t>Root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There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up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three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differen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 Root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: </a:t>
            </a:r>
            <a:r>
              <a:rPr lang="de-DE" sz="1800" b="1" i="1" dirty="0" err="1">
                <a:solidFill>
                  <a:srgbClr val="9E60B8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sz="1800" b="1" i="1" dirty="0" err="1">
                <a:solidFill>
                  <a:srgbClr val="5EA985"/>
                </a:solidFill>
                <a:latin typeface="Source Sans Pro" charset="0"/>
                <a:ea typeface="Source Sans Pro" charset="0"/>
                <a:cs typeface="Source Sans Pro" charset="0"/>
              </a:rPr>
              <a:t>mutation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und </a:t>
            </a:r>
            <a:r>
              <a:rPr lang="de-DE" b="1" i="1" dirty="0" err="1">
                <a:solidFill>
                  <a:srgbClr val="F3973B"/>
                </a:solidFill>
                <a:latin typeface="Source Sans Pro" charset="0"/>
                <a:ea typeface="Source Sans Pro" charset="0"/>
                <a:cs typeface="Source Sans Pro" charset="0"/>
              </a:rPr>
              <a:t>subscription</a:t>
            </a:r>
            <a:endParaRPr lang="de-DE" sz="1800" b="1" i="1" dirty="0">
              <a:solidFill>
                <a:srgbClr val="F3973B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Each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Root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defines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an </a:t>
            </a:r>
            <a:r>
              <a:rPr lang="de-DE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Entrypoint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Graph (and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thus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API)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b="1" i="1" dirty="0">
                <a:solidFill>
                  <a:srgbClr val="B58900"/>
                </a:solidFill>
                <a:latin typeface="Source Sans Pro" charset="0"/>
                <a:ea typeface="Source Sans Pro" charset="0"/>
              </a:rPr>
              <a:t>Query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has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start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at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one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Root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endParaRPr lang="de-DE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644F90A-25FD-1A23-84DB-97A0162BF718}"/>
              </a:ext>
            </a:extLst>
          </p:cNvPr>
          <p:cNvSpPr/>
          <p:nvPr/>
        </p:nvSpPr>
        <p:spPr>
          <a:xfrm>
            <a:off x="6351306" y="4547043"/>
            <a:ext cx="11793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Root-Objekte</a:t>
            </a:r>
            <a:endParaRPr lang="de-DE" sz="1050" dirty="0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6A86077E-F9D2-0143-9513-56DFEED1E718}"/>
              </a:ext>
            </a:extLst>
          </p:cNvPr>
          <p:cNvCxnSpPr>
            <a:cxnSpLocks/>
          </p:cNvCxnSpPr>
          <p:nvPr/>
        </p:nvCxnSpPr>
        <p:spPr>
          <a:xfrm>
            <a:off x="6351306" y="4478736"/>
            <a:ext cx="181230" cy="195265"/>
          </a:xfrm>
          <a:prstGeom prst="line">
            <a:avLst/>
          </a:prstGeom>
          <a:ln>
            <a:solidFill>
              <a:srgbClr val="02524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364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738006" y="1684219"/>
            <a:ext cx="3667992" cy="13965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475" b="1" dirty="0">
                <a:solidFill>
                  <a:srgbClr val="9E60B8"/>
                </a:solidFill>
                <a:latin typeface="Montserrat" charset="0"/>
                <a:ea typeface="Montserrat" charset="0"/>
                <a:cs typeface="Montserrat" charset="0"/>
              </a:rPr>
              <a:t>Query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931277C-EA9A-5E39-5CE0-91B1C426CD36}"/>
              </a:ext>
            </a:extLst>
          </p:cNvPr>
          <p:cNvSpPr/>
          <p:nvPr/>
        </p:nvSpPr>
        <p:spPr>
          <a:xfrm>
            <a:off x="3981933" y="1053516"/>
            <a:ext cx="118013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40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The</a:t>
            </a:r>
            <a:endParaRPr lang="de-DE" sz="15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E0C620-FB74-AD1C-DAF2-F53AE6422AC7}"/>
              </a:ext>
            </a:extLst>
          </p:cNvPr>
          <p:cNvSpPr/>
          <p:nvPr/>
        </p:nvSpPr>
        <p:spPr>
          <a:xfrm>
            <a:off x="1627926" y="3017255"/>
            <a:ext cx="5888150" cy="13965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475" b="1" dirty="0">
                <a:solidFill>
                  <a:srgbClr val="41719C"/>
                </a:solidFill>
                <a:latin typeface="Montserrat" charset="0"/>
                <a:ea typeface="Montserrat" charset="0"/>
                <a:cs typeface="Montserrat" charset="0"/>
              </a:rPr>
              <a:t>Language</a:t>
            </a:r>
            <a:endParaRPr lang="de-DE" sz="1500" b="1" dirty="0">
              <a:solidFill>
                <a:srgbClr val="41719C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59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E8E708-F776-3B7C-DA6C-74A13E04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6495786-6566-5674-67EE-06FD8A6EAEA5}"/>
              </a:ext>
            </a:extLst>
          </p:cNvPr>
          <p:cNvSpPr txBox="1"/>
          <p:nvPr/>
        </p:nvSpPr>
        <p:spPr>
          <a:xfrm>
            <a:off x="375513" y="769545"/>
            <a:ext cx="7124700" cy="734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uses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9E60B8"/>
                </a:solidFill>
                <a:latin typeface="Source Sans Pro" charset="0"/>
              </a:rPr>
              <a:t>Query Language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select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from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E2A1EAC-D1DE-BEF5-9926-0144361D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08" r="1"/>
          <a:stretch/>
        </p:blipFill>
        <p:spPr>
          <a:xfrm>
            <a:off x="3449256" y="1346623"/>
            <a:ext cx="5451654" cy="3310258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8F0CA1F0-2C79-03C7-DA4C-D0E3CEBB3F52}"/>
              </a:ext>
            </a:extLst>
          </p:cNvPr>
          <p:cNvSpPr txBox="1"/>
          <p:nvPr/>
        </p:nvSpPr>
        <p:spPr>
          <a:xfrm>
            <a:off x="0" y="4653323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       </a:t>
            </a:r>
            <a:r>
              <a:rPr lang="de-DE" b="1" dirty="0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                           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3016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E8E708-F776-3B7C-DA6C-74A13E04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6495786-6566-5674-67EE-06FD8A6EAEA5}"/>
              </a:ext>
            </a:extLst>
          </p:cNvPr>
          <p:cNvSpPr txBox="1"/>
          <p:nvPr/>
        </p:nvSpPr>
        <p:spPr>
          <a:xfrm>
            <a:off x="375513" y="769545"/>
            <a:ext cx="7124700" cy="109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uses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9E60B8"/>
                </a:solidFill>
                <a:latin typeface="Source Sans Pro" charset="0"/>
              </a:rPr>
              <a:t>Query Language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select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from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endParaRPr lang="de-DE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Query </a:t>
            </a:r>
            <a:r>
              <a:rPr lang="de-DE" sz="18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starts</a:t>
            </a:r>
            <a:r>
              <a:rPr lang="de-DE" sz="18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at a 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 </a:t>
            </a:r>
            <a:r>
              <a:rPr lang="de-DE" sz="1800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r>
              <a:rPr lang="de-DE" sz="1800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...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E2A1EAC-D1DE-BEF5-9926-0144361D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12" r="1"/>
          <a:stretch/>
        </p:blipFill>
        <p:spPr>
          <a:xfrm>
            <a:off x="2146574" y="1346623"/>
            <a:ext cx="6754336" cy="3310258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5052F4DC-98A6-7C8C-2A3E-E817032F295E}"/>
              </a:ext>
            </a:extLst>
          </p:cNvPr>
          <p:cNvSpPr/>
          <p:nvPr/>
        </p:nvSpPr>
        <p:spPr>
          <a:xfrm>
            <a:off x="3895128" y="2598484"/>
            <a:ext cx="801584" cy="137308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57A5ADA-4000-2F82-EA81-1065BD7C5C42}"/>
              </a:ext>
            </a:extLst>
          </p:cNvPr>
          <p:cNvSpPr txBox="1"/>
          <p:nvPr/>
        </p:nvSpPr>
        <p:spPr>
          <a:xfrm>
            <a:off x="0" y="4653323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b="1" dirty="0" err="1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stories</a:t>
            </a:r>
            <a:r>
              <a:rPr lang="de-DE" b="1" dirty="0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                           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1431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E8E708-F776-3B7C-DA6C-74A13E04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6495786-6566-5674-67EE-06FD8A6EAEA5}"/>
              </a:ext>
            </a:extLst>
          </p:cNvPr>
          <p:cNvSpPr txBox="1"/>
          <p:nvPr/>
        </p:nvSpPr>
        <p:spPr>
          <a:xfrm>
            <a:off x="375513" y="769545"/>
            <a:ext cx="7124700" cy="1454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uses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9E60B8"/>
                </a:solidFill>
                <a:latin typeface="Source Sans Pro" charset="0"/>
              </a:rPr>
              <a:t>Query Language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select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from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endParaRPr lang="de-DE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Query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starts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at a 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 </a:t>
            </a:r>
            <a:r>
              <a:rPr lang="de-DE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...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...and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then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follows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paths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that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defined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endParaRPr lang="de-DE" sz="1800" i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E2A1EAC-D1DE-BEF5-9926-0144361D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12" r="1"/>
          <a:stretch/>
        </p:blipFill>
        <p:spPr>
          <a:xfrm>
            <a:off x="2146574" y="1346623"/>
            <a:ext cx="6754336" cy="331025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3044193-9DD9-F3B8-41A5-0D688780AC2C}"/>
              </a:ext>
            </a:extLst>
          </p:cNvPr>
          <p:cNvSpPr txBox="1"/>
          <p:nvPr/>
        </p:nvSpPr>
        <p:spPr>
          <a:xfrm>
            <a:off x="0" y="4653323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b="1" dirty="0" err="1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stories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b="1" dirty="0" err="1">
                <a:solidFill>
                  <a:srgbClr val="5697D5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comments</a:t>
            </a:r>
            <a:r>
              <a:rPr lang="de-DE" b="1" dirty="0">
                <a:solidFill>
                  <a:srgbClr val="5697D5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{ </a:t>
            </a:r>
            <a:r>
              <a:rPr lang="de-DE" dirty="0" err="1">
                <a:solidFill>
                  <a:srgbClr val="5EB991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id</a:t>
            </a:r>
            <a:r>
              <a:rPr lang="de-DE" dirty="0">
                <a:solidFill>
                  <a:srgbClr val="5EB991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</a:t>
            </a:r>
            <a:r>
              <a:rPr lang="de-DE" dirty="0" err="1">
                <a:solidFill>
                  <a:srgbClr val="5EB991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comment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} } }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56563CB-93F8-3672-19F5-6BB5A87B26B4}"/>
              </a:ext>
            </a:extLst>
          </p:cNvPr>
          <p:cNvSpPr/>
          <p:nvPr/>
        </p:nvSpPr>
        <p:spPr>
          <a:xfrm>
            <a:off x="5868612" y="3214627"/>
            <a:ext cx="801584" cy="137308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A1182D4-57CC-B5FB-4EFB-39CE5B7CC024}"/>
              </a:ext>
            </a:extLst>
          </p:cNvPr>
          <p:cNvSpPr/>
          <p:nvPr/>
        </p:nvSpPr>
        <p:spPr>
          <a:xfrm>
            <a:off x="7723648" y="1697788"/>
            <a:ext cx="801584" cy="307121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44EF566-26CF-C549-C29D-38A9BADC4798}"/>
              </a:ext>
            </a:extLst>
          </p:cNvPr>
          <p:cNvSpPr/>
          <p:nvPr/>
        </p:nvSpPr>
        <p:spPr>
          <a:xfrm>
            <a:off x="3895128" y="2598484"/>
            <a:ext cx="801584" cy="137308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30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E8E708-F776-3B7C-DA6C-74A13E04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Language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6495786-6566-5674-67EE-06FD8A6EAEA5}"/>
              </a:ext>
            </a:extLst>
          </p:cNvPr>
          <p:cNvSpPr txBox="1"/>
          <p:nvPr/>
        </p:nvSpPr>
        <p:spPr>
          <a:xfrm>
            <a:off x="375513" y="769545"/>
            <a:ext cx="7124700" cy="1814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uses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9E60B8"/>
                </a:solidFill>
                <a:latin typeface="Source Sans Pro" charset="0"/>
              </a:rPr>
              <a:t>Query Language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select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i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from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</a:t>
            </a:r>
            <a:endParaRPr lang="de-DE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 Query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starts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at a 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Root </a:t>
            </a:r>
            <a:r>
              <a:rPr lang="de-DE" i="1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object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...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...and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then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follows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paths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that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defined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i="1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Other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paths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(„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Joins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“) </a:t>
            </a:r>
            <a:r>
              <a:rPr lang="de-DE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not possible</a:t>
            </a: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E2A1EAC-D1DE-BEF5-9926-0144361D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12" r="1"/>
          <a:stretch/>
        </p:blipFill>
        <p:spPr>
          <a:xfrm>
            <a:off x="2146574" y="1346623"/>
            <a:ext cx="6754336" cy="331025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9D7D9C6-7DA5-7349-D84F-92CD12E7E565}"/>
              </a:ext>
            </a:extLst>
          </p:cNvPr>
          <p:cNvSpPr txBox="1"/>
          <p:nvPr/>
        </p:nvSpPr>
        <p:spPr>
          <a:xfrm>
            <a:off x="0" y="4653323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b="1" dirty="0" err="1">
                <a:solidFill>
                  <a:srgbClr val="FF0000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comments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  <a:r>
              <a:rPr lang="de-DE" dirty="0" err="1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id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} }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0363AF7-418E-3781-EBD6-C1214C9CEE72}"/>
              </a:ext>
            </a:extLst>
          </p:cNvPr>
          <p:cNvSpPr txBox="1"/>
          <p:nvPr/>
        </p:nvSpPr>
        <p:spPr>
          <a:xfrm>
            <a:off x="4199832" y="437395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⚡️</a:t>
            </a:r>
          </a:p>
        </p:txBody>
      </p:sp>
    </p:spTree>
    <p:extLst>
      <p:ext uri="{BB962C8B-B14F-4D97-AF65-F5344CB8AC3E}">
        <p14:creationId xmlns:p14="http://schemas.microsoft.com/office/powerpoint/2010/main" val="2120035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D7A9D-4CED-D525-C728-EB071DD0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4A95E2C-9275-2675-A75F-AAD4290AE7B2}"/>
              </a:ext>
            </a:extLst>
          </p:cNvPr>
          <p:cNvSpPr/>
          <p:nvPr/>
        </p:nvSpPr>
        <p:spPr>
          <a:xfrm>
            <a:off x="857250" y="3620948"/>
            <a:ext cx="74295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45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Demo: Query-Language</a:t>
            </a:r>
            <a:endParaRPr lang="de-DE" sz="788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7C9B3D6-AAF5-C3E8-3C52-433B9494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1200" cap="none" spc="75" dirty="0"/>
              <a:t>http://127.0.0.1:8080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1F1C018-3AD6-7FAC-AB8D-51C3E4BA0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805" y="687078"/>
            <a:ext cx="4582390" cy="2861342"/>
          </a:xfrm>
          <a:prstGeom prst="rect">
            <a:avLst/>
          </a:prstGeom>
          <a:ln w="6350" cap="rnd">
            <a:solidFill>
              <a:schemeClr val="bg1">
                <a:lumMod val="50000"/>
              </a:schemeClr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>
            <a:contourClr>
              <a:srgbClr val="C0C0C0"/>
            </a:contourClr>
          </a:sp3d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A77F8C2-4D97-88C3-C148-10B7C86CC037}"/>
              </a:ext>
            </a:extLst>
          </p:cNvPr>
          <p:cNvSpPr txBox="1"/>
          <p:nvPr/>
        </p:nvSpPr>
        <p:spPr>
          <a:xfrm>
            <a:off x="7008873" y="2374124"/>
            <a:ext cx="1906527" cy="1174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Ein Query</a:t>
            </a:r>
          </a:p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Response</a:t>
            </a:r>
          </a:p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Dokumentation</a:t>
            </a:r>
          </a:p>
          <a:p>
            <a:pPr>
              <a:lnSpc>
                <a:spcPct val="150000"/>
              </a:lnSpc>
            </a:pPr>
            <a:r>
              <a:rPr lang="de-DE" sz="1200" dirty="0">
                <a:solidFill>
                  <a:srgbClr val="025249"/>
                </a:solidFill>
              </a:rPr>
              <a:t>🕵️‍♂️  Netzwerkverkehr (evtl.)</a:t>
            </a:r>
          </a:p>
        </p:txBody>
      </p:sp>
    </p:spTree>
    <p:extLst>
      <p:ext uri="{BB962C8B-B14F-4D97-AF65-F5344CB8AC3E}">
        <p14:creationId xmlns:p14="http://schemas.microsoft.com/office/powerpoint/2010/main" val="4123355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42938" y="410055"/>
            <a:ext cx="8658139" cy="3477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800" b="1" dirty="0" err="1">
                <a:solidFill>
                  <a:srgbClr val="F3973B"/>
                </a:solidFill>
                <a:latin typeface="Montserrat" charset="0"/>
                <a:ea typeface="Montserrat" charset="0"/>
                <a:cs typeface="Montserrat" charset="0"/>
              </a:rPr>
              <a:t>Implementing</a:t>
            </a:r>
            <a:endParaRPr lang="de-DE" sz="8800" b="1" dirty="0">
              <a:solidFill>
                <a:srgbClr val="F3973B"/>
              </a:solidFill>
              <a:latin typeface="Montserrat" charset="0"/>
              <a:ea typeface="Montserrat" charset="0"/>
              <a:cs typeface="Montserrat" charset="0"/>
            </a:endParaRPr>
          </a:p>
          <a:p>
            <a:pPr algn="ctr"/>
            <a:endParaRPr lang="de-DE" sz="66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  <a:p>
            <a:pPr algn="ctr"/>
            <a:r>
              <a:rPr lang="de-DE" sz="6600" b="1" dirty="0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a </a:t>
            </a:r>
            <a:r>
              <a:rPr lang="de-DE" sz="6600" b="1" dirty="0" err="1">
                <a:solidFill>
                  <a:srgbClr val="5EA985"/>
                </a:solidFill>
                <a:latin typeface="Montserrat" charset="0"/>
                <a:ea typeface="Montserrat" charset="0"/>
                <a:cs typeface="Montserrat" charset="0"/>
              </a:rPr>
              <a:t>GraphQL</a:t>
            </a:r>
            <a:r>
              <a:rPr lang="de-DE" sz="6600" b="1" dirty="0">
                <a:solidFill>
                  <a:srgbClr val="5EA985"/>
                </a:solidFill>
                <a:latin typeface="Montserrat" charset="0"/>
                <a:ea typeface="Montserrat" charset="0"/>
                <a:cs typeface="Montserrat" charset="0"/>
              </a:rPr>
              <a:t> API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9691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implementation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1AE1A0-415F-DBCD-A9D7-5ABE470136F6}"/>
              </a:ext>
            </a:extLst>
          </p:cNvPr>
          <p:cNvSpPr txBox="1"/>
          <p:nvPr/>
        </p:nvSpPr>
        <p:spPr>
          <a:xfrm>
            <a:off x="375513" y="769545"/>
            <a:ext cx="8307054" cy="1731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Implementing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APIs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Usually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implement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fechting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logic</a:t>
            </a:r>
            <a:r>
              <a:rPr lang="de-DE" sz="18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yourself</a:t>
            </a: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almost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programming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languages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020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1AE1A0-415F-DBCD-A9D7-5ABE470136F6}"/>
              </a:ext>
            </a:extLst>
          </p:cNvPr>
          <p:cNvSpPr txBox="1"/>
          <p:nvPr/>
        </p:nvSpPr>
        <p:spPr>
          <a:xfrm>
            <a:off x="375513" y="769545"/>
            <a:ext cx="8307054" cy="1731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spec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outlines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how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Server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should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behave</a:t>
            </a: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Almost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work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somehow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identically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178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E141-B356-B4FD-9BA8-A51D90C4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0C327-F07A-08E7-F9B6-7D44C5D5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3760406-1EA0-12DA-B293-75B619375620}"/>
              </a:ext>
            </a:extLst>
          </p:cNvPr>
          <p:cNvSpPr txBox="1"/>
          <p:nvPr/>
        </p:nvSpPr>
        <p:spPr>
          <a:xfrm>
            <a:off x="375513" y="769545"/>
            <a:ext cx="8307054" cy="1426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processing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workflow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simplified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recieves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HTTP Request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containing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an Operation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897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5799-CA8A-181B-6FD4-C4A177A3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DFB8A-FDB2-EFA8-0B7B-84679F12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737384F-4C7A-E41C-2374-1A7BF687B352}"/>
              </a:ext>
            </a:extLst>
          </p:cNvPr>
          <p:cNvSpPr txBox="1"/>
          <p:nvPr/>
        </p:nvSpPr>
        <p:spPr>
          <a:xfrm>
            <a:off x="375513" y="769545"/>
            <a:ext cx="8307054" cy="1454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processing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workflow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simplified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recieves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HTTP Request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containing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an Operation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(Syntax and Schema)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206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0CCC5-E1FF-BB86-65A6-24DD952D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678D44-58D7-2F2E-97E7-3E98F305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735622B-815B-9117-972D-D01C4EE7C8EB}"/>
              </a:ext>
            </a:extLst>
          </p:cNvPr>
          <p:cNvSpPr txBox="1"/>
          <p:nvPr/>
        </p:nvSpPr>
        <p:spPr>
          <a:xfrm>
            <a:off x="375513" y="769545"/>
            <a:ext cx="8307054" cy="214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processing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workflow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simplified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recieves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HTTP Request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containing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an Operation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(Syntax and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operation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a Resolver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invoked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094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9629-078E-8F99-6F18-1899BE4B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08266-34BD-43CE-C48D-77E738A9E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1BB9C6-E98C-EFCF-0413-86BA7340DF1E}"/>
              </a:ext>
            </a:extLst>
          </p:cNvPr>
          <p:cNvSpPr txBox="1"/>
          <p:nvPr/>
        </p:nvSpPr>
        <p:spPr>
          <a:xfrm>
            <a:off x="375513" y="769545"/>
            <a:ext cx="8307054" cy="2506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processing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workflow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simplified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recieves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HTTP Request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containing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an Operation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(Syntax and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operation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a Resolver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invoked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Resolver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responsible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getting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Data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</a:t>
            </a:r>
            <a:endParaRPr lang="de-DE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837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9538-6882-3835-BAB9-815AF1BD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FB573-36F6-D66F-3D07-7BB1DE1F8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047D047-487E-7A61-63B5-DA741049E5A8}"/>
              </a:ext>
            </a:extLst>
          </p:cNvPr>
          <p:cNvSpPr txBox="1"/>
          <p:nvPr/>
        </p:nvSpPr>
        <p:spPr>
          <a:xfrm>
            <a:off x="375513" y="769545"/>
            <a:ext cx="8307054" cy="2867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processing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workflow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simplified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recieves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HTTP Request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containing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an Operation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(Syntax and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operation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a Resolver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invoked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Resolver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responsible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getting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Data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</a:t>
            </a:r>
            <a:endParaRPr lang="de-DE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collected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963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AC5C8-F330-42FA-5B93-B74D18E4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E56A6-06D8-1F4E-C252-0AFA67C17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962D6BB-A8FA-C7C2-BAA9-B57058BCF63F}"/>
              </a:ext>
            </a:extLst>
          </p:cNvPr>
          <p:cNvSpPr txBox="1"/>
          <p:nvPr/>
        </p:nvSpPr>
        <p:spPr>
          <a:xfrm>
            <a:off x="375513" y="769545"/>
            <a:ext cx="8307054" cy="389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processing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workflow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simplified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recieves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HTTP Request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containing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an Operation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(Syntax and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operation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a Resolver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invoked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Resolver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responsible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getting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Data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</a:t>
            </a:r>
            <a:endParaRPr lang="de-DE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collected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response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back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190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A43D-B975-F31B-FAA3-DD61F445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51F0E3-6590-6974-6CD6-3A41797D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9AD4B31-81DD-5B5D-4A44-0A55E79C07C8}"/>
              </a:ext>
            </a:extLst>
          </p:cNvPr>
          <p:cNvSpPr txBox="1"/>
          <p:nvPr/>
        </p:nvSpPr>
        <p:spPr>
          <a:xfrm>
            <a:off x="375513" y="769545"/>
            <a:ext cx="8307054" cy="4224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processing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workflow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simplified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recieves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HTTP Request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containing</a:t>
            </a:r>
            <a:r>
              <a:rPr lang="de-DE" dirty="0">
                <a:solidFill>
                  <a:srgbClr val="36544F"/>
                </a:solidFill>
                <a:latin typeface="Source Sans Pro Light" panose="020B0403030403020204" pitchFamily="34" charset="0"/>
                <a:ea typeface="Source Sans Pro" charset="0"/>
                <a:cs typeface="Source Sans Pro" charset="0"/>
              </a:rPr>
              <a:t> an Operation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Document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(Syntax and Schema)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operation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a Resolver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invoked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Resolver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responsible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getting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Data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</a:t>
            </a:r>
            <a:endParaRPr lang="de-DE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framework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validates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collected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response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back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Implementing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Resolver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Functionen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u="sng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our</a:t>
            </a:r>
            <a:r>
              <a:rPr lang="de-DE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task</a:t>
            </a:r>
            <a:endParaRPr lang="de-DE" b="1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5691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0ACE-F975-3FA3-0CB3-51A78086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8D683-5562-516C-247E-06E073D4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Resolver </a:t>
            </a:r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20AC3D0-A417-AFA6-7E37-5E68E8396F8F}"/>
              </a:ext>
            </a:extLst>
          </p:cNvPr>
          <p:cNvSpPr txBox="1"/>
          <p:nvPr/>
        </p:nvSpPr>
        <p:spPr>
          <a:xfrm>
            <a:off x="375513" y="769545"/>
            <a:ext cx="8307054" cy="173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Resolver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functions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determine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value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field</a:t>
            </a:r>
            <a:endParaRPr lang="de-DE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resolver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regular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programming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language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6089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9AE2-E7FE-7E8C-A35E-45B33088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7AA55-3094-A8BE-9115-A5F14E18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Resolver </a:t>
            </a:r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E6282DD-9140-3199-898F-F563711C8042}"/>
              </a:ext>
            </a:extLst>
          </p:cNvPr>
          <p:cNvSpPr txBox="1"/>
          <p:nvPr/>
        </p:nvSpPr>
        <p:spPr>
          <a:xfrm>
            <a:off x="375513" y="769545"/>
            <a:ext cx="8307054" cy="2733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Resolver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functions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determine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value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field</a:t>
            </a:r>
            <a:endParaRPr lang="de-DE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resolver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regular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programming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language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what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b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</a:b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     (Read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database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call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other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services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compute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807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5C5DA-7AF7-D245-DAD1-7B48213C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4B22F7-3B56-1DAD-CB38-151DA12E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Resolver </a:t>
            </a:r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12BB2B7-48C4-1EB7-4FBC-3152F2406CC4}"/>
              </a:ext>
            </a:extLst>
          </p:cNvPr>
          <p:cNvSpPr txBox="1"/>
          <p:nvPr/>
        </p:nvSpPr>
        <p:spPr>
          <a:xfrm>
            <a:off x="375513" y="769545"/>
            <a:ext cx="8307054" cy="3725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Resolver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functions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determine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value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field</a:t>
            </a:r>
            <a:endParaRPr lang="de-DE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b="1" dirty="0">
              <a:solidFill>
                <a:srgbClr val="EF7D1D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resolver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regular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programming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language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what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b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</a:b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     (Read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database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call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other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services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compute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Think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Controller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method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REST APIs</a:t>
            </a: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👉 Think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field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remote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method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invocation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159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1AE1A0-415F-DBCD-A9D7-5ABE470136F6}"/>
              </a:ext>
            </a:extLst>
          </p:cNvPr>
          <p:cNvSpPr txBox="1"/>
          <p:nvPr/>
        </p:nvSpPr>
        <p:spPr>
          <a:xfrm>
            <a:off x="375513" y="769545"/>
            <a:ext cx="8307054" cy="1731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800" b="1" dirty="0" err="1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Example</a:t>
            </a:r>
            <a:r>
              <a:rPr lang="de-DE" sz="1800" b="1" dirty="0">
                <a:solidFill>
                  <a:srgbClr val="EF7D1D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de-DE" sz="16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Java </a:t>
            </a:r>
            <a:r>
              <a:rPr lang="de-DE" sz="1600" dirty="0" err="1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600" dirty="0">
                <a:solidFill>
                  <a:srgbClr val="025249"/>
                </a:solidFill>
                <a:latin typeface="Source Sans Pro" charset="0"/>
                <a:ea typeface="Source Sans Pro" charset="0"/>
                <a:cs typeface="Source Sans Pro" charset="0"/>
              </a:rPr>
              <a:t> Spring Boot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F948DD-D29A-8EF1-555D-FB396CA43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632" y="867832"/>
            <a:ext cx="5075425" cy="387350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10E1653-2047-E5FE-FB9E-5FE81D5E7B1A}"/>
              </a:ext>
            </a:extLst>
          </p:cNvPr>
          <p:cNvSpPr txBox="1"/>
          <p:nvPr/>
        </p:nvSpPr>
        <p:spPr>
          <a:xfrm>
            <a:off x="304800" y="2380023"/>
            <a:ext cx="914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rgbClr val="9E60B8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query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{ </a:t>
            </a:r>
          </a:p>
          <a:p>
            <a:r>
              <a:rPr lang="de-DE" b="1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</a:t>
            </a:r>
            <a:r>
              <a:rPr lang="de-DE" b="1" dirty="0" err="1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story</a:t>
            </a:r>
            <a:r>
              <a:rPr lang="de-DE" b="1" dirty="0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(</a:t>
            </a:r>
            <a:r>
              <a:rPr lang="de-DE" b="1" dirty="0" err="1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storyId</a:t>
            </a:r>
            <a:r>
              <a:rPr lang="de-DE" b="1" dirty="0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: "1")</a:t>
            </a:r>
          </a:p>
          <a:p>
            <a:r>
              <a:rPr lang="de-DE" b="1" dirty="0">
                <a:solidFill>
                  <a:srgbClr val="DF605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{ </a:t>
            </a:r>
          </a:p>
          <a:p>
            <a:r>
              <a:rPr lang="de-DE" b="1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  </a:t>
            </a:r>
            <a:r>
              <a:rPr lang="de-DE" b="1" dirty="0" err="1">
                <a:solidFill>
                  <a:srgbClr val="5697D5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writtenBy</a:t>
            </a:r>
            <a:r>
              <a:rPr lang="de-DE" b="1" dirty="0">
                <a:solidFill>
                  <a:srgbClr val="5697D5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</a:t>
            </a:r>
          </a:p>
          <a:p>
            <a:r>
              <a:rPr lang="de-DE" b="1" dirty="0">
                <a:solidFill>
                  <a:srgbClr val="5697D5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  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{ </a:t>
            </a:r>
          </a:p>
          <a:p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    </a:t>
            </a:r>
            <a:r>
              <a:rPr lang="de-DE" dirty="0" err="1">
                <a:solidFill>
                  <a:srgbClr val="5EB991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name</a:t>
            </a:r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</a:t>
            </a:r>
          </a:p>
          <a:p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  } </a:t>
            </a:r>
          </a:p>
          <a:p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  } </a:t>
            </a:r>
          </a:p>
          <a:p>
            <a:r>
              <a:rPr lang="de-DE" dirty="0">
                <a:solidFill>
                  <a:srgbClr val="025249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}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BF003401-EBDF-9F2D-7645-8EEC2B563576}"/>
              </a:ext>
            </a:extLst>
          </p:cNvPr>
          <p:cNvCxnSpPr>
            <a:cxnSpLocks/>
          </p:cNvCxnSpPr>
          <p:nvPr/>
        </p:nvCxnSpPr>
        <p:spPr>
          <a:xfrm flipH="1" flipV="1">
            <a:off x="3365500" y="2832100"/>
            <a:ext cx="723900" cy="29633"/>
          </a:xfrm>
          <a:prstGeom prst="line">
            <a:avLst/>
          </a:prstGeom>
          <a:ln>
            <a:solidFill>
              <a:srgbClr val="02524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294E3E55-7C1D-FC97-AF86-0758D6DD7CEE}"/>
              </a:ext>
            </a:extLst>
          </p:cNvPr>
          <p:cNvCxnSpPr>
            <a:cxnSpLocks/>
          </p:cNvCxnSpPr>
          <p:nvPr/>
        </p:nvCxnSpPr>
        <p:spPr>
          <a:xfrm flipH="1" flipV="1">
            <a:off x="2256367" y="3399367"/>
            <a:ext cx="1833033" cy="427566"/>
          </a:xfrm>
          <a:prstGeom prst="line">
            <a:avLst/>
          </a:prstGeom>
          <a:ln>
            <a:solidFill>
              <a:srgbClr val="02524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067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CF768D8-5B85-6843-AD0A-D9DEB990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1558B7F-6CA0-A1C1-D33C-DDCA01399031}"/>
              </a:ext>
            </a:extLst>
          </p:cNvPr>
          <p:cNvSpPr/>
          <p:nvPr/>
        </p:nvSpPr>
        <p:spPr>
          <a:xfrm>
            <a:off x="3174022" y="1712339"/>
            <a:ext cx="279595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6600" b="1" dirty="0" err="1">
                <a:solidFill>
                  <a:srgbClr val="025249"/>
                </a:solidFill>
                <a:latin typeface="Montserrat" charset="0"/>
                <a:ea typeface="Montserrat" charset="0"/>
                <a:cs typeface="Montserrat" charset="0"/>
              </a:rPr>
              <a:t>about</a:t>
            </a:r>
            <a:endParaRPr lang="de-DE" sz="6600" b="1" dirty="0">
              <a:solidFill>
                <a:srgbClr val="025249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E364636-D9E1-F7F4-5636-7288EBF3B333}"/>
              </a:ext>
            </a:extLst>
          </p:cNvPr>
          <p:cNvSpPr/>
          <p:nvPr/>
        </p:nvSpPr>
        <p:spPr>
          <a:xfrm>
            <a:off x="2410944" y="208179"/>
            <a:ext cx="416973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800" b="1" dirty="0">
                <a:solidFill>
                  <a:srgbClr val="F3973B"/>
                </a:solidFill>
                <a:latin typeface="Montserrat" charset="0"/>
                <a:ea typeface="Montserrat" charset="0"/>
                <a:cs typeface="Montserrat" charset="0"/>
              </a:rPr>
              <a:t>Claims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58A85E6-6C3C-7008-A463-C90402EFFB55}"/>
              </a:ext>
            </a:extLst>
          </p:cNvPr>
          <p:cNvSpPr/>
          <p:nvPr/>
        </p:nvSpPr>
        <p:spPr>
          <a:xfrm>
            <a:off x="1051645" y="2631176"/>
            <a:ext cx="7040709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1500" b="1" dirty="0">
                <a:solidFill>
                  <a:srgbClr val="9E60B8"/>
                </a:solidFill>
                <a:latin typeface="Montserrat" charset="0"/>
                <a:ea typeface="Montserrat" charset="0"/>
                <a:cs typeface="Montserrat" charset="0"/>
              </a:rPr>
              <a:t>GraphQL</a:t>
            </a:r>
          </a:p>
        </p:txBody>
      </p:sp>
    </p:spTree>
    <p:extLst>
      <p:ext uri="{BB962C8B-B14F-4D97-AF65-F5344CB8AC3E}">
        <p14:creationId xmlns:p14="http://schemas.microsoft.com/office/powerpoint/2010/main" val="32509099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6AE1-E47F-F06D-1484-ABC0FE7AE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28F00-A835-06BE-798A-0CCF40F8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40B52C2-3AF0-003A-C1CB-9F990915959F}"/>
              </a:ext>
            </a:extLst>
          </p:cNvPr>
          <p:cNvSpPr txBox="1"/>
          <p:nvPr/>
        </p:nvSpPr>
        <p:spPr>
          <a:xfrm>
            <a:off x="339911" y="883022"/>
            <a:ext cx="8023350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APIs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are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more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complex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develop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</p:spTree>
    <p:extLst>
      <p:ext uri="{BB962C8B-B14F-4D97-AF65-F5344CB8AC3E}">
        <p14:creationId xmlns:p14="http://schemas.microsoft.com/office/powerpoint/2010/main" val="40748992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4EC3D-6361-1B86-9625-772C2394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6A818-4185-F7F0-0E03-F095BE45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EA2E7FA-5234-06AB-9D93-CC888FB3C25C}"/>
              </a:ext>
            </a:extLst>
          </p:cNvPr>
          <p:cNvSpPr txBox="1"/>
          <p:nvPr/>
        </p:nvSpPr>
        <p:spPr>
          <a:xfrm>
            <a:off x="339911" y="883022"/>
            <a:ext cx="8023350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APIs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are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more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complex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develop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441FEBC-3B39-B6AA-2999-8E62A76A2BA7}"/>
              </a:ext>
            </a:extLst>
          </p:cNvPr>
          <p:cNvSpPr txBox="1"/>
          <p:nvPr/>
        </p:nvSpPr>
        <p:spPr>
          <a:xfrm>
            <a:off x="375513" y="1635041"/>
            <a:ext cx="8637254" cy="1842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REST APIs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somehow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“simple":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Each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endpoint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returns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i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its</a:t>
            </a:r>
            <a:r>
              <a:rPr lang="de-DE" b="1" i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own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Ressource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returned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resource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already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known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at  </a:t>
            </a:r>
            <a:r>
              <a:rPr lang="de-DE" i="1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Development time</a:t>
            </a: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6196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7138D-3605-B5D2-1821-C0D2CC6C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4E648-DC16-6316-D1E0-050D30A1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BEFDDB-547B-A0EC-501B-3553BE2C0BA4}"/>
              </a:ext>
            </a:extLst>
          </p:cNvPr>
          <p:cNvSpPr txBox="1"/>
          <p:nvPr/>
        </p:nvSpPr>
        <p:spPr>
          <a:xfrm>
            <a:off x="339911" y="883022"/>
            <a:ext cx="8023350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APIs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are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more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complex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develop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9EC6D0B-7E33-A600-4CB6-E4DC37385DB2}"/>
              </a:ext>
            </a:extLst>
          </p:cNvPr>
          <p:cNvSpPr txBox="1"/>
          <p:nvPr/>
        </p:nvSpPr>
        <p:spPr>
          <a:xfrm>
            <a:off x="375513" y="1635041"/>
            <a:ext cx="8637254" cy="292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REST APIs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somehow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“simple":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Each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endpoint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returns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i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its</a:t>
            </a:r>
            <a:r>
              <a:rPr lang="de-DE" b="1" i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own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Ressource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returned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resource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already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known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at  </a:t>
            </a:r>
            <a:r>
              <a:rPr lang="de-DE" i="1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Development time</a:t>
            </a: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GraphQL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kann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return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multiple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objects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What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needs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be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returned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only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known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at </a:t>
            </a:r>
            <a:r>
              <a:rPr lang="de-DE" i="1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Runtime</a:t>
            </a: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</a:endParaRP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8871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DB55A-915D-4A0E-BD39-B605954E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C1622-B3A8-0DC7-352F-C835F516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64AC0EA-7A3A-5E9D-3BED-E515A4EEFB5D}"/>
              </a:ext>
            </a:extLst>
          </p:cNvPr>
          <p:cNvSpPr txBox="1"/>
          <p:nvPr/>
        </p:nvSpPr>
        <p:spPr>
          <a:xfrm>
            <a:off x="339911" y="883022"/>
            <a:ext cx="8023350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APIs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are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more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complex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develop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065804A-B5E0-66A4-1E2B-C7C1169EB854}"/>
              </a:ext>
            </a:extLst>
          </p:cNvPr>
          <p:cNvSpPr txBox="1"/>
          <p:nvPr/>
        </p:nvSpPr>
        <p:spPr>
          <a:xfrm>
            <a:off x="375513" y="1635041"/>
            <a:ext cx="8637254" cy="3282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REST APIs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somehow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“simple":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Each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endpoint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returns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i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its</a:t>
            </a:r>
            <a:r>
              <a:rPr lang="de-DE" b="1" i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own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Ressource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returned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resource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already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known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at  </a:t>
            </a:r>
            <a:r>
              <a:rPr lang="de-DE" i="1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Development time</a:t>
            </a: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GraphQL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kann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return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multiple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objects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What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needs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be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returned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only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known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at </a:t>
            </a:r>
            <a:r>
              <a:rPr lang="de-DE" i="1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Runtime</a:t>
            </a: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panose="020B0503030403020204" pitchFamily="34" charset="0"/>
              <a:ea typeface="Source Code Pro Medium" panose="020B0309030403020204" pitchFamily="34" charset="0"/>
            </a:endParaRPr>
          </a:p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👉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Optimizations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(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performance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example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)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are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more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complicated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panose="020B0503030403020204" pitchFamily="34" charset="0"/>
                <a:ea typeface="Source Code Pro Medium" panose="020B0309030403020204" pitchFamily="34" charset="0"/>
              </a:rPr>
              <a:t> in REST APIs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31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8023350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APIs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are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more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complex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develop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599154" cy="2839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Complexity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developlemnt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depends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on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various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criterias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Size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complexity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domain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!)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Number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type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datasources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Complexity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structure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input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fit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less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Legacy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?</a:t>
            </a:r>
          </a:p>
          <a:p>
            <a:pPr>
              <a:lnSpc>
                <a:spcPct val="120000"/>
              </a:lnSpc>
            </a:pPr>
            <a:endParaRPr lang="de-DE" sz="1800" dirty="0">
              <a:solidFill>
                <a:srgbClr val="36544F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086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7C9A-1BE1-460F-E5C3-0C64FA24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F41FF-77FD-060F-2828-929F5EE2B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57E1907-4B72-52E2-2EDB-D3A9C3AA8683}"/>
              </a:ext>
            </a:extLst>
          </p:cNvPr>
          <p:cNvSpPr txBox="1"/>
          <p:nvPr/>
        </p:nvSpPr>
        <p:spPr>
          <a:xfrm>
            <a:off x="339911" y="883022"/>
            <a:ext cx="8023350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APIs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are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more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complex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develop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20A8B21-376F-5291-0AC6-08D998ED5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99" y="2122602"/>
            <a:ext cx="7721446" cy="2565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6AC2B54-1E7C-0202-048D-566693216D7C}"/>
              </a:ext>
            </a:extLst>
          </p:cNvPr>
          <p:cNvSpPr txBox="1"/>
          <p:nvPr/>
        </p:nvSpPr>
        <p:spPr>
          <a:xfrm>
            <a:off x="4818131" y="4714484"/>
            <a:ext cx="3413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100" dirty="0">
                <a:solidFill>
                  <a:srgbClr val="41719C"/>
                </a:solidFill>
                <a:effectLst/>
              </a:rPr>
              <a:t>https://</a:t>
            </a:r>
            <a:r>
              <a:rPr lang="de-DE" sz="1100" dirty="0" err="1">
                <a:solidFill>
                  <a:srgbClr val="41719C"/>
                </a:solidFill>
                <a:effectLst/>
              </a:rPr>
              <a:t>x.com</a:t>
            </a:r>
            <a:r>
              <a:rPr lang="de-DE" sz="1100" dirty="0">
                <a:solidFill>
                  <a:srgbClr val="41719C"/>
                </a:solidFill>
                <a:effectLst/>
              </a:rPr>
              <a:t>/</a:t>
            </a:r>
            <a:r>
              <a:rPr lang="de-DE" sz="1100" dirty="0" err="1">
                <a:solidFill>
                  <a:srgbClr val="41719C"/>
                </a:solidFill>
                <a:effectLst/>
              </a:rPr>
              <a:t>Cal_Irvine</a:t>
            </a:r>
            <a:r>
              <a:rPr lang="de-DE" sz="1100" dirty="0">
                <a:solidFill>
                  <a:srgbClr val="41719C"/>
                </a:solidFill>
                <a:effectLst/>
              </a:rPr>
              <a:t>/</a:t>
            </a:r>
            <a:r>
              <a:rPr lang="de-DE" sz="1100" dirty="0" err="1">
                <a:solidFill>
                  <a:srgbClr val="41719C"/>
                </a:solidFill>
                <a:effectLst/>
              </a:rPr>
              <a:t>status</a:t>
            </a:r>
            <a:r>
              <a:rPr lang="de-DE" sz="1100" dirty="0">
                <a:solidFill>
                  <a:srgbClr val="41719C"/>
                </a:solidFill>
                <a:effectLst/>
              </a:rPr>
              <a:t>/1768044262124323175</a:t>
            </a:r>
            <a:endParaRPr lang="de-DE" sz="1100" dirty="0">
              <a:solidFill>
                <a:srgbClr val="41719C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D94498D-1B5F-B7F0-AB96-4F5AAC8B2B0C}"/>
              </a:ext>
            </a:extLst>
          </p:cNvPr>
          <p:cNvSpPr txBox="1"/>
          <p:nvPr/>
        </p:nvSpPr>
        <p:spPr>
          <a:xfrm>
            <a:off x="375513" y="1635041"/>
            <a:ext cx="4258480" cy="42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F3973B"/>
                </a:solidFill>
                <a:latin typeface="Source Sans Pro" charset="0"/>
                <a:ea typeface="Source Sans Pro" charset="0"/>
                <a:cs typeface="Source Sans Pro" charset="0"/>
              </a:rPr>
              <a:t>Summary</a:t>
            </a:r>
            <a:endParaRPr lang="de-DE" sz="1800" dirty="0">
              <a:solidFill>
                <a:srgbClr val="F3973B"/>
              </a:solidFill>
              <a:latin typeface="Source Code Pro" panose="020B0509030403020204" pitchFamily="49" charset="0"/>
              <a:ea typeface="Source Code Pro" panose="020B0509030403020204" pitchFamily="49" charset="0"/>
              <a:cs typeface="Source Sans Pro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45789BBB-B415-02E5-5DAB-3747753460AC}"/>
                  </a:ext>
                </a:extLst>
              </p14:cNvPr>
              <p14:cNvContentPartPr/>
              <p14:nvPr/>
            </p14:nvContentPartPr>
            <p14:xfrm>
              <a:off x="6316871" y="2978467"/>
              <a:ext cx="1222200" cy="7344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45789BBB-B415-02E5-5DAB-3747753460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2871" y="2870827"/>
                <a:ext cx="13298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911CEBFC-E0BC-6A28-84FC-468CAD942DA3}"/>
                  </a:ext>
                </a:extLst>
              </p14:cNvPr>
              <p14:cNvContentPartPr/>
              <p14:nvPr/>
            </p14:nvContentPartPr>
            <p14:xfrm>
              <a:off x="655511" y="3328747"/>
              <a:ext cx="6873120" cy="10656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911CEBFC-E0BC-6A28-84FC-468CAD942D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511" y="3220747"/>
                <a:ext cx="69807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3DE7A170-750D-BCDA-ABE1-95B43584960A}"/>
                  </a:ext>
                </a:extLst>
              </p14:cNvPr>
              <p14:cNvContentPartPr/>
              <p14:nvPr/>
            </p14:nvContentPartPr>
            <p14:xfrm>
              <a:off x="651191" y="3693427"/>
              <a:ext cx="392400" cy="4536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3DE7A170-750D-BCDA-ABE1-95B4358496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7551" y="3585787"/>
                <a:ext cx="500040" cy="26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34592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F00F6-790F-A05B-27F8-5D7617537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A10C68-7541-D108-E2C3-59FCF069C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CF43D30-5B6B-C1B6-A1BA-9E3590F7634A}"/>
              </a:ext>
            </a:extLst>
          </p:cNvPr>
          <p:cNvSpPr txBox="1"/>
          <p:nvPr/>
        </p:nvSpPr>
        <p:spPr>
          <a:xfrm>
            <a:off x="339911" y="883022"/>
            <a:ext cx="518456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SQL, but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9762E04-BF09-2A2B-C2DD-66487C18A92D}"/>
              </a:ext>
            </a:extLst>
          </p:cNvPr>
          <p:cNvSpPr txBox="1"/>
          <p:nvPr/>
        </p:nvSpPr>
        <p:spPr>
          <a:xfrm>
            <a:off x="375513" y="1635041"/>
            <a:ext cx="8307054" cy="87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That‘s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440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89807-5134-A8FC-4570-44990D84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589490-B30C-3959-A944-71942139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E67CB20-205D-D52A-B76D-556D14C44A9E}"/>
              </a:ext>
            </a:extLst>
          </p:cNvPr>
          <p:cNvSpPr txBox="1"/>
          <p:nvPr/>
        </p:nvSpPr>
        <p:spPr>
          <a:xfrm>
            <a:off x="339911" y="883022"/>
            <a:ext cx="518456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>
                <a:solidFill>
                  <a:srgbClr val="36544F"/>
                </a:solidFill>
                <a:latin typeface="Candara" panose="020E0502030303020204" pitchFamily="34" charset="0"/>
              </a:rPr>
              <a:t> SQL, but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F430232-3D26-D37F-2646-EF0026614F19}"/>
              </a:ext>
            </a:extLst>
          </p:cNvPr>
          <p:cNvSpPr txBox="1"/>
          <p:nvPr/>
        </p:nvSpPr>
        <p:spPr>
          <a:xfrm>
            <a:off x="375513" y="1635041"/>
            <a:ext cx="8307054" cy="171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That‘s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SQL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way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powerful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language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ORDER BY, LIMIT, JOIN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generic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4104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8E39F-A629-AB75-EDE2-A5417864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3AABDB-C866-638F-0206-91A6CF1E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18384ED-85D4-6B27-9435-B91CE3D944E5}"/>
              </a:ext>
            </a:extLst>
          </p:cNvPr>
          <p:cNvSpPr txBox="1"/>
          <p:nvPr/>
        </p:nvSpPr>
        <p:spPr>
          <a:xfrm>
            <a:off x="339911" y="883022"/>
            <a:ext cx="518456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>
                <a:solidFill>
                  <a:srgbClr val="36544F"/>
                </a:solidFill>
                <a:latin typeface="Candara" panose="020E0502030303020204" pitchFamily="34" charset="0"/>
              </a:rPr>
              <a:t> SQL, but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FD7733C-4067-2B6E-5A83-42A979CA64E4}"/>
              </a:ext>
            </a:extLst>
          </p:cNvPr>
          <p:cNvSpPr txBox="1"/>
          <p:nvPr/>
        </p:nvSpPr>
        <p:spPr>
          <a:xfrm>
            <a:off x="375513" y="1635041"/>
            <a:ext cx="8307054" cy="2541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That‘s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SQL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way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powerful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language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ORDER BY, LIMIT, JOIN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generic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return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whole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databases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back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must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contained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database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7331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47E3-605E-D037-98A5-4790483E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2639B-BD8D-CFF5-C565-31E39DCA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E7129F9-2DDF-B987-F730-23230547CF26}"/>
              </a:ext>
            </a:extLst>
          </p:cNvPr>
          <p:cNvSpPr txBox="1"/>
          <p:nvPr/>
        </p:nvSpPr>
        <p:spPr>
          <a:xfrm>
            <a:off x="339911" y="883022"/>
            <a:ext cx="518456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>
                <a:solidFill>
                  <a:srgbClr val="36544F"/>
                </a:solidFill>
                <a:latin typeface="Candara" panose="020E0502030303020204" pitchFamily="34" charset="0"/>
              </a:rPr>
              <a:t> SQL, but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Frontend"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51233F4-BBCF-BB6A-3C8B-7CCDFC4DAAAF}"/>
              </a:ext>
            </a:extLst>
          </p:cNvPr>
          <p:cNvSpPr txBox="1"/>
          <p:nvPr/>
        </p:nvSpPr>
        <p:spPr>
          <a:xfrm>
            <a:off x="375513" y="1635041"/>
            <a:ext cx="8307054" cy="2957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That‘s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SQL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way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powerful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language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ORDER BY, LIMIT, JOIN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do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generic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queries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return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whole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databases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back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must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contained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database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structure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determined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resolver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functions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2310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0397C-F715-5EC7-24E1-8D18E826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0A982-2299-065A-4E95-7F638797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748FB28-1E63-A013-946F-B03DE6F9DB91}"/>
              </a:ext>
            </a:extLst>
          </p:cNvPr>
          <p:cNvSpPr txBox="1"/>
          <p:nvPr/>
        </p:nvSpPr>
        <p:spPr>
          <a:xfrm>
            <a:off x="339911" y="883022"/>
            <a:ext cx="7710893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lazy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people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that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not like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design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D39DA43-137E-6459-26B9-C26829A5B057}"/>
              </a:ext>
            </a:extLst>
          </p:cNvPr>
          <p:cNvSpPr txBox="1"/>
          <p:nvPr/>
        </p:nvSpPr>
        <p:spPr>
          <a:xfrm>
            <a:off x="375513" y="1635041"/>
            <a:ext cx="8307054" cy="42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0701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D6DAF-10D5-61D7-C2DF-73B4587F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B06362-DDD6-F634-812B-3AC70459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5F787B3-F71B-F106-E616-F6B1FAC48A20}"/>
              </a:ext>
            </a:extLst>
          </p:cNvPr>
          <p:cNvSpPr txBox="1"/>
          <p:nvPr/>
        </p:nvSpPr>
        <p:spPr>
          <a:xfrm>
            <a:off x="339911" y="883022"/>
            <a:ext cx="7710893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lazy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people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that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not like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design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2E6105E-AD67-3255-C341-0EED4DE73962}"/>
              </a:ext>
            </a:extLst>
          </p:cNvPr>
          <p:cNvSpPr txBox="1"/>
          <p:nvPr/>
        </p:nvSpPr>
        <p:spPr>
          <a:xfrm>
            <a:off x="375513" y="1635041"/>
            <a:ext cx="8307054" cy="82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Suggests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that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exposed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unstructured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0056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C83D2-DD04-38B7-3D50-22FCF5DB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53918E-A0DD-7D1E-F0B1-9E33CE84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FA5DD96-0904-F596-89C4-71AB324AB304}"/>
              </a:ext>
            </a:extLst>
          </p:cNvPr>
          <p:cNvSpPr txBox="1"/>
          <p:nvPr/>
        </p:nvSpPr>
        <p:spPr>
          <a:xfrm>
            <a:off x="339911" y="883022"/>
            <a:ext cx="7710893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lazy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people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that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not like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design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EAC55F1-B5D0-CBE6-9C59-E25F9E238C10}"/>
              </a:ext>
            </a:extLst>
          </p:cNvPr>
          <p:cNvSpPr txBox="1"/>
          <p:nvPr/>
        </p:nvSpPr>
        <p:spPr>
          <a:xfrm>
            <a:off x="375513" y="1635041"/>
            <a:ext cx="8307054" cy="1393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Suggests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that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exposed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unstructured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But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design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important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other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technologies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8782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94557-EB67-7B40-18CD-D76074EA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DFF47D-85F8-092C-FF97-BEF451A5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41AD2B6-B00C-00B0-4A70-0D647FAE4B75}"/>
              </a:ext>
            </a:extLst>
          </p:cNvPr>
          <p:cNvSpPr txBox="1"/>
          <p:nvPr/>
        </p:nvSpPr>
        <p:spPr>
          <a:xfrm>
            <a:off x="339911" y="883022"/>
            <a:ext cx="7710893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lazy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people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that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not like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design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183CA09-8B33-8054-B915-ED5E7F9007CE}"/>
              </a:ext>
            </a:extLst>
          </p:cNvPr>
          <p:cNvSpPr txBox="1"/>
          <p:nvPr/>
        </p:nvSpPr>
        <p:spPr>
          <a:xfrm>
            <a:off x="375513" y="1635041"/>
            <a:ext cx="8307054" cy="1962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Suggests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that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exposed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unstructured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But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design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important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other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technologies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API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looks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like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bad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up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365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50B7-614D-303A-45EF-3F069E48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65D6F-C516-E32E-8178-E037E6F5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6AEFF6D-43CD-4E1E-DAEE-439FDBCA2F5F}"/>
              </a:ext>
            </a:extLst>
          </p:cNvPr>
          <p:cNvSpPr txBox="1"/>
          <p:nvPr/>
        </p:nvSpPr>
        <p:spPr>
          <a:xfrm>
            <a:off x="339911" y="883022"/>
            <a:ext cx="7710893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for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lazy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people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that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not like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design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5D8F6D-48DD-2A1D-F326-AD54174867EA}"/>
              </a:ext>
            </a:extLst>
          </p:cNvPr>
          <p:cNvSpPr txBox="1"/>
          <p:nvPr/>
        </p:nvSpPr>
        <p:spPr>
          <a:xfrm>
            <a:off x="375513" y="1635041"/>
            <a:ext cx="8307054" cy="253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wrong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Suggests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that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exposed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unstructured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But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design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important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other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technologies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our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API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looks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like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bad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up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take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care…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not…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technologies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57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5025735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“Caching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impossible"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307054" cy="7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That‘s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…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difficult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Claim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normally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refers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HTTP</a:t>
            </a:r>
          </a:p>
        </p:txBody>
      </p:sp>
    </p:spTree>
    <p:extLst>
      <p:ext uri="{BB962C8B-B14F-4D97-AF65-F5344CB8AC3E}">
        <p14:creationId xmlns:p14="http://schemas.microsoft.com/office/powerpoint/2010/main" val="3057684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5025735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“Caching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impossible"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9877DA-3411-3F0B-DD27-0F6463631CD2}"/>
              </a:ext>
            </a:extLst>
          </p:cNvPr>
          <p:cNvSpPr txBox="1"/>
          <p:nvPr/>
        </p:nvSpPr>
        <p:spPr>
          <a:xfrm>
            <a:off x="375513" y="1635041"/>
            <a:ext cx="8307054" cy="161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Problems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with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caching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#1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HTTP Post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cacheable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spec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HTTP“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describes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GET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method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251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EEBE-A441-EA76-839D-EFFD74FF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9FD7D-19E1-2797-28DD-F15E357F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9B55E08-28A8-0A8F-C324-47CE908A37CE}"/>
              </a:ext>
            </a:extLst>
          </p:cNvPr>
          <p:cNvSpPr txBox="1"/>
          <p:nvPr/>
        </p:nvSpPr>
        <p:spPr>
          <a:xfrm>
            <a:off x="339911" y="883022"/>
            <a:ext cx="5025735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“Caching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impossible"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A29989-3818-3AF4-56E8-B3E21956F735}"/>
              </a:ext>
            </a:extLst>
          </p:cNvPr>
          <p:cNvSpPr txBox="1"/>
          <p:nvPr/>
        </p:nvSpPr>
        <p:spPr>
          <a:xfrm>
            <a:off x="375513" y="1635041"/>
            <a:ext cx="8307054" cy="127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Problems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with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Caching #2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multiple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objects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shorted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time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must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56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DAFC6-A108-5FF7-F600-B94FCDFB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7E9A9E-2E08-7954-2574-120DBA2F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61D3E52-DD2B-9059-777E-400370D57F39}"/>
              </a:ext>
            </a:extLst>
          </p:cNvPr>
          <p:cNvSpPr txBox="1"/>
          <p:nvPr/>
        </p:nvSpPr>
        <p:spPr>
          <a:xfrm>
            <a:off x="339911" y="883022"/>
            <a:ext cx="5025735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“Caching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impossible"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B405C9B-1DA7-AF09-8569-D31019DE8A2E}"/>
              </a:ext>
            </a:extLst>
          </p:cNvPr>
          <p:cNvSpPr txBox="1"/>
          <p:nvPr/>
        </p:nvSpPr>
        <p:spPr>
          <a:xfrm>
            <a:off x="375513" y="1635041"/>
            <a:ext cx="8307054" cy="275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Problems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with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Caching #2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multiple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objects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shorted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time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must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Example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: Story and User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probably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less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"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stable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",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candidate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caching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Story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probably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cause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things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change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 (Likes,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corrections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…)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0286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01A2C-A334-F659-7237-2E8F10DA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0ECC3-780D-C112-CA45-6FD311121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0D98D08-65AF-94CB-7C50-962DFCEB5C09}"/>
              </a:ext>
            </a:extLst>
          </p:cNvPr>
          <p:cNvSpPr txBox="1"/>
          <p:nvPr/>
        </p:nvSpPr>
        <p:spPr>
          <a:xfrm>
            <a:off x="339911" y="883022"/>
            <a:ext cx="5025735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“Caching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impossible"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93E4585-0552-A6AC-7933-28CF929ED5E2}"/>
              </a:ext>
            </a:extLst>
          </p:cNvPr>
          <p:cNvSpPr txBox="1"/>
          <p:nvPr/>
        </p:nvSpPr>
        <p:spPr>
          <a:xfrm>
            <a:off x="375513" y="1635041"/>
            <a:ext cx="8307054" cy="324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Problems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with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Caching #2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multiple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objects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shorted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time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must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Example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: Story and User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User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probably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less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"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stable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",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candidate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caching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Story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probably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cause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things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change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 (Likes,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corrections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…)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 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Sans Pro" charset="0"/>
                <a:cs typeface="Source Sans Pro" charset="0"/>
              </a:rPr>
              <a:t>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each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Resource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individually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389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4DB02-B65D-0860-CA98-2BEA8083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DBE3B-8DC4-F37B-340C-BE7741EE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DC7B47E-D605-78C2-60F6-228BCAAF3CFF}"/>
              </a:ext>
            </a:extLst>
          </p:cNvPr>
          <p:cNvSpPr txBox="1"/>
          <p:nvPr/>
        </p:nvSpPr>
        <p:spPr>
          <a:xfrm>
            <a:off x="339911" y="883022"/>
            <a:ext cx="706315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saves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data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(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traffic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)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compared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82B981B-DA70-E6E9-9C2D-807E6299B36F}"/>
              </a:ext>
            </a:extLst>
          </p:cNvPr>
          <p:cNvSpPr txBox="1"/>
          <p:nvPr/>
        </p:nvSpPr>
        <p:spPr>
          <a:xfrm>
            <a:off x="375513" y="1635041"/>
            <a:ext cx="8307054" cy="1361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Only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partly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Correct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: network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thus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latency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better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one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fit‘s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-all-Query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7394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D97BD-5F2B-85B9-9E18-92206704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D62DE7-79CD-A0B1-085F-C0C2214F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5D15CBA-824C-8466-8B29-971DB2192655}"/>
              </a:ext>
            </a:extLst>
          </p:cNvPr>
          <p:cNvSpPr txBox="1"/>
          <p:nvPr/>
        </p:nvSpPr>
        <p:spPr>
          <a:xfrm>
            <a:off x="339911" y="883022"/>
            <a:ext cx="706315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saves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data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(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traffic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)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compared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3814F1-3556-B3AC-81E5-238AB5F25DF5}"/>
              </a:ext>
            </a:extLst>
          </p:cNvPr>
          <p:cNvSpPr txBox="1"/>
          <p:nvPr/>
        </p:nvSpPr>
        <p:spPr>
          <a:xfrm>
            <a:off x="375513" y="1635041"/>
            <a:ext cx="8307054" cy="306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Only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partly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Correct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: network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thus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latency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better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one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fit‘s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-all-Query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But: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will not de-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duplicated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normalized</a:t>
            </a:r>
            <a:endParaRPr lang="de-DE" sz="16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X Stories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same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publisher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returns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X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publishers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even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when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they‘re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them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same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some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stories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efficent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REST API but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does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endParaRPr lang="de-DE" sz="16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391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45C05-2ADC-FD25-087D-8D52F14A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34D726-DD1C-D35B-E54C-44025FDC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8FA7660-C8A2-3D9A-BE71-F14B26F0CD86}"/>
              </a:ext>
            </a:extLst>
          </p:cNvPr>
          <p:cNvSpPr txBox="1"/>
          <p:nvPr/>
        </p:nvSpPr>
        <p:spPr>
          <a:xfrm>
            <a:off x="339911" y="883022"/>
            <a:ext cx="706315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saves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data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(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traffic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)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compared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to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 APIs"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6FD8DF-5105-F4ED-24C8-D987B707BA4E}"/>
              </a:ext>
            </a:extLst>
          </p:cNvPr>
          <p:cNvSpPr txBox="1"/>
          <p:nvPr/>
        </p:nvSpPr>
        <p:spPr>
          <a:xfrm>
            <a:off x="375513" y="1635041"/>
            <a:ext cx="8307054" cy="356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Only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partly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Correct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: network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thus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latency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better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one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fit‘s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-all-Query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But: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will not de-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duplicated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normalized</a:t>
            </a:r>
            <a:endParaRPr lang="de-DE" sz="16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X Stories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same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publisher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returns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X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publishers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even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when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they‘re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them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same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some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stories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efficent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REST API but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does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endParaRPr lang="de-DE" sz="1600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An "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unmodified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response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REST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does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not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return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any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sz="160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sz="160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at all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244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FFFF-9D92-EE5A-9D5F-45DB0256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B92AFE-F616-1BBF-A5EB-D66A670A1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862E48-18F4-CC15-A2C2-F4051B06536A}"/>
              </a:ext>
            </a:extLst>
          </p:cNvPr>
          <p:cNvSpPr txBox="1"/>
          <p:nvPr/>
        </p:nvSpPr>
        <p:spPr>
          <a:xfrm>
            <a:off x="339911" y="883022"/>
            <a:ext cx="42893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can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same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1A59506-3B7D-114F-AAB0-843F5C1555DB}"/>
              </a:ext>
            </a:extLst>
          </p:cNvPr>
          <p:cNvSpPr txBox="1"/>
          <p:nvPr/>
        </p:nvSpPr>
        <p:spPr>
          <a:xfrm>
            <a:off x="375513" y="1635041"/>
            <a:ext cx="8307054" cy="7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Offen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9690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FDA62-A09C-D10A-5A04-8E8714B9B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70BBED-0D95-82B3-4C30-C3AEBE0C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94FB43B-D11C-AD52-8C2B-4D53C81D6315}"/>
              </a:ext>
            </a:extLst>
          </p:cNvPr>
          <p:cNvSpPr txBox="1"/>
          <p:nvPr/>
        </p:nvSpPr>
        <p:spPr>
          <a:xfrm>
            <a:off x="339911" y="883022"/>
            <a:ext cx="42893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can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same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7627449-BFE3-BCCC-F9DF-79C7429F1FA3}"/>
              </a:ext>
            </a:extLst>
          </p:cNvPr>
          <p:cNvSpPr txBox="1"/>
          <p:nvPr/>
        </p:nvSpPr>
        <p:spPr>
          <a:xfrm>
            <a:off x="375513" y="1635041"/>
            <a:ext cx="8307054" cy="119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Offen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search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params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possible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limit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attributes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resource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4574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BF5E-629D-694D-83ED-A2B39437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CFC03A-BA75-63CC-2764-C811CBAA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07BC8C-BC32-5629-92AE-2846D95234CA}"/>
              </a:ext>
            </a:extLst>
          </p:cNvPr>
          <p:cNvSpPr txBox="1"/>
          <p:nvPr/>
        </p:nvSpPr>
        <p:spPr>
          <a:xfrm>
            <a:off x="339911" y="883022"/>
            <a:ext cx="42893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can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same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71153F9-E2CB-0401-C92D-C34895B7D940}"/>
              </a:ext>
            </a:extLst>
          </p:cNvPr>
          <p:cNvSpPr txBox="1"/>
          <p:nvPr/>
        </p:nvSpPr>
        <p:spPr>
          <a:xfrm>
            <a:off x="375513" y="1635041"/>
            <a:ext cx="8307054" cy="161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Offen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search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params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possible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limit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attributes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resource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defined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OpenAPI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/Swagger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1623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29A9-5CBE-6C69-B340-B6F62522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DA439-14F2-37FC-9349-3290CB6A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A4A4C99-0EAA-92C8-9248-17DEB616A985}"/>
              </a:ext>
            </a:extLst>
          </p:cNvPr>
          <p:cNvSpPr txBox="1"/>
          <p:nvPr/>
        </p:nvSpPr>
        <p:spPr>
          <a:xfrm>
            <a:off x="339911" y="883022"/>
            <a:ext cx="42893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can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same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6F7C17B-22EF-DAD5-7B77-CE3D85B54D59}"/>
              </a:ext>
            </a:extLst>
          </p:cNvPr>
          <p:cNvSpPr txBox="1"/>
          <p:nvPr/>
        </p:nvSpPr>
        <p:spPr>
          <a:xfrm>
            <a:off x="375513" y="1635041"/>
            <a:ext cx="8307054" cy="2029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Offen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search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params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possible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limit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attributes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resource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defined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OpenAPI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/Swagger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it‘s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possible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return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„sub-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273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F4B9-0BEE-294B-A9E8-7EDD68EC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E8AB6-2A19-C8CC-2BBC-2CB6CA4D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552E593-B2F7-3897-CE5D-BA07C6500315}"/>
              </a:ext>
            </a:extLst>
          </p:cNvPr>
          <p:cNvSpPr txBox="1"/>
          <p:nvPr/>
        </p:nvSpPr>
        <p:spPr>
          <a:xfrm>
            <a:off x="339911" y="883022"/>
            <a:ext cx="42893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can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same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25435F8-DF2C-0ACE-F552-68423C95A099}"/>
              </a:ext>
            </a:extLst>
          </p:cNvPr>
          <p:cNvSpPr txBox="1"/>
          <p:nvPr/>
        </p:nvSpPr>
        <p:spPr>
          <a:xfrm>
            <a:off x="375513" y="1635041"/>
            <a:ext cx="8307054" cy="286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Offen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search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params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possible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limit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attributes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resource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defined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OpenAPI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/Swagger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it‘s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possible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return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„sub-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HATEOS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guide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related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resource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4389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68B1-E775-0263-632C-67D15B2D3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11822C-6087-BC4D-1886-88329F7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86152E4-A13C-A6F0-301E-56F0FF6C7153}"/>
              </a:ext>
            </a:extLst>
          </p:cNvPr>
          <p:cNvSpPr txBox="1"/>
          <p:nvPr/>
        </p:nvSpPr>
        <p:spPr>
          <a:xfrm>
            <a:off x="339911" y="883022"/>
            <a:ext cx="428937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can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do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same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with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REST..."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9C52AD5-B323-2F85-56F7-F25C9D0011AB}"/>
              </a:ext>
            </a:extLst>
          </p:cNvPr>
          <p:cNvSpPr txBox="1"/>
          <p:nvPr/>
        </p:nvSpPr>
        <p:spPr>
          <a:xfrm>
            <a:off x="375513" y="1635041"/>
            <a:ext cx="8307054" cy="369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Offen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correct</a:t>
            </a:r>
            <a:endParaRPr lang="de-DE" b="1" dirty="0">
              <a:solidFill>
                <a:srgbClr val="36544F"/>
              </a:solidFill>
              <a:latin typeface="Source Sans Pro SemiBold" panose="020B0503030403020204" pitchFamily="34" charset="0"/>
              <a:ea typeface="Source Code Pro Medium" panose="020B0309030403020204" pitchFamily="34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search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params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possible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limit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requested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attributes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resource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defined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OpenAPI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/Swagger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it‘s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possible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return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„sub-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objects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With HATEOS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server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guide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client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related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resource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But: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all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that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built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into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GraphQL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get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everything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from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one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hand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350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9662F-BDA5-9B56-E62F-7FAC1386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F08E9-4B20-44EC-F544-8D7439C8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9F6DF2F-CED7-1460-5133-95AE06420523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301E72E-CF20-924D-F39D-0BA15FCAF4B7}"/>
              </a:ext>
            </a:extLst>
          </p:cNvPr>
          <p:cNvSpPr txBox="1"/>
          <p:nvPr/>
        </p:nvSpPr>
        <p:spPr>
          <a:xfrm>
            <a:off x="375513" y="1635041"/>
            <a:ext cx="8307054" cy="119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good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6850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38E1-C239-011D-D7E8-6AEC56D4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93BB30-72BE-8AB0-66F3-77B8CEC3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210773A-6188-309A-42CD-BB08C54AA4A8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219FC5B-F1C2-BF8E-7ED9-28F83A0357EC}"/>
              </a:ext>
            </a:extLst>
          </p:cNvPr>
          <p:cNvSpPr txBox="1"/>
          <p:nvPr/>
        </p:nvSpPr>
        <p:spPr>
          <a:xfrm>
            <a:off x="375513" y="1635041"/>
            <a:ext cx="8307054" cy="161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good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overhyped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opinion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1189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21E9-928A-4D81-5DF6-8178B013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1DB219-A535-9052-8165-52AE77CF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B2E1D94-8A56-2986-D7C9-9364E4BB5FBF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8102E9A-54B9-4185-6239-472A72F9C193}"/>
              </a:ext>
            </a:extLst>
          </p:cNvPr>
          <p:cNvSpPr txBox="1"/>
          <p:nvPr/>
        </p:nvSpPr>
        <p:spPr>
          <a:xfrm>
            <a:off x="375513" y="1635041"/>
            <a:ext cx="8307054" cy="2029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good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overhyped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opinion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Esp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.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frontends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often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various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forms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1360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FD015-2329-81A5-1474-2AEF20FF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5E758-F088-46FE-20D0-5FD95775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22DF900-64EF-28E5-F617-6A533A522438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AC126D4-DFF9-2E4B-6E19-2171EFE9F30E}"/>
              </a:ext>
            </a:extLst>
          </p:cNvPr>
          <p:cNvSpPr txBox="1"/>
          <p:nvPr/>
        </p:nvSpPr>
        <p:spPr>
          <a:xfrm>
            <a:off x="375513" y="1635041"/>
            <a:ext cx="8307054" cy="244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good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overhyped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opinion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Esp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.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frontends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often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various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forms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evolution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allows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steady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improvements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417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F969-EDE8-B4AA-039C-A7EE054F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BE3D1-921F-B1C6-9495-BE7D9390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8FA6CC-4716-2363-CF12-DCAD3F254070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479999-8AB5-D06F-7828-61264F1020B6}"/>
              </a:ext>
            </a:extLst>
          </p:cNvPr>
          <p:cNvSpPr txBox="1"/>
          <p:nvPr/>
        </p:nvSpPr>
        <p:spPr>
          <a:xfrm>
            <a:off x="375513" y="1635041"/>
            <a:ext cx="8307054" cy="286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good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overhyped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opinion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Esp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.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frontends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often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various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forms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evolution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allows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steady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improvements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Tools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typesafety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very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developer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experience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349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5C8F-BA74-E943-7109-ED0B8FBB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E440F-0E6A-7931-392C-F319D589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F194746-CA77-B22C-C9A2-F0ABF26B5EC7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D8A308-1D33-521A-5C09-00B481B24E27}"/>
              </a:ext>
            </a:extLst>
          </p:cNvPr>
          <p:cNvSpPr txBox="1"/>
          <p:nvPr/>
        </p:nvSpPr>
        <p:spPr>
          <a:xfrm>
            <a:off x="375513" y="1635041"/>
            <a:ext cx="8307054" cy="32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good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overhyped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opinion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Esp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.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frontends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often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various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forms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evolution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allows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steady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improvements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Tools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typesafety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very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developer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experience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APIs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self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explorable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discoverable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0342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9C456-26C1-1030-1FA9-6AC2AADC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A338D-1488-9041-D2E2-69485E3D2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Claims on </a:t>
            </a:r>
            <a:r>
              <a:rPr lang="de-DE" dirty="0" err="1"/>
              <a:t>graphql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07949F6-7372-7A66-D861-DF34CDDB4950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846755C-58D4-FF36-F7CF-2342BFD48567}"/>
              </a:ext>
            </a:extLst>
          </p:cNvPr>
          <p:cNvSpPr txBox="1"/>
          <p:nvPr/>
        </p:nvSpPr>
        <p:spPr>
          <a:xfrm>
            <a:off x="375513" y="1635041"/>
            <a:ext cx="8307054" cy="369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good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Over-/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Underfetching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(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overhyped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opinion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Esp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.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frontends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you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often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need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query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data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various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forms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Schema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evolution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allows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steady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improvements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of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the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Tools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typesafety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have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very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developer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experience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APIs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good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self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explorable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discoverable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Error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handling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more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explizit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as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in REST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0807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C7A1-0EE9-639B-0C22-C5C7FB715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2DBEF1-188F-D35A-CB57-89162645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B7F69BD-6A2A-2A93-F60C-C90852FEA45B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819A37F-F2F0-23FC-5255-BDF897A5B73D}"/>
              </a:ext>
            </a:extLst>
          </p:cNvPr>
          <p:cNvSpPr txBox="1"/>
          <p:nvPr/>
        </p:nvSpPr>
        <p:spPr>
          <a:xfrm>
            <a:off x="375513" y="1635041"/>
            <a:ext cx="8307054" cy="7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some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against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2225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5D901-F1E6-1C20-203E-289CF7AC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0BBF6B-274E-1CCB-4D02-247A5B9C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CD21005-F147-C050-2570-8E65A7A67575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21216F5-F296-AE98-CDEA-408974A27B99}"/>
              </a:ext>
            </a:extLst>
          </p:cNvPr>
          <p:cNvSpPr txBox="1"/>
          <p:nvPr/>
        </p:nvSpPr>
        <p:spPr>
          <a:xfrm>
            <a:off x="375513" y="1635041"/>
            <a:ext cx="8307054" cy="119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some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against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mainstream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well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understood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widely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used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5024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2E593-1C4E-B418-51F9-64B39D39D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6C2B4-851B-6EE6-5D87-AB64ACA8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BC29D00-81CE-6628-8E28-23D244CCE189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BB95698-3FDD-BEB5-0D7E-E099C7DB6B86}"/>
              </a:ext>
            </a:extLst>
          </p:cNvPr>
          <p:cNvSpPr txBox="1"/>
          <p:nvPr/>
        </p:nvSpPr>
        <p:spPr>
          <a:xfrm>
            <a:off x="375513" y="1635041"/>
            <a:ext cx="8307054" cy="161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some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against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mainstream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well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understood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widely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used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Consumers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developers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know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works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24495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1B874-5E92-5DFC-1C41-BECF3527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718A30-DA67-F0F5-972D-659506EB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C38A6E1-FF2D-4CFC-C727-3AB64F576E8D}"/>
              </a:ext>
            </a:extLst>
          </p:cNvPr>
          <p:cNvSpPr txBox="1"/>
          <p:nvPr/>
        </p:nvSpPr>
        <p:spPr>
          <a:xfrm>
            <a:off x="339911" y="883022"/>
            <a:ext cx="460254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Why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then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65690CE-4AD6-FF14-02D2-79C29F3A2136}"/>
              </a:ext>
            </a:extLst>
          </p:cNvPr>
          <p:cNvSpPr txBox="1"/>
          <p:nvPr/>
        </p:nvSpPr>
        <p:spPr>
          <a:xfrm>
            <a:off x="375513" y="1635041"/>
            <a:ext cx="8307054" cy="165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There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are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some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reasons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against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 </a:t>
            </a:r>
            <a:r>
              <a:rPr lang="de-DE" b="1" dirty="0" err="1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it</a:t>
            </a:r>
            <a:r>
              <a:rPr lang="de-DE" b="1" dirty="0">
                <a:solidFill>
                  <a:srgbClr val="36544F"/>
                </a:solidFill>
                <a:latin typeface="Source Sans Pro SemiBold" panose="020B0503030403020204" pitchFamily="34" charset="0"/>
                <a:ea typeface="Source Code Pro Medium" panose="020B0309030403020204" pitchFamily="34" charset="0"/>
                <a:cs typeface="Source Sans Pro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mainstream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,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well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understood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widely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used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Consumers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and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developers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know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how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REST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works</a:t>
            </a:r>
            <a:endParaRPr lang="de-DE" dirty="0">
              <a:solidFill>
                <a:srgbClr val="36544F"/>
              </a:solidFill>
              <a:latin typeface="Source Sans Pro" charset="0"/>
              <a:ea typeface="Source Sans Pro" charset="0"/>
              <a:cs typeface="Source Sans Pro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Caching on HTTP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level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</a:t>
            </a:r>
            <a:r>
              <a:rPr lang="de-DE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is</a:t>
            </a:r>
            <a:r>
              <a:rPr lang="de-DE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 easy</a:t>
            </a:r>
          </a:p>
        </p:txBody>
      </p:sp>
    </p:spTree>
    <p:extLst>
      <p:ext uri="{BB962C8B-B14F-4D97-AF65-F5344CB8AC3E}">
        <p14:creationId xmlns:p14="http://schemas.microsoft.com/office/powerpoint/2010/main" val="41022579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6AC9-84A5-3822-A003-5292D9E0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900C5-E630-D5FF-123B-65183F1B7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GraphQL in der Praxis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7B4BFC-6F33-8746-35FA-50D37A3DA0F6}"/>
              </a:ext>
            </a:extLst>
          </p:cNvPr>
          <p:cNvSpPr txBox="1"/>
          <p:nvPr/>
        </p:nvSpPr>
        <p:spPr>
          <a:xfrm>
            <a:off x="339911" y="883022"/>
            <a:ext cx="411522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When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should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I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use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GraphQL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?"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7A988E-2BC4-281E-17C9-289118E7EAEC}"/>
              </a:ext>
            </a:extLst>
          </p:cNvPr>
          <p:cNvSpPr txBox="1"/>
          <p:nvPr/>
        </p:nvSpPr>
        <p:spPr>
          <a:xfrm rot="21280636">
            <a:off x="1361316" y="2017751"/>
            <a:ext cx="4491935" cy="1107996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66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it</a:t>
            </a:r>
            <a:r>
              <a:rPr lang="de-DE" sz="66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66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depends</a:t>
            </a:r>
            <a:r>
              <a:rPr lang="de-DE" sz="6600" b="1" i="1" dirty="0">
                <a:solidFill>
                  <a:srgbClr val="36544F"/>
                </a:solidFill>
                <a:latin typeface="Candara" panose="020E0502030303020204" pitchFamily="34" charset="0"/>
              </a:rPr>
              <a:t>...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DF3FEF8-4CBF-B099-3E74-89A0B95D7983}"/>
              </a:ext>
            </a:extLst>
          </p:cNvPr>
          <p:cNvSpPr txBox="1"/>
          <p:nvPr/>
        </p:nvSpPr>
        <p:spPr>
          <a:xfrm rot="21254442">
            <a:off x="2047401" y="3969966"/>
            <a:ext cx="3119765" cy="707886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4000" b="1" i="1" dirty="0">
                <a:solidFill>
                  <a:srgbClr val="36544F"/>
                </a:solidFill>
                <a:latin typeface="Candara" panose="020E0502030303020204" pitchFamily="34" charset="0"/>
              </a:rPr>
              <a:t>(</a:t>
            </a:r>
            <a:r>
              <a:rPr lang="de-DE" sz="40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as</a:t>
            </a:r>
            <a:r>
              <a:rPr lang="de-DE" sz="40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40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always</a:t>
            </a:r>
            <a:r>
              <a:rPr lang="de-DE" sz="40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</a:t>
            </a:r>
            <a:r>
              <a:rPr lang="de-DE" sz="3200" b="1" dirty="0">
                <a:solidFill>
                  <a:srgbClr val="36544F"/>
                </a:solidFill>
                <a:latin typeface="Candara" panose="020E0502030303020204" pitchFamily="34" charset="0"/>
              </a:rPr>
              <a:t>😇</a:t>
            </a:r>
            <a:r>
              <a:rPr lang="de-DE" sz="4000" b="1" i="1" dirty="0">
                <a:solidFill>
                  <a:srgbClr val="36544F"/>
                </a:solidFill>
                <a:latin typeface="Candara" panose="020E0502030303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85658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B3584D7-709E-7445-9004-BD8D9D4680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40" t="10535" b="8197"/>
          <a:stretch/>
        </p:blipFill>
        <p:spPr>
          <a:xfrm>
            <a:off x="0" y="-6832"/>
            <a:ext cx="9144000" cy="515033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98FFC761-FA65-4D43-9BEC-BD3BB5EE4B73}"/>
              </a:ext>
            </a:extLst>
          </p:cNvPr>
          <p:cNvSpPr/>
          <p:nvPr/>
        </p:nvSpPr>
        <p:spPr>
          <a:xfrm>
            <a:off x="0" y="0"/>
            <a:ext cx="9143999" cy="4510860"/>
          </a:xfrm>
          <a:prstGeom prst="rect">
            <a:avLst/>
          </a:prstGeom>
          <a:solidFill>
            <a:srgbClr val="D4EBE9">
              <a:alpha val="4244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583827D-AF88-4F48-8D0F-147CD5A74D67}"/>
              </a:ext>
            </a:extLst>
          </p:cNvPr>
          <p:cNvSpPr/>
          <p:nvPr/>
        </p:nvSpPr>
        <p:spPr>
          <a:xfrm>
            <a:off x="0" y="4504028"/>
            <a:ext cx="9144000" cy="639472"/>
          </a:xfrm>
          <a:prstGeom prst="rect">
            <a:avLst/>
          </a:prstGeom>
          <a:solidFill>
            <a:srgbClr val="5AB88F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51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BBDC070-223F-AA4C-B870-16D823CC1FA8}"/>
              </a:ext>
            </a:extLst>
          </p:cNvPr>
          <p:cNvSpPr/>
          <p:nvPr/>
        </p:nvSpPr>
        <p:spPr>
          <a:xfrm>
            <a:off x="15319" y="988645"/>
            <a:ext cx="911336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5800" b="1" dirty="0" err="1">
                <a:solidFill>
                  <a:srgbClr val="B04432"/>
                </a:solidFill>
                <a:latin typeface="Montserrat" charset="0"/>
                <a:ea typeface="Montserrat" charset="0"/>
                <a:cs typeface="Montserrat" charset="0"/>
              </a:rPr>
              <a:t>Thank</a:t>
            </a:r>
            <a:r>
              <a:rPr lang="de-DE" sz="5800" b="1" dirty="0">
                <a:solidFill>
                  <a:srgbClr val="B04432"/>
                </a:solidFill>
                <a:latin typeface="Montserrat" charset="0"/>
                <a:ea typeface="Montserrat" charset="0"/>
                <a:cs typeface="Montserrat" charset="0"/>
              </a:rPr>
              <a:t> </a:t>
            </a:r>
            <a:r>
              <a:rPr lang="de-DE" sz="5800" b="1" dirty="0" err="1">
                <a:solidFill>
                  <a:srgbClr val="B04432"/>
                </a:solidFill>
                <a:latin typeface="Montserrat" charset="0"/>
                <a:ea typeface="Montserrat" charset="0"/>
                <a:cs typeface="Montserrat" charset="0"/>
              </a:rPr>
              <a:t>you</a:t>
            </a:r>
            <a:r>
              <a:rPr lang="de-DE" sz="5800" b="1" dirty="0">
                <a:solidFill>
                  <a:srgbClr val="B04432"/>
                </a:solidFill>
                <a:latin typeface="Montserrat" charset="0"/>
                <a:ea typeface="Montserrat" charset="0"/>
                <a:cs typeface="Montserrat" charset="0"/>
              </a:rPr>
              <a:t>!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8E9C952-7991-E34E-B8C9-B1F4B1A05CA9}"/>
              </a:ext>
            </a:extLst>
          </p:cNvPr>
          <p:cNvSpPr txBox="1"/>
          <p:nvPr/>
        </p:nvSpPr>
        <p:spPr>
          <a:xfrm>
            <a:off x="683421" y="161123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1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NILS HARTMANN</a:t>
            </a:r>
            <a:endParaRPr lang="de-DE" sz="1800" b="1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A5293E4-AFE3-884E-9A51-1B8C18BA78C7}"/>
              </a:ext>
            </a:extLst>
          </p:cNvPr>
          <p:cNvSpPr txBox="1"/>
          <p:nvPr/>
        </p:nvSpPr>
        <p:spPr>
          <a:xfrm>
            <a:off x="688862" y="397602"/>
            <a:ext cx="15792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https://</a:t>
            </a:r>
            <a:r>
              <a:rPr lang="de-DE" sz="1050" dirty="0" err="1">
                <a:solidFill>
                  <a:srgbClr val="36544F"/>
                </a:solidFill>
                <a:latin typeface="Source Sans Pro" charset="0"/>
                <a:ea typeface="Source Sans Pro" charset="0"/>
                <a:cs typeface="Source Sans Pro" charset="0"/>
              </a:rPr>
              <a:t>nilshartmann.net</a:t>
            </a:r>
            <a:endParaRPr lang="de-DE" sz="1050" dirty="0">
              <a:solidFill>
                <a:srgbClr val="025249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002002A-B26E-D3F9-6373-176053177AEF}"/>
              </a:ext>
            </a:extLst>
          </p:cNvPr>
          <p:cNvSpPr/>
          <p:nvPr/>
        </p:nvSpPr>
        <p:spPr>
          <a:xfrm>
            <a:off x="683421" y="2072375"/>
            <a:ext cx="5940769" cy="1850891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rgbClr val="36544F"/>
                </a:solidFill>
              </a:rPr>
              <a:t>Slides: </a:t>
            </a:r>
            <a:r>
              <a:rPr lang="de-DE" b="1" u="sng" dirty="0">
                <a:solidFill>
                  <a:srgbClr val="36544F"/>
                </a:solidFill>
                <a:hlinkClick r:id="rId4"/>
              </a:rPr>
              <a:t>https://graphql.schule/api-conference</a:t>
            </a:r>
            <a:r>
              <a:rPr lang="de-DE" b="1" u="sng" dirty="0">
                <a:solidFill>
                  <a:srgbClr val="36544F"/>
                </a:solidFill>
              </a:rPr>
              <a:t> </a:t>
            </a:r>
            <a:endParaRPr lang="de-DE" b="1" dirty="0">
              <a:solidFill>
                <a:srgbClr val="1778B8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de-DE" b="1" dirty="0">
                <a:solidFill>
                  <a:srgbClr val="36544F"/>
                </a:solidFill>
              </a:rPr>
              <a:t>Questions and </a:t>
            </a:r>
            <a:r>
              <a:rPr lang="de-DE" b="1" dirty="0" err="1">
                <a:solidFill>
                  <a:srgbClr val="36544F"/>
                </a:solidFill>
              </a:rPr>
              <a:t>contact</a:t>
            </a:r>
            <a:r>
              <a:rPr lang="de-DE" b="1" dirty="0">
                <a:solidFill>
                  <a:srgbClr val="36544F"/>
                </a:solidFill>
              </a:rPr>
              <a:t>: </a:t>
            </a:r>
            <a:r>
              <a:rPr lang="de-DE" b="1" dirty="0">
                <a:solidFill>
                  <a:srgbClr val="1778B8"/>
                </a:solidFill>
                <a:hlinkClick r:id="rId5"/>
              </a:rPr>
              <a:t>nils@nilshartmann.net</a:t>
            </a:r>
            <a:r>
              <a:rPr lang="de-DE" b="1" dirty="0">
                <a:solidFill>
                  <a:srgbClr val="1778B8"/>
                </a:solidFill>
              </a:rPr>
              <a:t> </a:t>
            </a:r>
          </a:p>
          <a:p>
            <a:pPr algn="ctr">
              <a:lnSpc>
                <a:spcPct val="200000"/>
              </a:lnSpc>
            </a:pPr>
            <a:r>
              <a:rPr lang="de-DE" b="1" dirty="0">
                <a:solidFill>
                  <a:srgbClr val="36544F"/>
                </a:solidFill>
              </a:rPr>
              <a:t>My </a:t>
            </a:r>
            <a:r>
              <a:rPr lang="de-DE" b="1" dirty="0" err="1">
                <a:solidFill>
                  <a:srgbClr val="36544F"/>
                </a:solidFill>
              </a:rPr>
              <a:t>GraphQL</a:t>
            </a:r>
            <a:r>
              <a:rPr lang="de-DE" b="1" dirty="0">
                <a:solidFill>
                  <a:srgbClr val="36544F"/>
                </a:solidFill>
              </a:rPr>
              <a:t> Workshops: </a:t>
            </a:r>
            <a:r>
              <a:rPr lang="de-DE" b="1" dirty="0">
                <a:solidFill>
                  <a:srgbClr val="36544F"/>
                </a:solidFill>
                <a:hlinkClick r:id="rId6"/>
              </a:rPr>
              <a:t>https://graphql.schule</a:t>
            </a:r>
            <a:r>
              <a:rPr lang="de-DE" b="1" dirty="0">
                <a:solidFill>
                  <a:srgbClr val="36544F"/>
                </a:solidFill>
              </a:rPr>
              <a:t>  </a:t>
            </a:r>
            <a:endParaRPr lang="de-DE" b="1" dirty="0">
              <a:solidFill>
                <a:srgbClr val="1778B8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3E379FD-40C0-F91E-49BF-6F439FEE04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190" y="2072375"/>
            <a:ext cx="1850891" cy="185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3335</Words>
  <Application>Microsoft Macintosh PowerPoint</Application>
  <PresentationFormat>Bildschirmpräsentation (16:9)</PresentationFormat>
  <Paragraphs>530</Paragraphs>
  <Slides>87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87</vt:i4>
      </vt:variant>
    </vt:vector>
  </HeadingPairs>
  <TitlesOfParts>
    <vt:vector size="99" baseType="lpstr">
      <vt:lpstr>Arial</vt:lpstr>
      <vt:lpstr>Calibri</vt:lpstr>
      <vt:lpstr>Calibri Light</vt:lpstr>
      <vt:lpstr>Candara</vt:lpstr>
      <vt:lpstr>Montserrat</vt:lpstr>
      <vt:lpstr>Source Code Pro</vt:lpstr>
      <vt:lpstr>Source Code Pro Light</vt:lpstr>
      <vt:lpstr>Source Code Pro Medium</vt:lpstr>
      <vt:lpstr>Source Sans Pro</vt:lpstr>
      <vt:lpstr>Source Sans Pro Light</vt:lpstr>
      <vt:lpstr>Source Sans Pro SemiBold</vt:lpstr>
      <vt:lpstr>Office-Design</vt:lpstr>
      <vt:lpstr>API conference 2025 | Berlin, October, 22. | https://graphql.schule</vt:lpstr>
      <vt:lpstr>https://nilshartmann.net</vt:lpstr>
      <vt:lpstr>PowerPoint-Präsentation</vt:lpstr>
      <vt:lpstr>View #1</vt:lpstr>
      <vt:lpstr>View #2</vt:lpstr>
      <vt:lpstr>View #3</vt:lpstr>
      <vt:lpstr>PowerPoint-Präsentation</vt:lpstr>
      <vt:lpstr>An Api for the example app</vt:lpstr>
      <vt:lpstr>An Api for the example app</vt:lpstr>
      <vt:lpstr>An Api for the example app</vt:lpstr>
      <vt:lpstr>An Api for the example app</vt:lpstr>
      <vt:lpstr>An Api for the example app</vt:lpstr>
      <vt:lpstr>An Api for the example app</vt:lpstr>
      <vt:lpstr>An Api for the example app</vt:lpstr>
      <vt:lpstr>An Api for the example app</vt:lpstr>
      <vt:lpstr>PowerPoint-Präsentation</vt:lpstr>
      <vt:lpstr>GraphQl schema</vt:lpstr>
      <vt:lpstr>GraphQl schema</vt:lpstr>
      <vt:lpstr>GraphQl schema</vt:lpstr>
      <vt:lpstr>GraphQl schema</vt:lpstr>
      <vt:lpstr>GraphQl schema</vt:lpstr>
      <vt:lpstr>GraphQl schema</vt:lpstr>
      <vt:lpstr>GraphQl schema</vt:lpstr>
      <vt:lpstr>GraphQl schema</vt:lpstr>
      <vt:lpstr>PowerPoint-Präsentation</vt:lpstr>
      <vt:lpstr>Query Language</vt:lpstr>
      <vt:lpstr>Query Language</vt:lpstr>
      <vt:lpstr>Query Language</vt:lpstr>
      <vt:lpstr>Query Language</vt:lpstr>
      <vt:lpstr>http://127.0.0.1:8080</vt:lpstr>
      <vt:lpstr>PowerPoint-Präsentation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Resolver functions</vt:lpstr>
      <vt:lpstr>Resolver functions</vt:lpstr>
      <vt:lpstr>Resolver functions</vt:lpstr>
      <vt:lpstr>Implementation</vt:lpstr>
      <vt:lpstr>PowerPoint-Präsentation</vt:lpstr>
      <vt:lpstr>Claims about GraphQL</vt:lpstr>
      <vt:lpstr>Claims about GraphQL</vt:lpstr>
      <vt:lpstr>Claims about GraphQL</vt:lpstr>
      <vt:lpstr>Claims about GraphQL</vt:lpstr>
      <vt:lpstr>GraphQL in der Praxis</vt:lpstr>
      <vt:lpstr>GraphQL in der Praxis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Claims on graphql</vt:lpstr>
      <vt:lpstr>GraphQL in der Praxis</vt:lpstr>
      <vt:lpstr>GraphQL in der Praxis</vt:lpstr>
      <vt:lpstr>GraphQL in der Praxis</vt:lpstr>
      <vt:lpstr>GraphQL in der Praxis</vt:lpstr>
      <vt:lpstr>GraphQL in der Praxis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Nils Hartmann</dc:creator>
  <cp:lastModifiedBy>Nils Hartmann</cp:lastModifiedBy>
  <cp:revision>1311</cp:revision>
  <cp:lastPrinted>2019-09-03T13:49:24Z</cp:lastPrinted>
  <dcterms:created xsi:type="dcterms:W3CDTF">2016-03-28T15:59:53Z</dcterms:created>
  <dcterms:modified xsi:type="dcterms:W3CDTF">2025-10-20T12:55:49Z</dcterms:modified>
</cp:coreProperties>
</file>