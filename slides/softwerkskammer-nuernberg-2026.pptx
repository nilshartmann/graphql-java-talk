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99"/>
  </p:notesMasterIdLst>
  <p:sldIdLst>
    <p:sldId id="1205" r:id="rId2"/>
    <p:sldId id="1122" r:id="rId3"/>
    <p:sldId id="499" r:id="rId4"/>
    <p:sldId id="1169" r:id="rId5"/>
    <p:sldId id="1206" r:id="rId6"/>
    <p:sldId id="1202" r:id="rId7"/>
    <p:sldId id="1170" r:id="rId8"/>
    <p:sldId id="1203" r:id="rId9"/>
    <p:sldId id="1171" r:id="rId10"/>
    <p:sldId id="1172" r:id="rId11"/>
    <p:sldId id="1173" r:id="rId12"/>
    <p:sldId id="1123" r:id="rId13"/>
    <p:sldId id="2077" r:id="rId14"/>
    <p:sldId id="2084" r:id="rId15"/>
    <p:sldId id="2097" r:id="rId16"/>
    <p:sldId id="2098" r:id="rId17"/>
    <p:sldId id="2103" r:id="rId18"/>
    <p:sldId id="2104" r:id="rId19"/>
    <p:sldId id="2105" r:id="rId20"/>
    <p:sldId id="2099" r:id="rId21"/>
    <p:sldId id="1196" r:id="rId22"/>
    <p:sldId id="1197" r:id="rId23"/>
    <p:sldId id="2106" r:id="rId24"/>
    <p:sldId id="2080" r:id="rId25"/>
    <p:sldId id="1198" r:id="rId26"/>
    <p:sldId id="1110" r:id="rId27"/>
    <p:sldId id="2072" r:id="rId28"/>
    <p:sldId id="2076" r:id="rId29"/>
    <p:sldId id="551" r:id="rId30"/>
    <p:sldId id="1025" r:id="rId31"/>
    <p:sldId id="1316" r:id="rId32"/>
    <p:sldId id="1317" r:id="rId33"/>
    <p:sldId id="2020" r:id="rId34"/>
    <p:sldId id="2021" r:id="rId35"/>
    <p:sldId id="2022" r:id="rId36"/>
    <p:sldId id="2023" r:id="rId37"/>
    <p:sldId id="2024" r:id="rId38"/>
    <p:sldId id="2025" r:id="rId39"/>
    <p:sldId id="2026" r:id="rId40"/>
    <p:sldId id="2027" r:id="rId41"/>
    <p:sldId id="2028" r:id="rId42"/>
    <p:sldId id="1320" r:id="rId43"/>
    <p:sldId id="2083" r:id="rId44"/>
    <p:sldId id="2086" r:id="rId45"/>
    <p:sldId id="2087" r:id="rId46"/>
    <p:sldId id="2089" r:id="rId47"/>
    <p:sldId id="2088" r:id="rId48"/>
    <p:sldId id="2091" r:id="rId49"/>
    <p:sldId id="2090" r:id="rId50"/>
    <p:sldId id="2095" r:id="rId51"/>
    <p:sldId id="2094" r:id="rId52"/>
    <p:sldId id="2092" r:id="rId53"/>
    <p:sldId id="2093" r:id="rId54"/>
    <p:sldId id="1321" r:id="rId55"/>
    <p:sldId id="2006" r:id="rId56"/>
    <p:sldId id="2036" r:id="rId57"/>
    <p:sldId id="2012" r:id="rId58"/>
    <p:sldId id="2011" r:id="rId59"/>
    <p:sldId id="1995" r:id="rId60"/>
    <p:sldId id="2001" r:id="rId61"/>
    <p:sldId id="2073" r:id="rId62"/>
    <p:sldId id="1997" r:id="rId63"/>
    <p:sldId id="2056" r:id="rId64"/>
    <p:sldId id="2057" r:id="rId65"/>
    <p:sldId id="2058" r:id="rId66"/>
    <p:sldId id="2059" r:id="rId67"/>
    <p:sldId id="2039" r:id="rId68"/>
    <p:sldId id="2043" r:id="rId69"/>
    <p:sldId id="2040" r:id="rId70"/>
    <p:sldId id="2041" r:id="rId71"/>
    <p:sldId id="2042" r:id="rId72"/>
    <p:sldId id="1998" r:id="rId73"/>
    <p:sldId id="1999" r:id="rId74"/>
    <p:sldId id="2045" r:id="rId75"/>
    <p:sldId id="2046" r:id="rId76"/>
    <p:sldId id="2047" r:id="rId77"/>
    <p:sldId id="2004" r:id="rId78"/>
    <p:sldId id="2048" r:id="rId79"/>
    <p:sldId id="2049" r:id="rId80"/>
    <p:sldId id="2050" r:id="rId81"/>
    <p:sldId id="2005" r:id="rId82"/>
    <p:sldId id="2051" r:id="rId83"/>
    <p:sldId id="2052" r:id="rId84"/>
    <p:sldId id="2053" r:id="rId85"/>
    <p:sldId id="2054" r:id="rId86"/>
    <p:sldId id="2055" r:id="rId87"/>
    <p:sldId id="2060" r:id="rId88"/>
    <p:sldId id="2069" r:id="rId89"/>
    <p:sldId id="2066" r:id="rId90"/>
    <p:sldId id="2067" r:id="rId91"/>
    <p:sldId id="2068" r:id="rId92"/>
    <p:sldId id="2061" r:id="rId93"/>
    <p:sldId id="2064" r:id="rId94"/>
    <p:sldId id="2062" r:id="rId95"/>
    <p:sldId id="2063" r:id="rId96"/>
    <p:sldId id="2070" r:id="rId97"/>
    <p:sldId id="550" r:id="rId9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B3FEC54-C99A-2341-AAD7-27E0ADE2F16E}">
          <p14:sldIdLst>
            <p14:sldId id="1205"/>
            <p14:sldId id="1122"/>
            <p14:sldId id="499"/>
            <p14:sldId id="1169"/>
            <p14:sldId id="1206"/>
            <p14:sldId id="1202"/>
            <p14:sldId id="1170"/>
            <p14:sldId id="1203"/>
            <p14:sldId id="1171"/>
            <p14:sldId id="1172"/>
            <p14:sldId id="1173"/>
            <p14:sldId id="1123"/>
            <p14:sldId id="2077"/>
            <p14:sldId id="2084"/>
            <p14:sldId id="2097"/>
            <p14:sldId id="2098"/>
            <p14:sldId id="2103"/>
            <p14:sldId id="2104"/>
            <p14:sldId id="2105"/>
            <p14:sldId id="2099"/>
            <p14:sldId id="1196"/>
            <p14:sldId id="1197"/>
            <p14:sldId id="2106"/>
            <p14:sldId id="2080"/>
            <p14:sldId id="1198"/>
            <p14:sldId id="1110"/>
            <p14:sldId id="2072"/>
            <p14:sldId id="2076"/>
            <p14:sldId id="551"/>
            <p14:sldId id="1025"/>
            <p14:sldId id="1316"/>
            <p14:sldId id="1317"/>
            <p14:sldId id="2020"/>
            <p14:sldId id="2021"/>
            <p14:sldId id="2022"/>
            <p14:sldId id="2023"/>
            <p14:sldId id="2024"/>
            <p14:sldId id="2025"/>
            <p14:sldId id="2026"/>
            <p14:sldId id="2027"/>
            <p14:sldId id="2028"/>
            <p14:sldId id="1320"/>
            <p14:sldId id="2083"/>
            <p14:sldId id="2086"/>
            <p14:sldId id="2087"/>
            <p14:sldId id="2089"/>
            <p14:sldId id="2088"/>
            <p14:sldId id="2091"/>
            <p14:sldId id="2090"/>
            <p14:sldId id="2095"/>
            <p14:sldId id="2094"/>
            <p14:sldId id="2092"/>
            <p14:sldId id="2093"/>
            <p14:sldId id="1321"/>
            <p14:sldId id="2006"/>
            <p14:sldId id="2036"/>
            <p14:sldId id="2012"/>
            <p14:sldId id="2011"/>
            <p14:sldId id="1995"/>
            <p14:sldId id="2001"/>
            <p14:sldId id="2073"/>
            <p14:sldId id="1997"/>
            <p14:sldId id="2056"/>
            <p14:sldId id="2057"/>
            <p14:sldId id="2058"/>
            <p14:sldId id="2059"/>
            <p14:sldId id="2039"/>
            <p14:sldId id="2043"/>
            <p14:sldId id="2040"/>
            <p14:sldId id="2041"/>
            <p14:sldId id="2042"/>
            <p14:sldId id="1998"/>
            <p14:sldId id="1999"/>
            <p14:sldId id="2045"/>
            <p14:sldId id="2046"/>
            <p14:sldId id="2047"/>
            <p14:sldId id="2004"/>
            <p14:sldId id="2048"/>
            <p14:sldId id="2049"/>
            <p14:sldId id="2050"/>
            <p14:sldId id="2005"/>
            <p14:sldId id="2051"/>
            <p14:sldId id="2052"/>
            <p14:sldId id="2053"/>
            <p14:sldId id="2054"/>
            <p14:sldId id="2055"/>
            <p14:sldId id="2060"/>
            <p14:sldId id="2069"/>
            <p14:sldId id="2066"/>
            <p14:sldId id="2067"/>
            <p14:sldId id="2068"/>
            <p14:sldId id="2061"/>
            <p14:sldId id="2064"/>
            <p14:sldId id="2062"/>
            <p14:sldId id="2063"/>
            <p14:sldId id="2070"/>
            <p14:sldId id="5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B58900"/>
    <a:srgbClr val="5EA985"/>
    <a:srgbClr val="9E60B8"/>
    <a:srgbClr val="D4EBE9"/>
    <a:srgbClr val="F3973B"/>
    <a:srgbClr val="025249"/>
    <a:srgbClr val="5697D5"/>
    <a:srgbClr val="57B98F"/>
    <a:srgbClr val="EB5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89"/>
    <p:restoredTop sz="96853" autoAdjust="0"/>
  </p:normalViewPr>
  <p:slideViewPr>
    <p:cSldViewPr snapToGrid="0" snapToObjects="1">
      <p:cViewPr varScale="1">
        <p:scale>
          <a:sx n="148" d="100"/>
          <a:sy n="148" d="100"/>
        </p:scale>
        <p:origin x="200" y="1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4T10:47:58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0 204,'94'-9,"-42"3,2-2,2-3,2-2,12-2,4-1,7 1,2 0,7-1,0 2,-4 1,-1 2,-10 3,-3 0,-8 2,-4 1,-8 3,-2 1,41-2,-4 0,-13 0,-17 1,-15 2,-7 0,-5 0,0 0,-3 0,-3 0,-2 0,-1 0,-2 0,0 0,-1 0,1 0,1 0,2 1,1 1,3 0,1 0,4-2,0 0,-3 0,-1 0,-2 0,4 0,-1 0,-2 1,0 1,-2 0,0-1,1 1,-1 0,-1 0,3 0,2-2,3 0,5 0,-3 0,-1 1,2 1,1 0,5 1,0 0,-2-1,-2 1,-3 0,-6 0,-3 1,-3-1,-1 0,-4-1,-2 0,2 0,-3 0,5 1,-4 0,1-1,6 0,-9-2,9 0,-9 3,3-3,2 3,1-3,-2 1,1 0,-2 3,1 0,-2 1,3 1,-5-1,5-1,-2 0,1-3,0 0,1-1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4T10:48:07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56,'58'6,"1"-2,12 4,-12-2,7 2,16 0,6 1,-18-2,3 0,-1 0,-5-1,0 0,-1-1,25 0,-2-2,3 0,3-2,-23-1,1 0,2 0,6 0,1 0,1 0,0 0,1 0,-1 0,-4 0,-1 0,-2 0,-8 0,-2 0,0 0,33 0,-3 0,-17 0,-2 0,-3-1,-1-1,-5 0,-2 0,-7-1,0 0,2 0,-1 1,34-3,-11 0,-5 2,-20 1,-7 2,-12 0,-8-1,-9-1,-7 0,-2 1,2 1,3 0,-3 0,2 0,-4 0,4 0,3 0,-4 0,-1 0,0 0,-1 0,25 0,-5 1,55 4,-31-2,4 0,10 0,2-1,5 0,-1-1,-7 0,-3-2,-6 0,0-1,1-2,0-1,-8 0,-2 0,46-7,-11 0,-6 6,-2 0,-10 4,-7 2,-4 0,3 0,-2 0,-7 0,-4 0,-3 0,-4 0,-3 0,-6 0,-4 1,-3 1,0 2,0 0,-3-2,0 0,-3-2,-2 0,-2 0,0 0,-2 0,6 0,-3 0,3 0,-5 1,3 1,0-1,4 1,3 0,2 0,5 0,2-1,1 1,2 0,-1 0,-4 0,0-2,0 0,4 0,3 0,3 0,10 0,4 0,-2 2,1 0,-7 2,4 0,6-1,0-1,-3 0,-4 0,-6 0,-2 0,-6-2,-2 0,-1 0,-1 0,5 0,-1 0,-2 0,3 0,-3 0,1 0,-2-1,-2-3,-1-2,-2-1,-2 0,-4 1,-3 3,-2 1,-4 2,2 0,-3 0,4-1,1 0,27-1,5 7,9 2,12 1,4 1,2 1,-1 0,-2 1,-4-2,-14-4,-1-1,7 0,1-1,8-1,1 0,-2-2,-1 1,-8-1,0 0,0 0,0 0,-8 0,-1 0,46 0,-3 2,-23 1,1 0,-14 1,-6-2,-7 1,-2 3,0 0,-4 2,-5-1,-5 1,-3-1,-5 0,-2-1,-5-1,1-1,-1 0,-1 1,2-2,-2 0,2 0,2 0,0 0,0-1,1-1,1-1,3 0,3 0,2 0,5 0,3 0,3 0,3 0,1 0,1 0,1 0,-3 0,-2 0,-2 0,-4-2,-2-1,-5-2,0-3,0 0,0-1,-1 1,-3 2,-4 0,-1 2,-3 1,0 0,0 1,1 0,2-2,0 2,3 0,-1 1,0 1,-2 0,-2 0,2-1,-5 0,6-1,-3 1,1 1,0 0,-1 0,0 0,-2 0,2 0,1 0,-2 0,1 0,0-4,1 3,6-3,3 4,1 0,1 0,52 2,10 2,6-1,2-1,-40-2,16 0,7 0,-4 0,5 0,-10 0,-2 0,-2 0,-5 0,1 0,-8 0,-11 0,-11 0,-5 0,-7 0,-3 0,-2 0,-2 0,1 0,3 0,1 0,1 0,-3 0,0 0,2 0,1 0,2 0,2 0,1 0,5 0,-1 0,5 0,5 0,-2 0,9 0,-3 0,0 0,1 0,-5 0,0 0,0 0,0 0,2 0,2 0,0 0,0 0,0 0,0-2,-4 0,-4-2,-4-1,-3 0,-1-2,-1 1,0 1,-2 1,-3 1,-3 0,0 1,-2 0,2-1,-1 1,0 0,2 0,3 2,0 0,1 0,-2 0,-4 0,-1 0,-1 0,1 0,-3 0,12-4,23 3,3-3,15 4,-9 0,6 0,13 0,5 0,11 0,3 0,4 0,-3 0,-21 0,-3 0,0 0,0 0,-4 0,0 0,-2 0,-2 0,-10 0,-2 0,44 0,-10-2,-1-1,9 1,-9-1,-7 2,-5 1,-7 0,4 0,-3-1,-5 1,-4 0,-6 0,-2 0,-2-2,-3 0,-3-2,-8 0,-1 0,0-1,4 1,4-2,1 0,-2 0,0-2,-1 1,-1 1,2 0,-3 1,-2-1,-2 1,-2 1,-1 0,0 1,-1-1,-2 0,2 1,-3 0,-1 0,1 0,-2-1,2 2,1-2,-1 2,-3 0,2 0,-2 2,-1-1,0 1,1 0,-1 0,3 0,-1 0,-3 0,-1 0,-4 0,-1 0,0 0,2 0,-1 0,-1 0,-1 0,2 0,-3 0,8 0,-9 0,6 0,-5 0,2 0,-1 0,6 3,-2 1,2 3,-5-1,-1 0,2-1,-4-1,7 0,-8-3,5 2,4-1,-3 1,5 0,-7 0,-4-1,5 3,0 0,-2 0,2-2,-3-1,2-2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4T10:48:09.8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1 126,'75'-5,"-11"-1,-9-3,-5 0,9-2,2 1,-9 3,4-1,-10 4,-6-2,-4 1,-6 1,2 0,2 3,1-1,-1 0,-2 0,-3-1,-2 1,-5-2,-3 1,-7 0,4-2,-3 3,5-1,-1 1,-2 1,2-1,2 2,-6 0,5 0,-3 0,-1 0,-1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854BB-5908-0843-BA41-B7E7E599A04D}" type="datetimeFigureOut">
              <a:rPr lang="de-DE" smtClean="0"/>
              <a:t>21.04.26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E9B5-BB04-A741-9555-7CF01DDDA8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26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908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250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5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364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302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78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5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025249"/>
                </a:solidFill>
              </a:defRPr>
            </a:lvl1pPr>
            <a:lvl2pPr>
              <a:defRPr baseline="0">
                <a:solidFill>
                  <a:srgbClr val="025249"/>
                </a:solidFill>
              </a:defRPr>
            </a:lvl2pPr>
            <a:lvl3pPr>
              <a:defRPr baseline="0">
                <a:solidFill>
                  <a:srgbClr val="025249"/>
                </a:solidFill>
              </a:defRPr>
            </a:lvl3pPr>
            <a:lvl4pPr>
              <a:defRPr baseline="0">
                <a:solidFill>
                  <a:srgbClr val="025249"/>
                </a:solidFill>
              </a:defRPr>
            </a:lvl4pPr>
            <a:lvl5pPr>
              <a:defRPr baseline="0">
                <a:solidFill>
                  <a:srgbClr val="025249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1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91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37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6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2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0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8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64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0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4550834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3255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54046EA0-476F-F64F-8694-855A1E7DAD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7569" y="769545"/>
            <a:ext cx="8768862" cy="3996928"/>
          </a:xfrm>
        </p:spPr>
        <p:txBody>
          <a:bodyPr/>
          <a:lstStyle>
            <a:lvl1pPr>
              <a:defRPr b="1"/>
            </a:lvl1pPr>
          </a:lstStyle>
          <a:p>
            <a:r>
              <a:rPr lang="de-DE" dirty="0"/>
              <a:t>Mastertextformat bearbeiten
	</a:t>
            </a:r>
            <a:r>
              <a:rPr lang="de-DE" dirty="0" err="1"/>
              <a:t>fasdfsdf</a:t>
            </a:r>
            <a:r>
              <a:rPr lang="de-DE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69029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0"/>
            <a:ext cx="9144000" cy="34289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</p:spTree>
    <p:extLst>
      <p:ext uri="{BB962C8B-B14F-4D97-AF65-F5344CB8AC3E}">
        <p14:creationId xmlns:p14="http://schemas.microsoft.com/office/powerpoint/2010/main" val="117664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7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51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customXml" Target="../ink/ink2.xml"/><Relationship Id="rId4" Type="http://schemas.openxmlformats.org/officeDocument/2006/relationships/image" Target="../media/image19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graphql.schule/softwerkskammer-nuernberg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hyperlink" Target="https://nilshartmann.net/worksho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619F542-AAC1-03FB-3F6B-1E87CB781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49"/>
          <a:stretch/>
        </p:blipFill>
        <p:spPr>
          <a:xfrm>
            <a:off x="0" y="-639805"/>
            <a:ext cx="9252077" cy="6005361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278ECD9A-9A4F-8474-C2B2-6829E7DD2FE6}"/>
              </a:ext>
            </a:extLst>
          </p:cNvPr>
          <p:cNvSpPr/>
          <p:nvPr/>
        </p:nvSpPr>
        <p:spPr>
          <a:xfrm>
            <a:off x="1" y="-9993"/>
            <a:ext cx="9143999" cy="4560826"/>
          </a:xfrm>
          <a:prstGeom prst="rect">
            <a:avLst/>
          </a:prstGeom>
          <a:solidFill>
            <a:srgbClr val="D4EBE9">
              <a:alpha val="397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583827D-AF88-4F48-8D0F-147CD5A74D67}"/>
              </a:ext>
            </a:extLst>
          </p:cNvPr>
          <p:cNvSpPr/>
          <p:nvPr/>
        </p:nvSpPr>
        <p:spPr>
          <a:xfrm>
            <a:off x="0" y="4550833"/>
            <a:ext cx="9144000" cy="592667"/>
          </a:xfrm>
          <a:prstGeom prst="rect">
            <a:avLst/>
          </a:prstGeom>
          <a:solidFill>
            <a:srgbClr val="5AB88F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4550833"/>
            <a:ext cx="9144000" cy="592667"/>
          </a:xfrm>
        </p:spPr>
        <p:txBody>
          <a:bodyPr>
            <a:normAutofit/>
          </a:bodyPr>
          <a:lstStyle/>
          <a:p>
            <a:r>
              <a:rPr lang="de-DE" sz="1200" spc="60" dirty="0">
                <a:solidFill>
                  <a:srgbClr val="D4EBE9"/>
                </a:solidFill>
              </a:rPr>
              <a:t>Softwerkskammer Nürnberg | 21. April 2026 | @</a:t>
            </a:r>
            <a:r>
              <a:rPr lang="de-DE" sz="1200" spc="60" dirty="0" err="1">
                <a:solidFill>
                  <a:srgbClr val="D4EBE9"/>
                </a:solidFill>
              </a:rPr>
              <a:t>nilshartmann</a:t>
            </a:r>
            <a:endParaRPr lang="de-DE" sz="1200" spc="60" dirty="0">
              <a:solidFill>
                <a:srgbClr val="D4EBE9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55AA03D-2AF4-3B04-10B9-E081FD602040}"/>
              </a:ext>
            </a:extLst>
          </p:cNvPr>
          <p:cNvSpPr/>
          <p:nvPr/>
        </p:nvSpPr>
        <p:spPr>
          <a:xfrm>
            <a:off x="44671" y="765539"/>
            <a:ext cx="606622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8800" b="1" dirty="0">
                <a:ln>
                  <a:solidFill>
                    <a:srgbClr val="D4EBE9"/>
                  </a:solidFill>
                </a:ln>
                <a:solidFill>
                  <a:srgbClr val="EF7D1D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  <a:endParaRPr lang="de-DE" sz="4800" b="1" dirty="0">
              <a:ln>
                <a:solidFill>
                  <a:srgbClr val="D4EBE9"/>
                </a:solidFill>
              </a:ln>
              <a:solidFill>
                <a:srgbClr val="EF7D1D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86B91E9-1648-B47A-4857-C365879CBF88}"/>
              </a:ext>
            </a:extLst>
          </p:cNvPr>
          <p:cNvSpPr txBox="1"/>
          <p:nvPr/>
        </p:nvSpPr>
        <p:spPr>
          <a:xfrm>
            <a:off x="270194" y="3884490"/>
            <a:ext cx="9035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41719C"/>
                </a:solidFill>
                <a:latin typeface="Montserrat" charset="0"/>
                <a:ea typeface="Montserrat" charset="0"/>
                <a:cs typeface="Montserrat" charset="0"/>
              </a:rPr>
              <a:t>Ein </a:t>
            </a:r>
            <a:r>
              <a:rPr lang="de-DE" sz="3600" b="1" dirty="0">
                <a:ln w="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5EA985"/>
                </a:solidFill>
                <a:latin typeface="Montserrat" charset="0"/>
                <a:ea typeface="Montserrat" charset="0"/>
                <a:cs typeface="Montserrat" charset="0"/>
              </a:rPr>
              <a:t>praktischer </a:t>
            </a:r>
            <a:r>
              <a:rPr lang="de-DE" sz="3600" b="1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41719C"/>
                </a:solidFill>
                <a:latin typeface="Montserrat" charset="0"/>
                <a:ea typeface="Montserrat" charset="0"/>
                <a:cs typeface="Montserrat" charset="0"/>
              </a:rPr>
              <a:t>Deep Dive</a:t>
            </a:r>
            <a:r>
              <a:rPr lang="de-DE" sz="3600" b="1" dirty="0">
                <a:ln w="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5EA985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B40F53F-DD91-2A7C-2EDC-8197ACDA1A37}"/>
              </a:ext>
            </a:extLst>
          </p:cNvPr>
          <p:cNvGrpSpPr/>
          <p:nvPr/>
        </p:nvGrpSpPr>
        <p:grpSpPr>
          <a:xfrm>
            <a:off x="221979" y="139731"/>
            <a:ext cx="2501921" cy="769442"/>
            <a:chOff x="12484424" y="2415330"/>
            <a:chExt cx="2501921" cy="769442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0614A48-D4E1-C1F4-9E78-7FCD035CCDA9}"/>
                </a:ext>
              </a:extLst>
            </p:cNvPr>
            <p:cNvSpPr txBox="1"/>
            <p:nvPr/>
          </p:nvSpPr>
          <p:spPr>
            <a:xfrm>
              <a:off x="12484424" y="2415330"/>
              <a:ext cx="2501921" cy="46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51012"/>
              </a:schemeClr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de-DE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" charset="0"/>
                  <a:ea typeface="Source Sans Pro" charset="0"/>
                  <a:cs typeface="Source Sans Pro" charset="0"/>
                </a:rPr>
                <a:t>NILS HARTMANN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FC354D7A-3A1F-3FA3-66DD-862DB23B8B86}"/>
                </a:ext>
              </a:extLst>
            </p:cNvPr>
            <p:cNvSpPr txBox="1"/>
            <p:nvPr/>
          </p:nvSpPr>
          <p:spPr>
            <a:xfrm>
              <a:off x="12484424" y="2876995"/>
              <a:ext cx="2494466" cy="307777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51355"/>
              </a:schemeClr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de-DE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SemiBold" panose="020B0503030403020204" pitchFamily="34" charset="0"/>
                  <a:ea typeface="Source Sans Pro" charset="0"/>
                  <a:cs typeface="Source Sans Pro" charset="0"/>
                </a:rPr>
                <a:t>https://</a:t>
              </a:r>
              <a:r>
                <a:rPr lang="de-DE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SemiBold" panose="020B0503030403020204" pitchFamily="34" charset="0"/>
                  <a:ea typeface="Source Sans Pro" charset="0"/>
                  <a:cs typeface="Source Sans Pro" charset="0"/>
                </a:rPr>
                <a:t>nilshartmann.net</a:t>
              </a:r>
              <a:endParaRPr lang="de-DE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97EC6FAD-C571-1551-22B6-80476F07633A}"/>
              </a:ext>
            </a:extLst>
          </p:cNvPr>
          <p:cNvSpPr txBox="1"/>
          <p:nvPr/>
        </p:nvSpPr>
        <p:spPr>
          <a:xfrm>
            <a:off x="1732303" y="2970386"/>
            <a:ext cx="48725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6000" b="1" dirty="0">
                <a:ln>
                  <a:solidFill>
                    <a:srgbClr val="B58900"/>
                  </a:solidFill>
                </a:ln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Verhängnis</a:t>
            </a:r>
            <a:endParaRPr lang="de-DE" sz="5400" b="1" dirty="0">
              <a:ln w="0">
                <a:solidFill>
                  <a:schemeClr val="tx1">
                    <a:lumMod val="65000"/>
                    <a:lumOff val="35000"/>
                  </a:schemeClr>
                </a:solidFill>
              </a:ln>
              <a:solidFill>
                <a:srgbClr val="5EA985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2EC3CDF-77D7-EB6C-4CE5-EE08CFDD116A}"/>
              </a:ext>
            </a:extLst>
          </p:cNvPr>
          <p:cNvSpPr txBox="1"/>
          <p:nvPr/>
        </p:nvSpPr>
        <p:spPr>
          <a:xfrm>
            <a:off x="-1" y="2799241"/>
            <a:ext cx="21815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400" b="1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B58900"/>
                </a:solidFill>
                <a:latin typeface="Montserrat" charset="0"/>
                <a:ea typeface="Montserrat" charset="0"/>
                <a:cs typeface="Montserrat" charset="0"/>
              </a:rPr>
              <a:t>oder</a:t>
            </a:r>
            <a:endParaRPr lang="de-DE" sz="4900" b="1" dirty="0">
              <a:ln w="0">
                <a:solidFill>
                  <a:schemeClr val="tx1">
                    <a:lumMod val="65000"/>
                    <a:lumOff val="35000"/>
                  </a:schemeClr>
                </a:solidFill>
              </a:ln>
              <a:solidFill>
                <a:srgbClr val="5EA985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D6F9150-48C2-6BEC-71DB-A1CC42BB8B31}"/>
              </a:ext>
            </a:extLst>
          </p:cNvPr>
          <p:cNvSpPr txBox="1"/>
          <p:nvPr/>
        </p:nvSpPr>
        <p:spPr>
          <a:xfrm>
            <a:off x="696303" y="1975601"/>
            <a:ext cx="52561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6000" b="1" dirty="0">
                <a:ln w="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5EA985"/>
                </a:solidFill>
                <a:latin typeface="Montserrat" charset="0"/>
                <a:ea typeface="Montserrat" charset="0"/>
                <a:cs typeface="Montserrat" charset="0"/>
              </a:rPr>
              <a:t>Verheißung</a:t>
            </a:r>
            <a:endParaRPr lang="de-DE" sz="4900" b="1" dirty="0">
              <a:ln w="0">
                <a:solidFill>
                  <a:schemeClr val="tx1">
                    <a:lumMod val="65000"/>
                    <a:lumOff val="35000"/>
                  </a:schemeClr>
                </a:solidFill>
              </a:ln>
              <a:solidFill>
                <a:srgbClr val="5EA985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5B513B-8049-FA83-D726-9A241FBB0580}"/>
              </a:ext>
            </a:extLst>
          </p:cNvPr>
          <p:cNvSpPr txBox="1"/>
          <p:nvPr/>
        </p:nvSpPr>
        <p:spPr>
          <a:xfrm rot="589829">
            <a:off x="6338702" y="2636403"/>
            <a:ext cx="10075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800" b="1" dirty="0">
                <a:ln>
                  <a:solidFill>
                    <a:srgbClr val="B589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Montserrat" charset="0"/>
                <a:ea typeface="Montserrat" charset="0"/>
                <a:cs typeface="Montserrat" charset="0"/>
              </a:rPr>
              <a:t>?</a:t>
            </a:r>
            <a:endParaRPr lang="de-DE" sz="1600" b="1" dirty="0">
              <a:ln>
                <a:solidFill>
                  <a:srgbClr val="B589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02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pc="60" dirty="0"/>
              <a:t>https://</a:t>
            </a:r>
            <a:r>
              <a:rPr lang="de-DE" spc="60" dirty="0" err="1"/>
              <a:t>nilshartmann.net</a:t>
            </a:r>
            <a:endParaRPr lang="de-DE" spc="60" dirty="0"/>
          </a:p>
        </p:txBody>
      </p:sp>
      <p:sp>
        <p:nvSpPr>
          <p:cNvPr id="3" name="Textfeld 2"/>
          <p:cNvSpPr txBox="1"/>
          <p:nvPr/>
        </p:nvSpPr>
        <p:spPr>
          <a:xfrm>
            <a:off x="1474045" y="315650"/>
            <a:ext cx="619592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700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NILS HARTMANN</a:t>
            </a:r>
          </a:p>
          <a:p>
            <a:pPr algn="ctr"/>
            <a:r>
              <a:rPr lang="de-DE" sz="1200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nils@nilshartmann.net</a:t>
            </a:r>
            <a:endParaRPr lang="de-DE" sz="12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de-DE" sz="12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de-DE" sz="12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r>
              <a:rPr lang="de-DE" sz="1800" b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Freiberuflicher Entwickler, Architekt, Trainer aus Hamburg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CD9C7B-1EC0-B64B-8EFD-E44C1A4A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415" y="2188138"/>
            <a:ext cx="1264947" cy="1844884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A0226B8-0AE2-E246-8B5B-A4D1C2599CAB}"/>
              </a:ext>
            </a:extLst>
          </p:cNvPr>
          <p:cNvSpPr/>
          <p:nvPr/>
        </p:nvSpPr>
        <p:spPr>
          <a:xfrm>
            <a:off x="4572000" y="4150122"/>
            <a:ext cx="3714750" cy="2694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1151" b="1" dirty="0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https://</a:t>
            </a:r>
            <a:r>
              <a:rPr lang="de-DE" sz="1151" b="1" dirty="0" err="1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reactbuch.de</a:t>
            </a:r>
            <a:endParaRPr lang="de-DE" sz="1151" b="1" dirty="0">
              <a:solidFill>
                <a:srgbClr val="B58900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87F8C36-51E4-7813-9F4F-4D2A03599E84}"/>
              </a:ext>
            </a:extLst>
          </p:cNvPr>
          <p:cNvSpPr/>
          <p:nvPr/>
        </p:nvSpPr>
        <p:spPr>
          <a:xfrm>
            <a:off x="1224998" y="4150122"/>
            <a:ext cx="3714750" cy="2694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1151" b="1" dirty="0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https://</a:t>
            </a:r>
            <a:r>
              <a:rPr lang="de-DE" sz="1151" b="1" dirty="0" err="1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graphql.schule</a:t>
            </a:r>
            <a:r>
              <a:rPr lang="de-DE" sz="1151" b="1" dirty="0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/video-kurs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3257E62-94D2-B6BC-08BC-EF9623E13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600" y="2188138"/>
            <a:ext cx="1880638" cy="185866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2283DA9-BE52-85CC-E2BC-8784FAC22A00}"/>
              </a:ext>
            </a:extLst>
          </p:cNvPr>
          <p:cNvSpPr txBox="1"/>
          <p:nvPr/>
        </p:nvSpPr>
        <p:spPr>
          <a:xfrm>
            <a:off x="857250" y="1659940"/>
            <a:ext cx="74295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350" b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Java, Spring, GraphQL, TypeScript, </a:t>
            </a:r>
            <a:r>
              <a:rPr lang="de-DE" sz="1350" b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React</a:t>
            </a:r>
            <a:endParaRPr lang="de-DE" sz="1350" b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636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57250" y="3685242"/>
            <a:ext cx="74295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5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Beispiel Anwendung</a:t>
            </a:r>
            <a:endParaRPr lang="de-DE" sz="788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1200" cap="none" spc="75" dirty="0"/>
              <a:t>Source: https://</a:t>
            </a:r>
            <a:r>
              <a:rPr lang="de-DE" sz="1200" cap="none" spc="75" dirty="0" err="1"/>
              <a:t>github.com</a:t>
            </a:r>
            <a:r>
              <a:rPr lang="de-DE" sz="1200" cap="none" spc="75" dirty="0"/>
              <a:t>/</a:t>
            </a:r>
            <a:r>
              <a:rPr lang="de-DE" sz="1200" cap="none" spc="75" dirty="0" err="1"/>
              <a:t>nilshartmann</a:t>
            </a:r>
            <a:r>
              <a:rPr lang="de-DE" sz="1200" cap="none" spc="75" dirty="0"/>
              <a:t>/spring-</a:t>
            </a:r>
            <a:r>
              <a:rPr lang="de-DE" sz="1200" cap="none" spc="75" dirty="0" err="1"/>
              <a:t>graphql</a:t>
            </a:r>
            <a:r>
              <a:rPr lang="de-DE" sz="1200" cap="none" spc="75" dirty="0"/>
              <a:t>-talk</a:t>
            </a:r>
          </a:p>
        </p:txBody>
      </p:sp>
      <p:pic>
        <p:nvPicPr>
          <p:cNvPr id="5" name="Grafik 4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6091A47C-BD64-F64F-AA98-9F2BE0AA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235" y="160668"/>
            <a:ext cx="3195530" cy="3524575"/>
          </a:xfrm>
          <a:prstGeom prst="rect">
            <a:avLst/>
          </a:prstGeom>
          <a:ln w="6350" cap="rnd">
            <a:solidFill>
              <a:schemeClr val="bg1">
                <a:lumMod val="50000"/>
              </a:schemeClr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0841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Eine API für den </a:t>
            </a:r>
            <a:r>
              <a:rPr lang="de-DE" dirty="0" err="1">
                <a:solidFill>
                  <a:srgbClr val="F3973B"/>
                </a:solidFill>
              </a:rPr>
              <a:t>Beeradvisor</a:t>
            </a:r>
            <a:r>
              <a:rPr lang="de-DE" dirty="0">
                <a:solidFill>
                  <a:srgbClr val="F3973B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1658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DDA05-9F74-0730-3F74-B4514403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B6F33-3FCA-9EF1-4041-5D7CBB21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17C870-190D-750A-D002-3B1D15BBC8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1: Backend bestimmt Aussehen der Endpunkte / Daten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8DB23E-BE61-F047-5546-DB659C1A5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072" y="3015555"/>
            <a:ext cx="1035844" cy="110853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FB492EB-EBE0-6B02-292F-1B1500B6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84" y="3015555"/>
            <a:ext cx="1035843" cy="110853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D486B41-A02A-7528-BB86-5FBEF2CC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096" y="3015555"/>
            <a:ext cx="1035843" cy="1108534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E9BBB1AA-4F94-1C1A-8F7C-52E17D3A4CA8}"/>
              </a:ext>
            </a:extLst>
          </p:cNvPr>
          <p:cNvSpPr/>
          <p:nvPr/>
        </p:nvSpPr>
        <p:spPr>
          <a:xfrm>
            <a:off x="1718072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E303F8B-C990-7015-1F00-6DF09A72E3B0}"/>
              </a:ext>
            </a:extLst>
          </p:cNvPr>
          <p:cNvSpPr/>
          <p:nvPr/>
        </p:nvSpPr>
        <p:spPr>
          <a:xfrm>
            <a:off x="3968353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shop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AE4DC98-E07D-6594-84C7-013D599F7811}"/>
              </a:ext>
            </a:extLst>
          </p:cNvPr>
          <p:cNvSpPr/>
          <p:nvPr/>
        </p:nvSpPr>
        <p:spPr>
          <a:xfrm>
            <a:off x="6261497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rating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5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1: Backend bestimmt Aussehen der Endpunkte / Daten</a:t>
            </a:r>
          </a:p>
          <a:p>
            <a:pPr marL="0" indent="0">
              <a:buNone/>
            </a:pPr>
            <a:r>
              <a:rPr lang="de-DE" dirty="0">
                <a:solidFill>
                  <a:srgbClr val="025249"/>
                </a:solidFill>
              </a:rPr>
              <a:t>REST / HTTP APIs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6B3726-C899-B6BD-C3E4-FA52F013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072" y="3015555"/>
            <a:ext cx="1035844" cy="110853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907E282-6304-332D-69F0-33136B024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84" y="3015555"/>
            <a:ext cx="1035843" cy="110853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119357-1545-DDF5-6F27-E6BBBAEFB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096" y="3015555"/>
            <a:ext cx="1035843" cy="1108534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6D8F4191-7EAF-B999-C87E-CAB93D74CA18}"/>
              </a:ext>
            </a:extLst>
          </p:cNvPr>
          <p:cNvSpPr/>
          <p:nvPr/>
        </p:nvSpPr>
        <p:spPr>
          <a:xfrm>
            <a:off x="1718072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6D62B0C-549C-0F75-DB62-8A187D266931}"/>
              </a:ext>
            </a:extLst>
          </p:cNvPr>
          <p:cNvSpPr/>
          <p:nvPr/>
        </p:nvSpPr>
        <p:spPr>
          <a:xfrm>
            <a:off x="3968353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shop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1009D33-FAEC-2F3C-A47A-7CFE4A327683}"/>
              </a:ext>
            </a:extLst>
          </p:cNvPr>
          <p:cNvSpPr/>
          <p:nvPr/>
        </p:nvSpPr>
        <p:spPr>
          <a:xfrm>
            <a:off x="6261497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rating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14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2: Client diktiert die API nach seinen Anforderungen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D8F4191-7EAF-B999-C87E-CAB93D74CA18}"/>
              </a:ext>
            </a:extLst>
          </p:cNvPr>
          <p:cNvSpPr/>
          <p:nvPr/>
        </p:nvSpPr>
        <p:spPr>
          <a:xfrm>
            <a:off x="1428750" y="2571751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home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6D62B0C-549C-0F75-DB62-8A187D266931}"/>
              </a:ext>
            </a:extLst>
          </p:cNvPr>
          <p:cNvSpPr/>
          <p:nvPr/>
        </p:nvSpPr>
        <p:spPr>
          <a:xfrm>
            <a:off x="3679030" y="2571751"/>
            <a:ext cx="1937018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-view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1009D33-FAEC-2F3C-A47A-7CFE4A327683}"/>
              </a:ext>
            </a:extLst>
          </p:cNvPr>
          <p:cNvSpPr/>
          <p:nvPr/>
        </p:nvSpPr>
        <p:spPr>
          <a:xfrm>
            <a:off x="5972174" y="2571751"/>
            <a:ext cx="2025254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shopdetails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2D0BF1-3A5C-40FA-F7C9-468FB84C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21" y="3087541"/>
            <a:ext cx="952281" cy="128641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EDD7329-65D5-6EB5-30C8-82532EB61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262" y="3015556"/>
            <a:ext cx="968572" cy="132541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D6523FB-D7C9-FB86-9D81-3A010BFDD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774" y="3001701"/>
            <a:ext cx="1002802" cy="13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2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2: Client diktiert die API nach seinen Anforderungen</a:t>
            </a:r>
          </a:p>
          <a:p>
            <a:pPr marL="0" indent="0">
              <a:buNone/>
            </a:pPr>
            <a:r>
              <a:rPr lang="de-DE" dirty="0">
                <a:solidFill>
                  <a:srgbClr val="025249"/>
                </a:solidFill>
              </a:rPr>
              <a:t>Backend </a:t>
            </a:r>
            <a:r>
              <a:rPr lang="de-DE" dirty="0" err="1">
                <a:solidFill>
                  <a:srgbClr val="025249"/>
                </a:solidFill>
              </a:rPr>
              <a:t>for</a:t>
            </a:r>
            <a:r>
              <a:rPr lang="de-DE" dirty="0">
                <a:solidFill>
                  <a:srgbClr val="025249"/>
                </a:solidFill>
              </a:rPr>
              <a:t> Frontend (BFF)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D8F4191-7EAF-B999-C87E-CAB93D74CA18}"/>
              </a:ext>
            </a:extLst>
          </p:cNvPr>
          <p:cNvSpPr/>
          <p:nvPr/>
        </p:nvSpPr>
        <p:spPr>
          <a:xfrm>
            <a:off x="1428750" y="2571751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home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6D62B0C-549C-0F75-DB62-8A187D266931}"/>
              </a:ext>
            </a:extLst>
          </p:cNvPr>
          <p:cNvSpPr/>
          <p:nvPr/>
        </p:nvSpPr>
        <p:spPr>
          <a:xfrm>
            <a:off x="3679030" y="2571751"/>
            <a:ext cx="1937018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-view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1009D33-FAEC-2F3C-A47A-7CFE4A327683}"/>
              </a:ext>
            </a:extLst>
          </p:cNvPr>
          <p:cNvSpPr/>
          <p:nvPr/>
        </p:nvSpPr>
        <p:spPr>
          <a:xfrm>
            <a:off x="5972174" y="2571751"/>
            <a:ext cx="2025254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shopdetails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2D0BF1-3A5C-40FA-F7C9-468FB84C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21" y="3087541"/>
            <a:ext cx="952281" cy="128641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EDD7329-65D5-6EB5-30C8-82532EB61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262" y="3015556"/>
            <a:ext cx="968572" cy="132541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D6523FB-D7C9-FB86-9D81-3A010BFDD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774" y="3001701"/>
            <a:ext cx="1002802" cy="13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4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3: GraphQL...</a:t>
            </a:r>
          </a:p>
        </p:txBody>
      </p:sp>
    </p:spTree>
    <p:extLst>
      <p:ext uri="{BB962C8B-B14F-4D97-AF65-F5344CB8AC3E}">
        <p14:creationId xmlns:p14="http://schemas.microsoft.com/office/powerpoint/2010/main" val="214423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3: GraphQL...</a:t>
            </a:r>
          </a:p>
          <a:p>
            <a:r>
              <a:rPr lang="de-DE" b="0" dirty="0">
                <a:solidFill>
                  <a:srgbClr val="025249"/>
                </a:solidFill>
              </a:rPr>
              <a:t>Aus Ansatz 1: Server bestimmt, wie Datenmodell aussieht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D85DF64-D488-30C1-68A0-068E833E4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583" y="3582085"/>
            <a:ext cx="1035844" cy="110853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403F3A8-EB42-F375-B9BD-0F327A267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096" y="3582086"/>
            <a:ext cx="1035843" cy="1108534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1086DC4-E5B0-2296-4EDE-4CDF804ABA40}"/>
              </a:ext>
            </a:extLst>
          </p:cNvPr>
          <p:cNvCxnSpPr/>
          <p:nvPr/>
        </p:nvCxnSpPr>
        <p:spPr>
          <a:xfrm>
            <a:off x="2935948" y="4123319"/>
            <a:ext cx="834887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020E35B-DE25-A006-894B-8BC2FBC6AA6C}"/>
              </a:ext>
            </a:extLst>
          </p:cNvPr>
          <p:cNvCxnSpPr/>
          <p:nvPr/>
        </p:nvCxnSpPr>
        <p:spPr>
          <a:xfrm>
            <a:off x="5189292" y="4123319"/>
            <a:ext cx="834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1F55169E-55D1-6609-1B1A-E3D911650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106" y="3582086"/>
            <a:ext cx="1035843" cy="110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8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</a:t>
            </a:r>
            <a:r>
              <a:rPr lang="de-DE" dirty="0" err="1"/>
              <a:t>Api</a:t>
            </a:r>
            <a:r>
              <a:rPr lang="de-DE" dirty="0"/>
              <a:t> für den </a:t>
            </a:r>
            <a:r>
              <a:rPr lang="de-DE" dirty="0" err="1"/>
              <a:t>BeerAdvisor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F3973B"/>
                </a:solidFill>
              </a:rPr>
              <a:t>Ansatz 3: GraphQL...</a:t>
            </a:r>
          </a:p>
          <a:p>
            <a:r>
              <a:rPr lang="de-DE" b="0" dirty="0">
                <a:solidFill>
                  <a:srgbClr val="025249"/>
                </a:solidFill>
              </a:rPr>
              <a:t>Aus Ansatz 1: Server bestimmt, wie Datenmodell aussieht</a:t>
            </a:r>
          </a:p>
          <a:p>
            <a:r>
              <a:rPr lang="de-DE" b="0" dirty="0">
                <a:solidFill>
                  <a:srgbClr val="025249"/>
                </a:solidFill>
              </a:rPr>
              <a:t>...aber Client kann pro Ansicht wählen, welche Daten er daraus benötigt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D3A601-6D60-2210-A305-F85C2EFB2DD4}"/>
              </a:ext>
            </a:extLst>
          </p:cNvPr>
          <p:cNvSpPr txBox="1"/>
          <p:nvPr/>
        </p:nvSpPr>
        <p:spPr>
          <a:xfrm>
            <a:off x="2146996" y="2768009"/>
            <a:ext cx="5121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{ </a:t>
            </a:r>
            <a:r>
              <a:rPr lang="de-DE" sz="1600" dirty="0" err="1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{ </a:t>
            </a:r>
            <a:r>
              <a:rPr lang="de-DE" sz="1600" dirty="0" err="1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id</a:t>
            </a:r>
            <a:r>
              <a:rPr lang="de-DE" sz="1600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600" dirty="0" err="1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price</a:t>
            </a:r>
            <a:r>
              <a:rPr lang="de-DE" sz="1600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{ </a:t>
            </a:r>
            <a:r>
              <a:rPr lang="de-DE" sz="1600" dirty="0" err="1">
                <a:solidFill>
                  <a:srgbClr val="B589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shops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{ </a:t>
            </a:r>
            <a:r>
              <a:rPr lang="de-DE" sz="1600" dirty="0" err="1">
                <a:solidFill>
                  <a:srgbClr val="B589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name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} } } }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50B187A-D9AA-1557-F3F1-96BD62AF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583" y="3582085"/>
            <a:ext cx="1035844" cy="110853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DC7AD73-C7A2-D2CF-65AA-1679CE817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096" y="3582086"/>
            <a:ext cx="1035843" cy="1108534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3536F2B-F2B3-F9D5-D3E4-4B485899872C}"/>
              </a:ext>
            </a:extLst>
          </p:cNvPr>
          <p:cNvCxnSpPr/>
          <p:nvPr/>
        </p:nvCxnSpPr>
        <p:spPr>
          <a:xfrm>
            <a:off x="2935948" y="4123319"/>
            <a:ext cx="834887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2804244-59A9-83E3-DF13-B3995A57730B}"/>
              </a:ext>
            </a:extLst>
          </p:cNvPr>
          <p:cNvCxnSpPr/>
          <p:nvPr/>
        </p:nvCxnSpPr>
        <p:spPr>
          <a:xfrm>
            <a:off x="5189292" y="4123319"/>
            <a:ext cx="834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C946BD3F-A57C-FDAE-491D-331CCD20F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106" y="3582086"/>
            <a:ext cx="1035843" cy="110853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711DC92-486E-AF54-CFC9-5545D6FEBE54}"/>
              </a:ext>
            </a:extLst>
          </p:cNvPr>
          <p:cNvSpPr/>
          <p:nvPr/>
        </p:nvSpPr>
        <p:spPr>
          <a:xfrm>
            <a:off x="4350145" y="3812366"/>
            <a:ext cx="357809" cy="134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3C244B8-417B-FA64-B5F7-9198CCB0E483}"/>
              </a:ext>
            </a:extLst>
          </p:cNvPr>
          <p:cNvSpPr/>
          <p:nvPr/>
        </p:nvSpPr>
        <p:spPr>
          <a:xfrm>
            <a:off x="4350145" y="4042387"/>
            <a:ext cx="357809" cy="134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6BC5B06-BFEC-A0EB-E2AE-1FB95A4284A3}"/>
              </a:ext>
            </a:extLst>
          </p:cNvPr>
          <p:cNvSpPr/>
          <p:nvPr/>
        </p:nvSpPr>
        <p:spPr>
          <a:xfrm>
            <a:off x="4350145" y="4476869"/>
            <a:ext cx="357809" cy="134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ADDBD87-8B83-9AF0-BAA6-DCBF856B357E}"/>
              </a:ext>
            </a:extLst>
          </p:cNvPr>
          <p:cNvSpPr/>
          <p:nvPr/>
        </p:nvSpPr>
        <p:spPr>
          <a:xfrm>
            <a:off x="2066985" y="3957194"/>
            <a:ext cx="357809" cy="134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</p:spTree>
    <p:extLst>
      <p:ext uri="{BB962C8B-B14F-4D97-AF65-F5344CB8AC3E}">
        <p14:creationId xmlns:p14="http://schemas.microsoft.com/office/powerpoint/2010/main" val="149593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954136" y="2848386"/>
            <a:ext cx="5235729" cy="1396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475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  <a:endParaRPr lang="de-DE" sz="15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6E0B396-70F0-564B-9AD5-C075B0DA8461}"/>
              </a:ext>
            </a:extLst>
          </p:cNvPr>
          <p:cNvSpPr/>
          <p:nvPr/>
        </p:nvSpPr>
        <p:spPr>
          <a:xfrm>
            <a:off x="1235785" y="918022"/>
            <a:ext cx="66724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"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GraphQL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is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a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query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language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for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APIs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and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a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runtime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for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fulfilling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those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queries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with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your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existing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data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"</a:t>
            </a:r>
          </a:p>
          <a:p>
            <a:endParaRPr lang="de-DE" sz="1500" dirty="0">
              <a:solidFill>
                <a:srgbClr val="36544F"/>
              </a:solidFill>
              <a:latin typeface="Source Sans Pro" panose="020B0503030403020204" pitchFamily="34" charset="77"/>
            </a:endParaRPr>
          </a:p>
          <a:p>
            <a:r>
              <a:rPr lang="de-DE" sz="1500" dirty="0">
                <a:solidFill>
                  <a:srgbClr val="36544F"/>
                </a:solidFill>
                <a:latin typeface="Source Sans Pro" panose="020B0503030403020204" pitchFamily="34" charset="77"/>
              </a:rPr>
              <a:t> - https://</a:t>
            </a:r>
            <a:r>
              <a:rPr lang="de-DE" sz="1500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graphql.org</a:t>
            </a:r>
            <a:endParaRPr lang="de-DE" sz="1050" dirty="0">
              <a:solidFill>
                <a:srgbClr val="36544F"/>
              </a:solidFill>
              <a:latin typeface="Source Sans Pro" panose="020B05030304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5283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Über eine GraphQL API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mit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Feldern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bereitgestellt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AD0E47E4-199A-8FEF-90DB-7492F67D48FD}"/>
              </a:ext>
            </a:extLst>
          </p:cNvPr>
          <p:cNvCxnSpPr>
            <a:cxnSpLocks/>
          </p:cNvCxnSpPr>
          <p:nvPr/>
        </p:nvCxnSpPr>
        <p:spPr>
          <a:xfrm>
            <a:off x="6595855" y="2014803"/>
            <a:ext cx="113703" cy="324636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FEB5672D-CADE-C5F6-0359-F67B9980536E}"/>
              </a:ext>
            </a:extLst>
          </p:cNvPr>
          <p:cNvSpPr/>
          <p:nvPr/>
        </p:nvSpPr>
        <p:spPr>
          <a:xfrm>
            <a:off x="6229776" y="1764583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endParaRPr lang="de-DE" sz="1050" dirty="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43BB01A8-3C2D-D97F-9471-C6CA2B162B9E}"/>
              </a:ext>
            </a:extLst>
          </p:cNvPr>
          <p:cNvCxnSpPr>
            <a:cxnSpLocks/>
          </p:cNvCxnSpPr>
          <p:nvPr/>
        </p:nvCxnSpPr>
        <p:spPr>
          <a:xfrm flipH="1">
            <a:off x="6813226" y="1577693"/>
            <a:ext cx="656442" cy="3138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16490F71-E8F2-471A-81A9-1471D8372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98"/>
          <a:stretch/>
        </p:blipFill>
        <p:spPr>
          <a:xfrm>
            <a:off x="5700156" y="1346623"/>
            <a:ext cx="3200754" cy="324265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9A38EA2B-98FD-F7BB-94C2-1BFB5B1BAF4E}"/>
              </a:ext>
            </a:extLst>
          </p:cNvPr>
          <p:cNvCxnSpPr>
            <a:cxnSpLocks/>
          </p:cNvCxnSpPr>
          <p:nvPr/>
        </p:nvCxnSpPr>
        <p:spPr>
          <a:xfrm flipH="1">
            <a:off x="7012170" y="3789679"/>
            <a:ext cx="1087847" cy="22517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8D2FE826-5477-2221-352C-C100F618BCE4}"/>
              </a:ext>
            </a:extLst>
          </p:cNvPr>
          <p:cNvSpPr/>
          <p:nvPr/>
        </p:nvSpPr>
        <p:spPr>
          <a:xfrm>
            <a:off x="6356676" y="3887893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endParaRPr lang="de-DE" sz="1050" dirty="0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667E2301-E48A-42A3-6424-B02467720CA7}"/>
              </a:ext>
            </a:extLst>
          </p:cNvPr>
          <p:cNvCxnSpPr>
            <a:cxnSpLocks/>
          </p:cNvCxnSpPr>
          <p:nvPr/>
        </p:nvCxnSpPr>
        <p:spPr>
          <a:xfrm>
            <a:off x="6517707" y="3451012"/>
            <a:ext cx="191851" cy="43688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F17FA8D3-6BEC-18E6-B490-06E67C433FC0}"/>
              </a:ext>
            </a:extLst>
          </p:cNvPr>
          <p:cNvCxnSpPr>
            <a:cxnSpLocks/>
          </p:cNvCxnSpPr>
          <p:nvPr/>
        </p:nvCxnSpPr>
        <p:spPr>
          <a:xfrm flipH="1">
            <a:off x="7012170" y="3916637"/>
            <a:ext cx="976087" cy="913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DA421EDB-EBCB-3B3E-6EB7-74C1F3751B83}"/>
              </a:ext>
            </a:extLst>
          </p:cNvPr>
          <p:cNvCxnSpPr>
            <a:cxnSpLocks/>
          </p:cNvCxnSpPr>
          <p:nvPr/>
        </p:nvCxnSpPr>
        <p:spPr>
          <a:xfrm flipH="1" flipV="1">
            <a:off x="7068050" y="4014851"/>
            <a:ext cx="920207" cy="21170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106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E28C-377C-098D-AE28-77A58E00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C6E6D37-F1BC-2347-73D5-69A3BFCB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CB68753-A215-FDBC-34F0-FE594E0CE294}"/>
              </a:ext>
            </a:extLst>
          </p:cNvPr>
          <p:cNvCxnSpPr>
            <a:cxnSpLocks/>
          </p:cNvCxnSpPr>
          <p:nvPr/>
        </p:nvCxnSpPr>
        <p:spPr>
          <a:xfrm>
            <a:off x="6595855" y="2014803"/>
            <a:ext cx="113703" cy="324636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4A461134-4860-4A29-88CC-A4990A1053D4}"/>
              </a:ext>
            </a:extLst>
          </p:cNvPr>
          <p:cNvSpPr/>
          <p:nvPr/>
        </p:nvSpPr>
        <p:spPr>
          <a:xfrm>
            <a:off x="6229776" y="1764583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endParaRPr lang="de-DE" sz="1050" dirty="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B65513E3-58EE-21FF-B493-272BFF8BDCB3}"/>
              </a:ext>
            </a:extLst>
          </p:cNvPr>
          <p:cNvCxnSpPr>
            <a:cxnSpLocks/>
          </p:cNvCxnSpPr>
          <p:nvPr/>
        </p:nvCxnSpPr>
        <p:spPr>
          <a:xfrm flipH="1">
            <a:off x="6813226" y="1577693"/>
            <a:ext cx="656442" cy="3138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49750AFE-6BE5-A400-E22F-4130AD839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98"/>
          <a:stretch/>
        </p:blipFill>
        <p:spPr>
          <a:xfrm>
            <a:off x="5700156" y="1346623"/>
            <a:ext cx="3200754" cy="324265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F2A2EE3E-3C6A-1A6A-8F17-3884F9AF85F3}"/>
              </a:ext>
            </a:extLst>
          </p:cNvPr>
          <p:cNvCxnSpPr>
            <a:cxnSpLocks/>
          </p:cNvCxnSpPr>
          <p:nvPr/>
        </p:nvCxnSpPr>
        <p:spPr>
          <a:xfrm flipH="1">
            <a:off x="7012170" y="3789679"/>
            <a:ext cx="1087847" cy="22517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7AC96C84-B963-7615-D83E-6043182568EA}"/>
              </a:ext>
            </a:extLst>
          </p:cNvPr>
          <p:cNvSpPr/>
          <p:nvPr/>
        </p:nvSpPr>
        <p:spPr>
          <a:xfrm>
            <a:off x="6356676" y="3887893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endParaRPr lang="de-DE" sz="1050" dirty="0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335CD767-2ECB-F99E-111E-69217833052F}"/>
              </a:ext>
            </a:extLst>
          </p:cNvPr>
          <p:cNvCxnSpPr>
            <a:cxnSpLocks/>
          </p:cNvCxnSpPr>
          <p:nvPr/>
        </p:nvCxnSpPr>
        <p:spPr>
          <a:xfrm>
            <a:off x="6517707" y="3451012"/>
            <a:ext cx="191851" cy="43688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6011A36D-455C-6B41-2B93-5C4216162816}"/>
              </a:ext>
            </a:extLst>
          </p:cNvPr>
          <p:cNvCxnSpPr>
            <a:cxnSpLocks/>
          </p:cNvCxnSpPr>
          <p:nvPr/>
        </p:nvCxnSpPr>
        <p:spPr>
          <a:xfrm flipH="1">
            <a:off x="7012170" y="3916637"/>
            <a:ext cx="976087" cy="913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026749CC-6392-6DAF-A080-42FED5808C87}"/>
              </a:ext>
            </a:extLst>
          </p:cNvPr>
          <p:cNvCxnSpPr>
            <a:cxnSpLocks/>
          </p:cNvCxnSpPr>
          <p:nvPr/>
        </p:nvCxnSpPr>
        <p:spPr>
          <a:xfrm flipH="1" flipV="1">
            <a:off x="7068050" y="4014851"/>
            <a:ext cx="920207" cy="21170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20B7F42C-3555-461E-D77F-1F8B7EB1DD0B}"/>
              </a:ext>
            </a:extLst>
          </p:cNvPr>
          <p:cNvSpPr txBox="1"/>
          <p:nvPr/>
        </p:nvSpPr>
        <p:spPr>
          <a:xfrm>
            <a:off x="375513" y="769545"/>
            <a:ext cx="7124700" cy="754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Die Objekte und Felder sind in einem </a:t>
            </a:r>
            <a:r>
              <a:rPr lang="de-DE" sz="1800" b="1" dirty="0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beschrieben</a:t>
            </a:r>
          </a:p>
        </p:txBody>
      </p:sp>
    </p:spTree>
    <p:extLst>
      <p:ext uri="{BB962C8B-B14F-4D97-AF65-F5344CB8AC3E}">
        <p14:creationId xmlns:p14="http://schemas.microsoft.com/office/powerpoint/2010/main" val="156644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10EB-A2AA-B1A1-DE74-9274233D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0D7D184-7BBC-E1C7-A759-1E281123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3D49D26-C8C5-2F67-131E-A4B108EE7628}"/>
              </a:ext>
            </a:extLst>
          </p:cNvPr>
          <p:cNvCxnSpPr>
            <a:cxnSpLocks/>
          </p:cNvCxnSpPr>
          <p:nvPr/>
        </p:nvCxnSpPr>
        <p:spPr>
          <a:xfrm>
            <a:off x="6595855" y="2014803"/>
            <a:ext cx="113703" cy="324636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7E95F246-B48C-EC19-9F38-80D6E2EBDD9E}"/>
              </a:ext>
            </a:extLst>
          </p:cNvPr>
          <p:cNvSpPr/>
          <p:nvPr/>
        </p:nvSpPr>
        <p:spPr>
          <a:xfrm>
            <a:off x="6229776" y="1764583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endParaRPr lang="de-DE" sz="1050" dirty="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7E7134E0-D779-35E1-F80F-124A77EB0592}"/>
              </a:ext>
            </a:extLst>
          </p:cNvPr>
          <p:cNvCxnSpPr>
            <a:cxnSpLocks/>
          </p:cNvCxnSpPr>
          <p:nvPr/>
        </p:nvCxnSpPr>
        <p:spPr>
          <a:xfrm flipH="1">
            <a:off x="6813226" y="1577693"/>
            <a:ext cx="656442" cy="3138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C37482CD-7ED1-0994-82D1-8661EC80BD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98"/>
          <a:stretch/>
        </p:blipFill>
        <p:spPr>
          <a:xfrm>
            <a:off x="5700156" y="1346623"/>
            <a:ext cx="3200754" cy="324265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67E2186-64D5-B11D-E564-A268DFE3A7B2}"/>
              </a:ext>
            </a:extLst>
          </p:cNvPr>
          <p:cNvCxnSpPr>
            <a:cxnSpLocks/>
          </p:cNvCxnSpPr>
          <p:nvPr/>
        </p:nvCxnSpPr>
        <p:spPr>
          <a:xfrm flipH="1">
            <a:off x="7012170" y="3789679"/>
            <a:ext cx="1087847" cy="22517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7BC6CA74-8D9D-C607-BA63-DEA3954C1D2B}"/>
              </a:ext>
            </a:extLst>
          </p:cNvPr>
          <p:cNvSpPr/>
          <p:nvPr/>
        </p:nvSpPr>
        <p:spPr>
          <a:xfrm>
            <a:off x="6356676" y="3887893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endParaRPr lang="de-DE" sz="1050" dirty="0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239ABB01-CA23-8FBA-7D7A-E77276B9D39F}"/>
              </a:ext>
            </a:extLst>
          </p:cNvPr>
          <p:cNvCxnSpPr>
            <a:cxnSpLocks/>
          </p:cNvCxnSpPr>
          <p:nvPr/>
        </p:nvCxnSpPr>
        <p:spPr>
          <a:xfrm>
            <a:off x="6517707" y="3451012"/>
            <a:ext cx="191851" cy="43688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4BCBB275-6435-9856-7E51-FA4F1B115E50}"/>
              </a:ext>
            </a:extLst>
          </p:cNvPr>
          <p:cNvCxnSpPr>
            <a:cxnSpLocks/>
          </p:cNvCxnSpPr>
          <p:nvPr/>
        </p:nvCxnSpPr>
        <p:spPr>
          <a:xfrm flipH="1">
            <a:off x="7012170" y="3916637"/>
            <a:ext cx="976087" cy="913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CE2A4882-5B91-888D-1B56-7D3211EB96F6}"/>
              </a:ext>
            </a:extLst>
          </p:cNvPr>
          <p:cNvCxnSpPr>
            <a:cxnSpLocks/>
          </p:cNvCxnSpPr>
          <p:nvPr/>
        </p:nvCxnSpPr>
        <p:spPr>
          <a:xfrm flipH="1" flipV="1">
            <a:off x="7068050" y="4014851"/>
            <a:ext cx="920207" cy="21170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176737E9-A57D-EC53-5F5C-157EE1317B37}"/>
              </a:ext>
            </a:extLst>
          </p:cNvPr>
          <p:cNvSpPr txBox="1"/>
          <p:nvPr/>
        </p:nvSpPr>
        <p:spPr>
          <a:xfrm>
            <a:off x="375513" y="769545"/>
            <a:ext cx="7124700" cy="111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Die Objekte und Felder sind in einem </a:t>
            </a:r>
            <a:r>
              <a:rPr lang="de-DE" sz="1800" b="1" dirty="0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beschrieben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</a:rPr>
              <a:t>Dafür gibt es ein eigenes </a:t>
            </a:r>
            <a:r>
              <a:rPr lang="de-DE" b="1" dirty="0">
                <a:solidFill>
                  <a:srgbClr val="9E60B8"/>
                </a:solidFill>
                <a:latin typeface="Source Sans Pro" charset="0"/>
              </a:rPr>
              <a:t>Typsystem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E71D67E-13B3-751F-F3AA-68166C859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6698"/>
          <a:stretch>
            <a:fillRect/>
          </a:stretch>
        </p:blipFill>
        <p:spPr>
          <a:xfrm>
            <a:off x="542792" y="2061471"/>
            <a:ext cx="1701337" cy="143388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ECF8E93-21C7-F9B5-BB63-028D5D95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180" r="15040" b="194"/>
          <a:stretch>
            <a:fillRect/>
          </a:stretch>
        </p:blipFill>
        <p:spPr>
          <a:xfrm>
            <a:off x="3979834" y="2061471"/>
            <a:ext cx="1445448" cy="123257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F62F6FA-1944-A4EB-754A-BD7EBA34E3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24" r="15040" b="28758"/>
          <a:stretch>
            <a:fillRect/>
          </a:stretch>
        </p:blipFill>
        <p:spPr>
          <a:xfrm>
            <a:off x="2405161" y="2072909"/>
            <a:ext cx="1445448" cy="154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75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158E-9D0E-2233-B737-B1F4161E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C187716-68B0-41F1-2813-91C623A78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2BF34840-346C-792D-9C72-AAB1A73495B8}"/>
              </a:ext>
            </a:extLst>
          </p:cNvPr>
          <p:cNvCxnSpPr>
            <a:cxnSpLocks/>
          </p:cNvCxnSpPr>
          <p:nvPr/>
        </p:nvCxnSpPr>
        <p:spPr>
          <a:xfrm>
            <a:off x="6595855" y="2014803"/>
            <a:ext cx="113703" cy="324636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2440E50F-1A9A-939C-28B7-739F3518A7ED}"/>
              </a:ext>
            </a:extLst>
          </p:cNvPr>
          <p:cNvSpPr/>
          <p:nvPr/>
        </p:nvSpPr>
        <p:spPr>
          <a:xfrm>
            <a:off x="6229776" y="1764583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endParaRPr lang="de-DE" sz="1050" dirty="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FCF9B109-1EAE-4987-FCAB-6FD8CC66CF5A}"/>
              </a:ext>
            </a:extLst>
          </p:cNvPr>
          <p:cNvCxnSpPr>
            <a:cxnSpLocks/>
          </p:cNvCxnSpPr>
          <p:nvPr/>
        </p:nvCxnSpPr>
        <p:spPr>
          <a:xfrm flipH="1">
            <a:off x="6813226" y="1577693"/>
            <a:ext cx="656442" cy="3138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D2A58295-B292-77D2-F5AD-0B8B22C55D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98"/>
          <a:stretch/>
        </p:blipFill>
        <p:spPr>
          <a:xfrm>
            <a:off x="5700156" y="1346623"/>
            <a:ext cx="3200754" cy="324265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A4AD0F3C-F10C-64C0-DDF0-C3246AEE8DDF}"/>
              </a:ext>
            </a:extLst>
          </p:cNvPr>
          <p:cNvCxnSpPr>
            <a:cxnSpLocks/>
          </p:cNvCxnSpPr>
          <p:nvPr/>
        </p:nvCxnSpPr>
        <p:spPr>
          <a:xfrm flipH="1">
            <a:off x="7012170" y="3789679"/>
            <a:ext cx="1087847" cy="22517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BCAE6E08-E2CE-F8F5-A8F0-CCD408240219}"/>
              </a:ext>
            </a:extLst>
          </p:cNvPr>
          <p:cNvSpPr/>
          <p:nvPr/>
        </p:nvSpPr>
        <p:spPr>
          <a:xfrm>
            <a:off x="6356676" y="3887893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endParaRPr lang="de-DE" sz="1050" dirty="0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9EB37BED-2E37-F095-135F-6C1E1710CD4A}"/>
              </a:ext>
            </a:extLst>
          </p:cNvPr>
          <p:cNvCxnSpPr>
            <a:cxnSpLocks/>
          </p:cNvCxnSpPr>
          <p:nvPr/>
        </p:nvCxnSpPr>
        <p:spPr>
          <a:xfrm>
            <a:off x="6517707" y="3451012"/>
            <a:ext cx="191851" cy="43688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C8470DB1-D763-D080-EB72-C1470D98F568}"/>
              </a:ext>
            </a:extLst>
          </p:cNvPr>
          <p:cNvCxnSpPr>
            <a:cxnSpLocks/>
          </p:cNvCxnSpPr>
          <p:nvPr/>
        </p:nvCxnSpPr>
        <p:spPr>
          <a:xfrm flipH="1">
            <a:off x="7012170" y="3916637"/>
            <a:ext cx="976087" cy="913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A6E85C3D-6368-7644-9965-6E9DD0E81CA5}"/>
              </a:ext>
            </a:extLst>
          </p:cNvPr>
          <p:cNvCxnSpPr>
            <a:cxnSpLocks/>
          </p:cNvCxnSpPr>
          <p:nvPr/>
        </p:nvCxnSpPr>
        <p:spPr>
          <a:xfrm flipH="1" flipV="1">
            <a:off x="7068050" y="4014851"/>
            <a:ext cx="920207" cy="21170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611DB5D6-D14C-B723-CC50-EE40D488F14C}"/>
              </a:ext>
            </a:extLst>
          </p:cNvPr>
          <p:cNvSpPr txBox="1"/>
          <p:nvPr/>
        </p:nvSpPr>
        <p:spPr>
          <a:xfrm>
            <a:off x="375513" y="769545"/>
            <a:ext cx="7124700" cy="111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Die Objekte und Felder sind in einem </a:t>
            </a:r>
            <a:r>
              <a:rPr lang="de-DE" sz="1800" b="1" dirty="0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beschrieben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</a:rPr>
              <a:t>Dafür gibt es ein eigenes </a:t>
            </a:r>
            <a:r>
              <a:rPr lang="de-DE" b="1" dirty="0">
                <a:solidFill>
                  <a:srgbClr val="9E60B8"/>
                </a:solidFill>
                <a:latin typeface="Source Sans Pro" charset="0"/>
              </a:rPr>
              <a:t>Typsystem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6AB101-AB1F-06A8-764C-855F0CFB5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6698"/>
          <a:stretch>
            <a:fillRect/>
          </a:stretch>
        </p:blipFill>
        <p:spPr>
          <a:xfrm>
            <a:off x="542792" y="2061471"/>
            <a:ext cx="1701337" cy="143388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73CE24D-9141-CBCE-D75B-12CF2096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180" r="15040" b="194"/>
          <a:stretch>
            <a:fillRect/>
          </a:stretch>
        </p:blipFill>
        <p:spPr>
          <a:xfrm>
            <a:off x="3979834" y="2061471"/>
            <a:ext cx="1445448" cy="123257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B69A7BA-39C0-3047-F545-515BADD8FB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24" r="15040" b="28758"/>
          <a:stretch>
            <a:fillRect/>
          </a:stretch>
        </p:blipFill>
        <p:spPr>
          <a:xfrm>
            <a:off x="2405161" y="2072909"/>
            <a:ext cx="1445448" cy="154225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2C433B8-1847-860D-E3B3-327FDA6B2AA4}"/>
              </a:ext>
            </a:extLst>
          </p:cNvPr>
          <p:cNvSpPr txBox="1"/>
          <p:nvPr/>
        </p:nvSpPr>
        <p:spPr>
          <a:xfrm>
            <a:off x="423285" y="4180492"/>
            <a:ext cx="628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41719C"/>
                </a:solidFill>
                <a:latin typeface="Candara" panose="020E0502030303020204" pitchFamily="34" charset="0"/>
              </a:rPr>
              <a:t>👉 </a:t>
            </a:r>
            <a:r>
              <a:rPr lang="de-DE" b="1" i="1" dirty="0">
                <a:solidFill>
                  <a:srgbClr val="41719C"/>
                </a:solidFill>
                <a:latin typeface="Candara" panose="020E0502030303020204" pitchFamily="34" charset="0"/>
              </a:rPr>
              <a:t>Felder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sind konzeptionell </a:t>
            </a:r>
            <a:r>
              <a:rPr lang="de-DE" b="1" i="1" dirty="0">
                <a:solidFill>
                  <a:srgbClr val="B58900"/>
                </a:solidFill>
                <a:latin typeface="Candara" panose="020E0502030303020204" pitchFamily="34" charset="0"/>
              </a:rPr>
              <a:t>Funktionen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, die Werte zurückliefern</a:t>
            </a:r>
          </a:p>
        </p:txBody>
      </p:sp>
    </p:spTree>
    <p:extLst>
      <p:ext uri="{BB962C8B-B14F-4D97-AF65-F5344CB8AC3E}">
        <p14:creationId xmlns:p14="http://schemas.microsoft.com/office/powerpoint/2010/main" val="323579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E461-A49A-03E1-BB52-3D4E5C96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B137AD3-01F0-A97C-0D03-9A5E0902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8729349-0736-98DC-5EAB-1995A17B2A5B}"/>
              </a:ext>
            </a:extLst>
          </p:cNvPr>
          <p:cNvSpPr/>
          <p:nvPr/>
        </p:nvSpPr>
        <p:spPr>
          <a:xfrm>
            <a:off x="6610964" y="4494362"/>
            <a:ext cx="12324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2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48BCC9-93FB-4CF7-5BA6-B98C5E13DECE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Über eine GraphQL API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mit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Feldern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bereitgestellt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8EC873-D2FF-A405-D431-1FBD6C0CEB8A}"/>
              </a:ext>
            </a:extLst>
          </p:cNvPr>
          <p:cNvSpPr txBox="1"/>
          <p:nvPr/>
        </p:nvSpPr>
        <p:spPr>
          <a:xfrm>
            <a:off x="375513" y="769545"/>
            <a:ext cx="4445303" cy="1509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Der Graph beginnt bei einem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2B8BCD6E-A788-BAD6-5DD1-4ABBA3F3DDCE}"/>
              </a:ext>
            </a:extLst>
          </p:cNvPr>
          <p:cNvCxnSpPr>
            <a:cxnSpLocks/>
          </p:cNvCxnSpPr>
          <p:nvPr/>
        </p:nvCxnSpPr>
        <p:spPr>
          <a:xfrm>
            <a:off x="6580162" y="4494362"/>
            <a:ext cx="277838" cy="1384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87F17459-3F9D-4134-9FB1-9369ADCD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91" y="1392071"/>
            <a:ext cx="4852095" cy="33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21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5E52-8698-008B-B0B9-3AD0D6A1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B3CDDF-27FC-1122-A6F7-977D2D8D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53354A2-D962-4DB7-EED0-8F5D47F96F03}"/>
              </a:ext>
            </a:extLst>
          </p:cNvPr>
          <p:cNvSpPr/>
          <p:nvPr/>
        </p:nvSpPr>
        <p:spPr>
          <a:xfrm>
            <a:off x="6610964" y="4494362"/>
            <a:ext cx="12324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2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DC75F8-85F2-7BA8-9D8F-2F9B56754253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Über eine GraphQL API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mit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Feldern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bereitgestellt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52F1C9F-2AD5-C3FE-8D62-9D97889A8186}"/>
              </a:ext>
            </a:extLst>
          </p:cNvPr>
          <p:cNvSpPr txBox="1"/>
          <p:nvPr/>
        </p:nvSpPr>
        <p:spPr>
          <a:xfrm>
            <a:off x="375513" y="769545"/>
            <a:ext cx="4445303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Der Graph beginnt bei einem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Es gibt drei Root-Objekte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: </a:t>
            </a:r>
            <a:r>
              <a:rPr lang="de-DE" sz="1800" b="1" i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b="1" i="1" dirty="0" err="1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mutation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und </a:t>
            </a:r>
            <a:r>
              <a:rPr lang="de-DE" b="1" i="1" dirty="0" err="1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subscription</a:t>
            </a:r>
            <a:endParaRPr lang="de-DE" sz="1800" b="1" i="1" dirty="0">
              <a:solidFill>
                <a:srgbClr val="F3973B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521F002E-E4E5-9958-FA70-D897AE473F0F}"/>
              </a:ext>
            </a:extLst>
          </p:cNvPr>
          <p:cNvCxnSpPr>
            <a:cxnSpLocks/>
          </p:cNvCxnSpPr>
          <p:nvPr/>
        </p:nvCxnSpPr>
        <p:spPr>
          <a:xfrm>
            <a:off x="6580162" y="4494362"/>
            <a:ext cx="277838" cy="1384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46EE94E5-200E-8B00-6839-8BD9102F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91" y="1392071"/>
            <a:ext cx="4852095" cy="33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56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8C6C-C5A0-651E-2455-F3CF3AAE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B1A2F4E-7A47-FE11-24F1-D5A929E0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C762C4F-AE71-A721-05F1-00183FA658DC}"/>
              </a:ext>
            </a:extLst>
          </p:cNvPr>
          <p:cNvSpPr/>
          <p:nvPr/>
        </p:nvSpPr>
        <p:spPr>
          <a:xfrm>
            <a:off x="6610964" y="4494362"/>
            <a:ext cx="12324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2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206A16C-2BF2-84A9-5EA4-B20D078BADBF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Über eine GraphQL API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mit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Feldern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bereitgestellt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710A2A3-27B4-67A0-EB0A-BA79902D7DCF}"/>
              </a:ext>
            </a:extLst>
          </p:cNvPr>
          <p:cNvSpPr txBox="1"/>
          <p:nvPr/>
        </p:nvSpPr>
        <p:spPr>
          <a:xfrm>
            <a:off x="375513" y="769545"/>
            <a:ext cx="4445303" cy="317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Der Graph beginnt bei einem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Es gibt drei Root-Objekte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: </a:t>
            </a:r>
            <a:r>
              <a:rPr lang="de-DE" sz="1800" b="1" i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b="1" i="1" dirty="0" err="1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mutation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und </a:t>
            </a:r>
            <a:r>
              <a:rPr lang="de-DE" b="1" i="1" dirty="0" err="1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subscription</a:t>
            </a:r>
            <a:endParaRPr lang="de-DE" sz="1800" b="1" i="1" dirty="0">
              <a:solidFill>
                <a:srgbClr val="F3973B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Jedes Root-Objekt ist ein eigener 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Einstiegspunkt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die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Api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06F6262C-248A-92FF-EDBD-1B1C264B757D}"/>
              </a:ext>
            </a:extLst>
          </p:cNvPr>
          <p:cNvCxnSpPr>
            <a:cxnSpLocks/>
          </p:cNvCxnSpPr>
          <p:nvPr/>
        </p:nvCxnSpPr>
        <p:spPr>
          <a:xfrm>
            <a:off x="6580162" y="4494362"/>
            <a:ext cx="277838" cy="1384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EA5ABD86-AC85-9034-0736-156C21E99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91" y="1392071"/>
            <a:ext cx="4852095" cy="33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66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738006" y="1684219"/>
            <a:ext cx="3667992" cy="1396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475" b="1" dirty="0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Query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931277C-EA9A-5E39-5CE0-91B1C426CD36}"/>
              </a:ext>
            </a:extLst>
          </p:cNvPr>
          <p:cNvSpPr/>
          <p:nvPr/>
        </p:nvSpPr>
        <p:spPr>
          <a:xfrm>
            <a:off x="4029222" y="1053516"/>
            <a:ext cx="10855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40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Die</a:t>
            </a:r>
            <a:endParaRPr lang="de-DE" sz="15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E0C620-FB74-AD1C-DAF2-F53AE6422AC7}"/>
              </a:ext>
            </a:extLst>
          </p:cNvPr>
          <p:cNvSpPr/>
          <p:nvPr/>
        </p:nvSpPr>
        <p:spPr>
          <a:xfrm>
            <a:off x="2148900" y="3017255"/>
            <a:ext cx="4846198" cy="1396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475" b="1" dirty="0">
                <a:solidFill>
                  <a:srgbClr val="41719C"/>
                </a:solidFill>
                <a:latin typeface="Montserrat" charset="0"/>
                <a:ea typeface="Montserrat" charset="0"/>
                <a:cs typeface="Montserrat" charset="0"/>
              </a:rPr>
              <a:t>Sprache</a:t>
            </a:r>
            <a:endParaRPr lang="de-DE" sz="1500" b="1" dirty="0">
              <a:solidFill>
                <a:srgbClr val="41719C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59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D16FD85F-5555-B2CD-9F58-7CBD04147D41}"/>
              </a:ext>
            </a:extLst>
          </p:cNvPr>
          <p:cNvCxnSpPr>
            <a:cxnSpLocks/>
          </p:cNvCxnSpPr>
          <p:nvPr/>
        </p:nvCxnSpPr>
        <p:spPr>
          <a:xfrm>
            <a:off x="6595855" y="2014803"/>
            <a:ext cx="113703" cy="324636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F2C4F124-DABF-9366-F737-8A986EEEFC4B}"/>
              </a:ext>
            </a:extLst>
          </p:cNvPr>
          <p:cNvSpPr/>
          <p:nvPr/>
        </p:nvSpPr>
        <p:spPr>
          <a:xfrm>
            <a:off x="6229776" y="1764583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endParaRPr lang="de-DE" sz="105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3726590E-51B4-D64C-7AE0-E819A4ED143C}"/>
              </a:ext>
            </a:extLst>
          </p:cNvPr>
          <p:cNvCxnSpPr>
            <a:cxnSpLocks/>
          </p:cNvCxnSpPr>
          <p:nvPr/>
        </p:nvCxnSpPr>
        <p:spPr>
          <a:xfrm flipH="1">
            <a:off x="6813226" y="1577693"/>
            <a:ext cx="656442" cy="3138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4B09B567-3730-55A1-71B0-8CEDC352EC09}"/>
              </a:ext>
            </a:extLst>
          </p:cNvPr>
          <p:cNvCxnSpPr>
            <a:cxnSpLocks/>
          </p:cNvCxnSpPr>
          <p:nvPr/>
        </p:nvCxnSpPr>
        <p:spPr>
          <a:xfrm flipH="1">
            <a:off x="7012170" y="3789679"/>
            <a:ext cx="1087847" cy="22517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6719AE94-931A-624E-CD46-CE31171B4F74}"/>
              </a:ext>
            </a:extLst>
          </p:cNvPr>
          <p:cNvSpPr/>
          <p:nvPr/>
        </p:nvSpPr>
        <p:spPr>
          <a:xfrm>
            <a:off x="6356676" y="3887893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endParaRPr lang="de-DE" sz="1050" dirty="0"/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DAE8E139-D008-1911-1277-384E361D500C}"/>
              </a:ext>
            </a:extLst>
          </p:cNvPr>
          <p:cNvCxnSpPr>
            <a:cxnSpLocks/>
          </p:cNvCxnSpPr>
          <p:nvPr/>
        </p:nvCxnSpPr>
        <p:spPr>
          <a:xfrm>
            <a:off x="6517707" y="3451012"/>
            <a:ext cx="191851" cy="43688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2C6D1A44-4425-2C23-7798-FCEBE6B463F8}"/>
              </a:ext>
            </a:extLst>
          </p:cNvPr>
          <p:cNvCxnSpPr>
            <a:cxnSpLocks/>
          </p:cNvCxnSpPr>
          <p:nvPr/>
        </p:nvCxnSpPr>
        <p:spPr>
          <a:xfrm flipH="1">
            <a:off x="7012170" y="3916637"/>
            <a:ext cx="976087" cy="9139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DBC95D6D-F7E7-4617-09DB-E0E8691EC1BC}"/>
              </a:ext>
            </a:extLst>
          </p:cNvPr>
          <p:cNvCxnSpPr>
            <a:cxnSpLocks/>
          </p:cNvCxnSpPr>
          <p:nvPr/>
        </p:nvCxnSpPr>
        <p:spPr>
          <a:xfrm flipH="1" flipV="1">
            <a:off x="7068050" y="4014851"/>
            <a:ext cx="920207" cy="211709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2C6DA27A-ECF6-862F-8794-295DAE2C5802}"/>
              </a:ext>
            </a:extLst>
          </p:cNvPr>
          <p:cNvSpPr txBox="1"/>
          <p:nvPr/>
        </p:nvSpPr>
        <p:spPr>
          <a:xfrm>
            <a:off x="375513" y="769545"/>
            <a:ext cx="7124700" cy="734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</a:t>
            </a:r>
            <a:r>
              <a:rPr lang="de-DE" b="1" i="1" dirty="0">
                <a:solidFill>
                  <a:srgbClr val="9E60B8"/>
                </a:solidFill>
                <a:latin typeface="Source Sans Pro" charset="0"/>
              </a:rPr>
              <a:t>Query-Sprache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werden aus dem Graphen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ausgewählt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B0EB880-9B34-DED6-48D0-939E56C9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43" y="1346623"/>
            <a:ext cx="5088467" cy="324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53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2957A20-5905-A579-42A7-70E67184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43" y="1346623"/>
            <a:ext cx="5088467" cy="3242651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147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Der Query beginnt bei dem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Root-Objekt...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0FA62AA-9665-3EBC-ABFD-E1B3ED26AEC5}"/>
              </a:ext>
            </a:extLst>
          </p:cNvPr>
          <p:cNvSpPr/>
          <p:nvPr/>
        </p:nvSpPr>
        <p:spPr>
          <a:xfrm>
            <a:off x="4248811" y="2872691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CDA152A-87D7-E7CF-8645-DA5459580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12" t="39951" r="82069" b="43631"/>
          <a:stretch>
            <a:fillRect/>
          </a:stretch>
        </p:blipFill>
        <p:spPr>
          <a:xfrm>
            <a:off x="2316750" y="2667697"/>
            <a:ext cx="1277509" cy="54346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E65AB77-D00B-F4D0-0EAF-8801EBD17565}"/>
              </a:ext>
            </a:extLst>
          </p:cNvPr>
          <p:cNvSpPr txBox="1"/>
          <p:nvPr/>
        </p:nvSpPr>
        <p:spPr>
          <a:xfrm>
            <a:off x="84570" y="4135957"/>
            <a:ext cx="7237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                              }</a:t>
            </a:r>
          </a:p>
        </p:txBody>
      </p:sp>
    </p:spTree>
    <p:extLst>
      <p:ext uri="{BB962C8B-B14F-4D97-AF65-F5344CB8AC3E}">
        <p14:creationId xmlns:p14="http://schemas.microsoft.com/office/powerpoint/2010/main" val="3099741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C23D-42B8-DD3B-A478-A1DBA37A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2153646-DD07-0B29-D5A2-EDAFE45A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EACBCF0-B713-05D7-7649-F4A067F6C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43" y="1346623"/>
            <a:ext cx="5088467" cy="3242651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8A022D66-37F0-B277-2B67-B623818AA509}"/>
              </a:ext>
            </a:extLst>
          </p:cNvPr>
          <p:cNvSpPr txBox="1"/>
          <p:nvPr/>
        </p:nvSpPr>
        <p:spPr>
          <a:xfrm>
            <a:off x="375513" y="769545"/>
            <a:ext cx="7124700" cy="219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Der Query beginnt bei dem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Root-Objekt...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...folgt dann den Pfaden, die im Schema definiert sind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AAD5A7A-B06D-0A24-7B32-290EFEF2BA09}"/>
              </a:ext>
            </a:extLst>
          </p:cNvPr>
          <p:cNvSpPr/>
          <p:nvPr/>
        </p:nvSpPr>
        <p:spPr>
          <a:xfrm>
            <a:off x="4248811" y="2872691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E4112EB-7108-69E1-B53E-D7DE996C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12" t="39951" r="82069" b="43631"/>
          <a:stretch>
            <a:fillRect/>
          </a:stretch>
        </p:blipFill>
        <p:spPr>
          <a:xfrm>
            <a:off x="2316750" y="2667697"/>
            <a:ext cx="1277509" cy="54346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076034C-CB44-2963-7BC9-84989C488158}"/>
              </a:ext>
            </a:extLst>
          </p:cNvPr>
          <p:cNvSpPr txBox="1"/>
          <p:nvPr/>
        </p:nvSpPr>
        <p:spPr>
          <a:xfrm>
            <a:off x="84570" y="4135957"/>
            <a:ext cx="7237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sz="2000" b="1" dirty="0" err="1">
                <a:solidFill>
                  <a:srgbClr val="5493CB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beers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                     }</a:t>
            </a:r>
          </a:p>
        </p:txBody>
      </p:sp>
    </p:spTree>
    <p:extLst>
      <p:ext uri="{BB962C8B-B14F-4D97-AF65-F5344CB8AC3E}">
        <p14:creationId xmlns:p14="http://schemas.microsoft.com/office/powerpoint/2010/main" val="2549867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6665-63C8-DB95-BCE0-981DBEB6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8CF3EFC-5C74-0CD0-D85A-DDC910AE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F531717-51E5-0C0D-B955-D7059252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43" y="1346623"/>
            <a:ext cx="5088467" cy="3242651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55A311F6-0C20-AB05-79CD-89E081E360BE}"/>
              </a:ext>
            </a:extLst>
          </p:cNvPr>
          <p:cNvSpPr txBox="1"/>
          <p:nvPr/>
        </p:nvSpPr>
        <p:spPr>
          <a:xfrm>
            <a:off x="375513" y="769545"/>
            <a:ext cx="7124700" cy="219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Der Query beginnt bei dem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Root-Objekt...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...folgt dann den Pfaden, die im Schema definiert sind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...bis zu den 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“Blättern“ (Werte)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F6510BA-DAD7-0FA1-5884-47AAC10BBF68}"/>
              </a:ext>
            </a:extLst>
          </p:cNvPr>
          <p:cNvSpPr txBox="1"/>
          <p:nvPr/>
        </p:nvSpPr>
        <p:spPr>
          <a:xfrm>
            <a:off x="84570" y="4135957"/>
            <a:ext cx="7237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sz="2000" b="1" dirty="0" err="1">
                <a:solidFill>
                  <a:srgbClr val="5493CB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beers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sz="2000" b="1" dirty="0" err="1">
                <a:solidFill>
                  <a:srgbClr val="57B98F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ratings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sz="2000" dirty="0" err="1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comment</a:t>
            </a:r>
            <a:r>
              <a:rPr lang="de-DE" sz="2000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} } }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911980F-0229-8EBC-B14C-85D2A4B8FE9D}"/>
              </a:ext>
            </a:extLst>
          </p:cNvPr>
          <p:cNvSpPr/>
          <p:nvPr/>
        </p:nvSpPr>
        <p:spPr>
          <a:xfrm>
            <a:off x="4248811" y="2872691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1A376E7-CCE1-BC14-E9DF-10A6ED1187B8}"/>
              </a:ext>
            </a:extLst>
          </p:cNvPr>
          <p:cNvSpPr/>
          <p:nvPr/>
        </p:nvSpPr>
        <p:spPr>
          <a:xfrm>
            <a:off x="5999816" y="2991273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49A6BB-0F59-8788-972A-D6DD48932C53}"/>
              </a:ext>
            </a:extLst>
          </p:cNvPr>
          <p:cNvSpPr/>
          <p:nvPr/>
        </p:nvSpPr>
        <p:spPr>
          <a:xfrm>
            <a:off x="7820964" y="2138939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CBB85DD-2D50-DFF3-E66C-3993A0200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12" t="39951" r="82069" b="43631"/>
          <a:stretch>
            <a:fillRect/>
          </a:stretch>
        </p:blipFill>
        <p:spPr>
          <a:xfrm>
            <a:off x="2316750" y="2667697"/>
            <a:ext cx="1277509" cy="54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16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2957A20-5905-A579-42A7-70E67184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43" y="1346623"/>
            <a:ext cx="5088467" cy="3242651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147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Mit der Query-Sprache werden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von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Objekten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Alle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starten an einem speziellen 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Man kann nur Pfaden folgen, 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die im Schema definiert sind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Andere "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joins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" sind nich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 möglich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3FD95F84-6362-C08B-76EC-2554AF88291E}"/>
              </a:ext>
            </a:extLst>
          </p:cNvPr>
          <p:cNvSpPr txBox="1"/>
          <p:nvPr/>
        </p:nvSpPr>
        <p:spPr>
          <a:xfrm>
            <a:off x="-1414732" y="396151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b="1" dirty="0" err="1">
                <a:solidFill>
                  <a:srgbClr val="FF0000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shops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dirty="0" err="1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id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} }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A079A66-6523-8965-778E-98E4101F4B7F}"/>
              </a:ext>
            </a:extLst>
          </p:cNvPr>
          <p:cNvSpPr txBox="1"/>
          <p:nvPr/>
        </p:nvSpPr>
        <p:spPr>
          <a:xfrm>
            <a:off x="2806559" y="37448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⚡️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72867A5-EE03-BD18-FDD5-8664B9737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12" t="39951" r="82069" b="43631"/>
          <a:stretch>
            <a:fillRect/>
          </a:stretch>
        </p:blipFill>
        <p:spPr>
          <a:xfrm>
            <a:off x="2316750" y="2667697"/>
            <a:ext cx="1277509" cy="54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39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57250" y="3620948"/>
            <a:ext cx="74295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5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Demo: Query-Sprache</a:t>
            </a:r>
            <a:endParaRPr lang="de-DE" sz="788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de-DE" sz="1200" cap="none" spc="75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81EBB7C-05C8-0648-BCF1-9871337B9D1E}"/>
              </a:ext>
            </a:extLst>
          </p:cNvPr>
          <p:cNvSpPr/>
          <p:nvPr/>
        </p:nvSpPr>
        <p:spPr>
          <a:xfrm>
            <a:off x="5895354" y="4278821"/>
            <a:ext cx="203292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900" dirty="0">
                <a:solidFill>
                  <a:srgbClr val="41719C"/>
                </a:solidFill>
                <a:latin typeface="Helvetica Neue" panose="02000503000000020004" pitchFamily="2" charset="0"/>
              </a:rPr>
              <a:t>https://</a:t>
            </a:r>
            <a:r>
              <a:rPr lang="de-DE" sz="900" dirty="0" err="1">
                <a:solidFill>
                  <a:srgbClr val="41719C"/>
                </a:solidFill>
                <a:latin typeface="Helvetica Neue" panose="02000503000000020004" pitchFamily="2" charset="0"/>
              </a:rPr>
              <a:t>github.com</a:t>
            </a:r>
            <a:r>
              <a:rPr lang="de-DE" sz="900" dirty="0">
                <a:solidFill>
                  <a:srgbClr val="41719C"/>
                </a:solidFill>
                <a:latin typeface="Helvetica Neue" panose="02000503000000020004" pitchFamily="2" charset="0"/>
              </a:rPr>
              <a:t>/</a:t>
            </a:r>
            <a:r>
              <a:rPr lang="de-DE" sz="900" dirty="0" err="1">
                <a:solidFill>
                  <a:srgbClr val="41719C"/>
                </a:solidFill>
                <a:latin typeface="Helvetica Neue" panose="02000503000000020004" pitchFamily="2" charset="0"/>
              </a:rPr>
              <a:t>graphql</a:t>
            </a:r>
            <a:r>
              <a:rPr lang="de-DE" sz="900" dirty="0">
                <a:solidFill>
                  <a:srgbClr val="41719C"/>
                </a:solidFill>
                <a:latin typeface="Helvetica Neue" panose="02000503000000020004" pitchFamily="2" charset="0"/>
              </a:rPr>
              <a:t>/</a:t>
            </a:r>
            <a:r>
              <a:rPr lang="de-DE" sz="900" dirty="0" err="1">
                <a:solidFill>
                  <a:srgbClr val="41719C"/>
                </a:solidFill>
                <a:latin typeface="Helvetica Neue" panose="02000503000000020004" pitchFamily="2" charset="0"/>
              </a:rPr>
              <a:t>graphiql</a:t>
            </a:r>
            <a:endParaRPr lang="de-DE" sz="900" dirty="0">
              <a:solidFill>
                <a:srgbClr val="41719C"/>
              </a:solidFill>
              <a:latin typeface="Helvetica Neue" panose="02000503000000020004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0591970-9F12-CA41-A298-DE66E14807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928"/>
          <a:stretch/>
        </p:blipFill>
        <p:spPr>
          <a:xfrm>
            <a:off x="2719145" y="430670"/>
            <a:ext cx="3705711" cy="2861342"/>
          </a:xfrm>
          <a:prstGeom prst="rect">
            <a:avLst/>
          </a:prstGeom>
          <a:ln w="6350" cap="rnd">
            <a:solidFill>
              <a:schemeClr val="bg1">
                <a:lumMod val="50000"/>
              </a:schemeClr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>
            <a:contourClr>
              <a:srgbClr val="C0C0C0"/>
            </a:contourClr>
          </a:sp3d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C02CD7F-B82C-0AD5-E20C-03053A182637}"/>
              </a:ext>
            </a:extLst>
          </p:cNvPr>
          <p:cNvSpPr txBox="1"/>
          <p:nvPr/>
        </p:nvSpPr>
        <p:spPr>
          <a:xfrm>
            <a:off x="6506850" y="1919500"/>
            <a:ext cx="1906527" cy="1451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Ein Query</a:t>
            </a: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Mutation</a:t>
            </a: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</a:t>
            </a:r>
            <a:r>
              <a:rPr lang="de-DE" sz="1200" dirty="0" err="1">
                <a:solidFill>
                  <a:srgbClr val="025249"/>
                </a:solidFill>
              </a:rPr>
              <a:t>Subscription</a:t>
            </a:r>
            <a:endParaRPr lang="de-DE" sz="1200" dirty="0">
              <a:solidFill>
                <a:srgbClr val="025249"/>
              </a:solidFill>
            </a:endParaRP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Dokumentation</a:t>
            </a: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Netzwerkverkehr (evtl.)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AF2A3E5-8E7D-C153-04B6-DC54C6A54CBA}"/>
              </a:ext>
            </a:extLst>
          </p:cNvPr>
          <p:cNvSpPr/>
          <p:nvPr/>
        </p:nvSpPr>
        <p:spPr>
          <a:xfrm>
            <a:off x="0" y="4539020"/>
            <a:ext cx="9144000" cy="6162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</p:spTree>
    <p:extLst>
      <p:ext uri="{BB962C8B-B14F-4D97-AF65-F5344CB8AC3E}">
        <p14:creationId xmlns:p14="http://schemas.microsoft.com/office/powerpoint/2010/main" val="1402366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FC4F-0F76-DF23-4853-71DFDDD4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62D44-B113-6578-77F0-FFEAD41F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Schema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BD0585-A169-728F-E4CF-4581496D04D1}"/>
              </a:ext>
            </a:extLst>
          </p:cNvPr>
          <p:cNvSpPr txBox="1"/>
          <p:nvPr/>
        </p:nvSpPr>
        <p:spPr>
          <a:xfrm>
            <a:off x="210312" y="769546"/>
            <a:ext cx="8805672" cy="148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Das Schema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gibt nur </a:t>
            </a:r>
            <a:r>
              <a:rPr lang="de-DE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Version</a:t>
            </a:r>
          </a:p>
          <a:p>
            <a:pPr>
              <a:lnSpc>
                <a:spcPct val="120000"/>
              </a:lnSpc>
            </a:pPr>
            <a:br>
              <a:rPr lang="de-DE" i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</a:br>
            <a:endParaRPr lang="de-DE" i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426191B-70CC-A330-693F-A32BEAC33E70}"/>
              </a:ext>
            </a:extLst>
          </p:cNvPr>
          <p:cNvSpPr txBox="1"/>
          <p:nvPr/>
        </p:nvSpPr>
        <p:spPr>
          <a:xfrm>
            <a:off x="390837" y="2571750"/>
            <a:ext cx="2561913" cy="16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name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price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Int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type: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BeerType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created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DateTime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096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5260F-823E-E6F3-FABC-97FD7892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03D08-CABF-2FDD-87A0-C1262C027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Schema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D1DC068-7374-7674-E517-E4D635C801BD}"/>
              </a:ext>
            </a:extLst>
          </p:cNvPr>
          <p:cNvSpPr txBox="1"/>
          <p:nvPr/>
        </p:nvSpPr>
        <p:spPr>
          <a:xfrm>
            <a:off x="210312" y="769546"/>
            <a:ext cx="8805672" cy="2229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Das Schema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gibt nur </a:t>
            </a:r>
            <a:r>
              <a:rPr lang="de-DE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Version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 kann jederzeit erweitert werden, ohne bestehende Clients zu beeinflussen</a:t>
            </a:r>
          </a:p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	</a:t>
            </a:r>
          </a:p>
          <a:p>
            <a:pPr>
              <a:lnSpc>
                <a:spcPct val="120000"/>
              </a:lnSpc>
            </a:pPr>
            <a:br>
              <a:rPr lang="de-DE" i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</a:br>
            <a:endParaRPr lang="de-DE" i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F57DF8B-0A99-D7E4-7B65-9B4B903A0548}"/>
              </a:ext>
            </a:extLst>
          </p:cNvPr>
          <p:cNvSpPr txBox="1"/>
          <p:nvPr/>
        </p:nvSpPr>
        <p:spPr>
          <a:xfrm>
            <a:off x="390837" y="2571750"/>
            <a:ext cx="2561913" cy="16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name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price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Int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type: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BeerType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created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DateTime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A44021-CA1B-9365-C359-89D3CD8F6D42}"/>
              </a:ext>
            </a:extLst>
          </p:cNvPr>
          <p:cNvSpPr txBox="1"/>
          <p:nvPr/>
        </p:nvSpPr>
        <p:spPr>
          <a:xfrm>
            <a:off x="4437458" y="2571750"/>
            <a:ext cx="2561913" cy="2004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name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price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Int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type: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BeerType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created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DateTime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b="1" dirty="0" err="1">
                <a:solidFill>
                  <a:srgbClr val="025249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ratings</a:t>
            </a:r>
            <a:r>
              <a:rPr lang="de-DE" sz="1151" b="1" dirty="0">
                <a:solidFill>
                  <a:srgbClr val="025249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: </a:t>
            </a:r>
            <a:r>
              <a:rPr lang="de-DE" sz="1151" b="1" dirty="0">
                <a:solidFill>
                  <a:srgbClr val="9E60B8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[Rating!]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FB4177B-0851-90BB-B336-DE9EBDA32FAF}"/>
              </a:ext>
            </a:extLst>
          </p:cNvPr>
          <p:cNvSpPr txBox="1"/>
          <p:nvPr/>
        </p:nvSpPr>
        <p:spPr>
          <a:xfrm>
            <a:off x="6999371" y="2571750"/>
            <a:ext cx="1945963" cy="10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b="1" dirty="0">
                <a:solidFill>
                  <a:srgbClr val="41719C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type</a:t>
            </a:r>
            <a:r>
              <a:rPr lang="de-DE" sz="1151" b="1" dirty="0">
                <a:solidFill>
                  <a:srgbClr val="025249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 </a:t>
            </a:r>
            <a:r>
              <a:rPr lang="de-DE" sz="1151" b="1" dirty="0">
                <a:solidFill>
                  <a:srgbClr val="9E60B8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Rating</a:t>
            </a:r>
            <a:r>
              <a:rPr lang="de-DE" sz="1151" b="1" dirty="0">
                <a:solidFill>
                  <a:srgbClr val="025249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comment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likes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 err="1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Int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11BA7BD-D2DC-6F5F-A4CD-4DB5274E15B9}"/>
              </a:ext>
            </a:extLst>
          </p:cNvPr>
          <p:cNvCxnSpPr>
            <a:cxnSpLocks/>
          </p:cNvCxnSpPr>
          <p:nvPr/>
        </p:nvCxnSpPr>
        <p:spPr>
          <a:xfrm>
            <a:off x="2727158" y="3308350"/>
            <a:ext cx="164431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1F7E977-91E0-583C-6BC0-7C1867E53C05}"/>
              </a:ext>
            </a:extLst>
          </p:cNvPr>
          <p:cNvSpPr txBox="1"/>
          <p:nvPr/>
        </p:nvSpPr>
        <p:spPr>
          <a:xfrm>
            <a:off x="2994610" y="2939018"/>
            <a:ext cx="1063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25249"/>
                </a:solidFill>
              </a:rPr>
              <a:t>Evolution</a:t>
            </a:r>
          </a:p>
        </p:txBody>
      </p:sp>
    </p:spTree>
    <p:extLst>
      <p:ext uri="{BB962C8B-B14F-4D97-AF65-F5344CB8AC3E}">
        <p14:creationId xmlns:p14="http://schemas.microsoft.com/office/powerpoint/2010/main" val="330134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2DE9FD7-5021-0141-BF40-82CD97A82C57}"/>
              </a:ext>
            </a:extLst>
          </p:cNvPr>
          <p:cNvSpPr/>
          <p:nvPr/>
        </p:nvSpPr>
        <p:spPr>
          <a:xfrm>
            <a:off x="2410992" y="606637"/>
            <a:ext cx="4322016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5400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  <a:endParaRPr lang="de-DE" sz="66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  <a:p>
            <a:pPr algn="ctr"/>
            <a:r>
              <a:rPr lang="de-DE" sz="9600" b="1" dirty="0">
                <a:solidFill>
                  <a:srgbClr val="41719C"/>
                </a:solidFill>
                <a:latin typeface="Montserrat" charset="0"/>
                <a:ea typeface="Montserrat" charset="0"/>
                <a:cs typeface="Montserrat" charset="0"/>
              </a:rPr>
              <a:t>Server</a:t>
            </a:r>
            <a:endParaRPr lang="de-DE" sz="1200" b="1" dirty="0">
              <a:solidFill>
                <a:srgbClr val="41719C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6D82C1C-A6F3-294E-98ED-11282ACE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0AA6175-1410-66E4-DB9A-6311ABFC2128}"/>
              </a:ext>
            </a:extLst>
          </p:cNvPr>
          <p:cNvSpPr/>
          <p:nvPr/>
        </p:nvSpPr>
        <p:spPr>
          <a:xfrm>
            <a:off x="565940" y="3007294"/>
            <a:ext cx="80121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6600" b="1" dirty="0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Implementierung</a:t>
            </a:r>
          </a:p>
        </p:txBody>
      </p:sp>
    </p:spTree>
    <p:extLst>
      <p:ext uri="{BB962C8B-B14F-4D97-AF65-F5344CB8AC3E}">
        <p14:creationId xmlns:p14="http://schemas.microsoft.com/office/powerpoint/2010/main" val="559142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APIs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23CF60-C470-BF48-ABB2-ABC1F0C0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83" y="2667000"/>
            <a:ext cx="5201435" cy="217038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743EC23-C6CC-0F42-BC1A-1E74FCD7E3B9}"/>
              </a:ext>
            </a:extLst>
          </p:cNvPr>
          <p:cNvSpPr txBox="1"/>
          <p:nvPr/>
        </p:nvSpPr>
        <p:spPr>
          <a:xfrm>
            <a:off x="1009650" y="769545"/>
            <a:ext cx="7124700" cy="107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macht keine Aussage, wo die Daten herkommen</a:t>
            </a:r>
          </a:p>
          <a:p>
            <a:pPr>
              <a:lnSpc>
                <a:spcPct val="12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</a:t>
            </a:r>
            <a:r>
              <a:rPr lang="de-DE" sz="1800" i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Ermittlung der Daten ist unsere Aufgabe</a:t>
            </a:r>
          </a:p>
          <a:p>
            <a:pPr>
              <a:lnSpc>
                <a:spcPct val="12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</a:t>
            </a:r>
            <a:r>
              <a:rPr lang="de-DE" sz="1800" i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Müssen nicht aus einer Datenbank kommen</a:t>
            </a:r>
          </a:p>
        </p:txBody>
      </p:sp>
    </p:spTree>
    <p:extLst>
      <p:ext uri="{BB962C8B-B14F-4D97-AF65-F5344CB8AC3E}">
        <p14:creationId xmlns:p14="http://schemas.microsoft.com/office/powerpoint/2010/main" val="3449793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1AE1A0-415F-DBCD-A9D7-5ABE470136F6}"/>
              </a:ext>
            </a:extLst>
          </p:cNvPr>
          <p:cNvSpPr txBox="1"/>
          <p:nvPr/>
        </p:nvSpPr>
        <p:spPr>
          <a:xfrm>
            <a:off x="375513" y="769545"/>
            <a:ext cx="8307054" cy="173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Implementieren von GraphQL APIs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 der Regel muss man die Logik selbst implementieren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gibt Frameworks für fast alle Programmiersprachen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020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1AE1A0-415F-DBCD-A9D7-5ABE470136F6}"/>
              </a:ext>
            </a:extLst>
          </p:cNvPr>
          <p:cNvSpPr txBox="1"/>
          <p:nvPr/>
        </p:nvSpPr>
        <p:spPr>
          <a:xfrm>
            <a:off x="375513" y="769545"/>
            <a:ext cx="8307054" cy="2063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Die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Spec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schreibt nicht vor, wie eine GraphQL Implementierung aussehen muss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gibt aber deutliche Hinweise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Fast alle Frameworks arbeiten danach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178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DEBD-80A9-EA3E-1B11-93F7A88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C5B7EC-E62F-51E9-4A26-CB82ED95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9135C69-E79B-E02E-CA96-C66D9229774E}"/>
              </a:ext>
            </a:extLst>
          </p:cNvPr>
          <p:cNvSpPr txBox="1"/>
          <p:nvPr/>
        </p:nvSpPr>
        <p:spPr>
          <a:xfrm>
            <a:off x="375513" y="769545"/>
            <a:ext cx="8307054" cy="1426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53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FA95-7939-D4A4-AFFB-C2818FF4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CDED8-EFF8-132E-9951-A0CEB6AF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ACC9BBA-DB7A-DEBA-D373-145658B552AA}"/>
              </a:ext>
            </a:extLst>
          </p:cNvPr>
          <p:cNvSpPr txBox="1"/>
          <p:nvPr/>
        </p:nvSpPr>
        <p:spPr>
          <a:xfrm>
            <a:off x="375513" y="769545"/>
            <a:ext cx="8307054" cy="145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63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D910-36F6-1D3D-7D20-CBF3C14D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F793E-91A9-58F0-9BBF-1174C779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44F89FF-7525-5E4D-7BE0-50D44E48DA6C}"/>
              </a:ext>
            </a:extLst>
          </p:cNvPr>
          <p:cNvSpPr txBox="1"/>
          <p:nvPr/>
        </p:nvSpPr>
        <p:spPr>
          <a:xfrm>
            <a:off x="375513" y="769545"/>
            <a:ext cx="8307054" cy="1814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63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531B-B4DA-A591-765D-16CBF8BA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2104D-8E3D-8067-A624-5FDB45A3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6903BF9-4903-EADD-7B7D-D2BF1D6D9864}"/>
              </a:ext>
            </a:extLst>
          </p:cNvPr>
          <p:cNvSpPr txBox="1"/>
          <p:nvPr/>
        </p:nvSpPr>
        <p:spPr>
          <a:xfrm>
            <a:off x="375513" y="769545"/>
            <a:ext cx="8307054" cy="2506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Für alle Felder werden die entsprechenden Resolver-Funktionen aufgerufen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26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F231-3BEB-8C09-691F-936270CB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78357-3303-128B-4936-47BEFC65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AE9AA75-C77D-CD17-BB1D-3FED0E487FC2}"/>
              </a:ext>
            </a:extLst>
          </p:cNvPr>
          <p:cNvSpPr txBox="1"/>
          <p:nvPr/>
        </p:nvSpPr>
        <p:spPr>
          <a:xfrm>
            <a:off x="375513" y="769545"/>
            <a:ext cx="8307054" cy="2867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Für alle Felder werden die entsprechenden Resolver-Funktionen aufgerufen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Die Resolver-Funktionen ermitteln die Daten für ein Feld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68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0D94-9C38-786D-DE19-C6C1BCD6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60125-E266-5EB1-F969-208DFF08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BC6B6D-262E-8F48-5FAE-8989FDB414B8}"/>
              </a:ext>
            </a:extLst>
          </p:cNvPr>
          <p:cNvSpPr txBox="1"/>
          <p:nvPr/>
        </p:nvSpPr>
        <p:spPr>
          <a:xfrm>
            <a:off x="375513" y="769545"/>
            <a:ext cx="8307054" cy="3227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Für alle Felder werden die entsprechenden Resolver-Funktionen aufgerufen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Die Resolver-Funktionen ermitteln die Daten für ein Feld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validiert die ermittelten Daten (Schema)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791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8AEBD-925A-197D-9CF6-AAE451F7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276D8-DD64-6757-DBD7-1101899F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8FF7934-6B7E-154F-F41B-751092512030}"/>
              </a:ext>
            </a:extLst>
          </p:cNvPr>
          <p:cNvSpPr txBox="1"/>
          <p:nvPr/>
        </p:nvSpPr>
        <p:spPr>
          <a:xfrm>
            <a:off x="375513" y="769545"/>
            <a:ext cx="8307054" cy="3919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Für alle Felder werden die entsprechenden Resolver-Funktionen aufgerufen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Die Resolver-Funktionen ermitteln die Daten für ein Feld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validiert die ermittelten Daten (Schema)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erzeugt das Antwort-Objekt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74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8A734-1A0A-A8C6-9192-09EBC336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AB248-1ED4-9AF7-11A4-AE83D42E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BA3A521-BD2B-654D-77B7-6608E50A14FC}"/>
              </a:ext>
            </a:extLst>
          </p:cNvPr>
          <p:cNvSpPr txBox="1"/>
          <p:nvPr/>
        </p:nvSpPr>
        <p:spPr>
          <a:xfrm>
            <a:off x="375513" y="769545"/>
            <a:ext cx="8307054" cy="494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Für alle Felder werden die entsprechenden Resolver-Funktionen aufgerufen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Die Resolver-Funktionen ermitteln die Daten für ein Feld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validiert die ermittelten Daten (Schema)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erzeugt das Antwort-Objekt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Die Antwort wird an den Client gesendet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689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E141-B356-B4FD-9BA8-A51D90C4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0C327-F07A-08E7-F9B6-7D44C5D5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3760406-1EA0-12DA-B293-75B619375620}"/>
              </a:ext>
            </a:extLst>
          </p:cNvPr>
          <p:cNvSpPr txBox="1"/>
          <p:nvPr/>
        </p:nvSpPr>
        <p:spPr>
          <a:xfrm>
            <a:off x="375513" y="769545"/>
            <a:ext cx="8307054" cy="5276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Ablauf (stark vereinfacht)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HTTP Request mit Anfrage kommt an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 validiert das Dokument mit der Anfrage (Syntax und 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Ungültige Dokumente werden abgewiesen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Für alle Felder werden die entsprechenden Resolver-Funktionen aufgerufen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Die Resolver-Funktionen ermitteln die Daten für ein Feld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validiert die ermittelten Daten (Schema)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Framework erzeugt das Antwort-Objekt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Die Antwort wird an den Client gesendet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Die Definition des Schemas ist </a:t>
            </a:r>
            <a:r>
              <a:rPr lang="de-DE" b="1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unsere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Aufgabe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Die Implementierung der Resolver-Funktionen ist </a:t>
            </a:r>
            <a:r>
              <a:rPr lang="de-DE" b="1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unsere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Aufgabe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897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4A39C22-1142-A011-E1A5-72C55AC45800}"/>
              </a:ext>
            </a:extLst>
          </p:cNvPr>
          <p:cNvSpPr/>
          <p:nvPr/>
        </p:nvSpPr>
        <p:spPr>
          <a:xfrm>
            <a:off x="0" y="0"/>
            <a:ext cx="9144000" cy="6162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D4EBE9"/>
                </a:solidFill>
              </a:rPr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1AE1A0-415F-DBCD-A9D7-5ABE470136F6}"/>
              </a:ext>
            </a:extLst>
          </p:cNvPr>
          <p:cNvSpPr txBox="1"/>
          <p:nvPr/>
        </p:nvSpPr>
        <p:spPr>
          <a:xfrm>
            <a:off x="375513" y="769545"/>
            <a:ext cx="8307054" cy="3614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Live Beispiel : Schema + Resolver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workspace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-Verzeichnis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schritt_01: initiales Schema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schritt_02: initiale Resolver-Funktionen (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BeerAdvisorGraphQlController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67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D3FD3-2B52-FA2E-63EA-587C5617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7B634-CEF1-8141-FE1A-2B3685A3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Queries</a:t>
            </a:r>
            <a:r>
              <a:rPr lang="de-DE" dirty="0"/>
              <a:t> ausführen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8578DC5-848E-11EA-87BC-603ED62B6E47}"/>
              </a:ext>
            </a:extLst>
          </p:cNvPr>
          <p:cNvSpPr txBox="1"/>
          <p:nvPr/>
        </p:nvSpPr>
        <p:spPr>
          <a:xfrm>
            <a:off x="375513" y="769545"/>
            <a:ext cx="7124700" cy="281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Die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Spec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schreibt nicht vor, wie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auszuführen sind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Typisch: über HTTP API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 ist dann (meist) ein HTTP Post Request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Response ein JSON-Objekt mit den gelesenen Daten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Transportschicht ist eher Implementierungsdetail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8197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D3437-3E1E-2DB7-D250-85F65F47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D19CB-2CD0-099E-08F0-1EABEAC0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Queries</a:t>
            </a:r>
            <a:r>
              <a:rPr lang="de-DE" dirty="0"/>
              <a:t> ausführen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534B38D-9CF8-D6D7-2C57-C802FA9E6B2A}"/>
              </a:ext>
            </a:extLst>
          </p:cNvPr>
          <p:cNvSpPr txBox="1"/>
          <p:nvPr/>
        </p:nvSpPr>
        <p:spPr>
          <a:xfrm>
            <a:off x="375513" y="769545"/>
            <a:ext cx="7124700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Die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Spec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schreibt nicht vor, wie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auszuführen sind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Typisch: über HTTP API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gibt nur </a:t>
            </a:r>
            <a:r>
              <a:rPr lang="de-DE" sz="1800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einen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Endpunkt für die </a:t>
            </a:r>
            <a:r>
              <a:rPr lang="de-DE" sz="1800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ganze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 (z.B. </a:t>
            </a:r>
            <a:r>
              <a:rPr lang="de-DE" sz="1800" dirty="0">
                <a:solidFill>
                  <a:srgbClr val="36544F"/>
                </a:solidFill>
                <a:latin typeface="Source Code Pro" panose="020B0309030403020204" pitchFamily="34" charset="0"/>
                <a:ea typeface="Source Code Pro" panose="020B0309030403020204" pitchFamily="34" charset="0"/>
                <a:cs typeface="Source Sans Pro" charset="0"/>
              </a:rPr>
              <a:t>/</a:t>
            </a:r>
            <a:r>
              <a:rPr lang="de-DE" sz="1800" dirty="0" err="1">
                <a:solidFill>
                  <a:srgbClr val="36544F"/>
                </a:solidFill>
                <a:latin typeface="Source Code Pro" panose="020B0309030403020204" pitchFamily="34" charset="0"/>
                <a:ea typeface="Source Code Pro" panose="020B0309030403020204" pitchFamily="34" charset="0"/>
                <a:cs typeface="Source Sans Pro" charset="0"/>
              </a:rPr>
              <a:t>graphql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Problemlos parallel zu (bestehender) REST API zu betreiben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68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92B9-715C-BFCF-34D3-9A7090EE9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212C0B5-C866-FFB6-16DD-B3D7978644E5}"/>
              </a:ext>
            </a:extLst>
          </p:cNvPr>
          <p:cNvSpPr/>
          <p:nvPr/>
        </p:nvSpPr>
        <p:spPr>
          <a:xfrm>
            <a:off x="0" y="0"/>
            <a:ext cx="9144000" cy="6162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60453B-171E-F72A-9CFC-85E26C28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D4EBE9"/>
                </a:solidFill>
              </a:rPr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9515DFC-0785-EC62-3FF9-456F17675B5F}"/>
              </a:ext>
            </a:extLst>
          </p:cNvPr>
          <p:cNvSpPr txBox="1"/>
          <p:nvPr/>
        </p:nvSpPr>
        <p:spPr>
          <a:xfrm>
            <a:off x="375513" y="769545"/>
            <a:ext cx="8307054" cy="59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Live Beispiel: Schema Evolution 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Query #1 ausführen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schritt_03: Rating im Schema ergänzen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bestehende Implementierung funktioniert weiter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(Die Mutation ist nicht implementiert, nur als Beispiel)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Query #1 ausführen =&gt; funktioniert immer noch unverändert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Query #2 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Rating 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ausführen =&gt; funktioniert</a:t>
            </a:r>
          </a:p>
          <a:p>
            <a:pPr>
              <a:lnSpc>
                <a:spcPct val="140000"/>
              </a:lnSpc>
            </a:pP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343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8210-13EF-D5D0-818B-7DED8503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ED1BA7-2D0C-4AC6-F7B1-D055D9712354}"/>
              </a:ext>
            </a:extLst>
          </p:cNvPr>
          <p:cNvSpPr/>
          <p:nvPr/>
        </p:nvSpPr>
        <p:spPr>
          <a:xfrm>
            <a:off x="0" y="0"/>
            <a:ext cx="9144000" cy="6162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A9F517-D9B7-F8B8-EA06-4A978604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D4EBE9"/>
                </a:solidFill>
              </a:rPr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85DAEC7-646E-5E3F-12AF-424BA4E84EFC}"/>
              </a:ext>
            </a:extLst>
          </p:cNvPr>
          <p:cNvSpPr txBox="1"/>
          <p:nvPr/>
        </p:nvSpPr>
        <p:spPr>
          <a:xfrm>
            <a:off x="375513" y="769545"/>
            <a:ext cx="8307054" cy="4612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Live Beispiel: Fehlerbehandlung 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Beispiel </a:t>
            </a:r>
            <a:r>
              <a:rPr lang="de-DE" sz="1800" u="sng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technischer Fehler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: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addRating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-Mutation ausführen (oder Query mit 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fehlerhaftem Feld)</a:t>
            </a:r>
          </a:p>
          <a:p>
            <a:pPr>
              <a:lnSpc>
                <a:spcPct val="140000"/>
              </a:lnSpc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"Fachliche" Fehlerbehandlung</a:t>
            </a:r>
            <a:endParaRPr lang="de-DE" sz="18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schritt_04: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addRating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-Mutation bewerten (Rückgabe-Typ)</a:t>
            </a:r>
          </a:p>
          <a:p>
            <a:pPr>
              <a:lnSpc>
                <a:spcPct val="14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Exemplarisch: "@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deprecated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</a:t>
            </a: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schritt_04: Union-Type (02_mutation_union_type.txt)</a:t>
            </a: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schritt_04: Union-Type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implementierung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(03_Mutation_Implementierung.txt)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9982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0EA7-200B-BD2A-D938-D49A7FAC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E82A5-7BB3-BFF2-28B2-DD1494B5A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6234A4F-4E68-1062-12EB-6FA2E208A691}"/>
              </a:ext>
            </a:extLst>
          </p:cNvPr>
          <p:cNvSpPr txBox="1"/>
          <p:nvPr/>
        </p:nvSpPr>
        <p:spPr>
          <a:xfrm>
            <a:off x="375513" y="769545"/>
            <a:ext cx="7124700" cy="2396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Fehlerbehandlung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Fehler(-Antworten) werden in der Regel im Schema explizit vorgesehen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Oder im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error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-Feld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HTTP Status Codes spielen eher keine Rolle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87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6F29-B451-3EB3-02D9-E668E7AC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B4A7A-3BC2-4EFB-FF88-485652E6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</a:t>
            </a:r>
            <a:r>
              <a:rPr lang="de-DE" dirty="0" err="1"/>
              <a:t>tuning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84C3C4-3310-DF31-35BF-C8069DA5C198}"/>
              </a:ext>
            </a:extLst>
          </p:cNvPr>
          <p:cNvSpPr txBox="1"/>
          <p:nvPr/>
        </p:nvSpPr>
        <p:spPr>
          <a:xfrm>
            <a:off x="375513" y="769545"/>
            <a:ext cx="8513510" cy="1066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Performance von GraphQL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565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19F8-D8BC-4A6C-9E62-DB2C6477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D39EA39-EA10-67D1-217B-CDD381AD5A96}"/>
              </a:ext>
            </a:extLst>
          </p:cNvPr>
          <p:cNvSpPr/>
          <p:nvPr/>
        </p:nvSpPr>
        <p:spPr>
          <a:xfrm>
            <a:off x="0" y="0"/>
            <a:ext cx="9144000" cy="6162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DD25EF-5EDA-84C3-393E-58975FE4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D4EBE9"/>
                </a:solidFill>
              </a:rPr>
              <a:t>Performance </a:t>
            </a:r>
            <a:r>
              <a:rPr lang="de-DE" dirty="0" err="1">
                <a:solidFill>
                  <a:srgbClr val="D4EBE9"/>
                </a:solidFill>
              </a:rPr>
              <a:t>tuning</a:t>
            </a:r>
            <a:endParaRPr lang="de-DE" dirty="0">
              <a:solidFill>
                <a:srgbClr val="D4EBE9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89F033C-151D-9A24-5817-A0BB0840D20A}"/>
              </a:ext>
            </a:extLst>
          </p:cNvPr>
          <p:cNvSpPr txBox="1"/>
          <p:nvPr/>
        </p:nvSpPr>
        <p:spPr>
          <a:xfrm>
            <a:off x="375513" y="769545"/>
            <a:ext cx="8307054" cy="2714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Live Beispiel: Asynchrone Funktionen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Material von 05_async "aktivieren"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TracingInstrumentation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einschalten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Query mit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beers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und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averageStars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Problem beschreiben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Umstellen auf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calculateAverageStars_async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im Controller </a:t>
            </a:r>
          </a:p>
        </p:txBody>
      </p:sp>
    </p:spTree>
    <p:extLst>
      <p:ext uri="{BB962C8B-B14F-4D97-AF65-F5344CB8AC3E}">
        <p14:creationId xmlns:p14="http://schemas.microsoft.com/office/powerpoint/2010/main" val="2499135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E5355-7892-9C97-6393-839D2E95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6A6BA6C-5C22-286D-B8E7-8829E1203E80}"/>
              </a:ext>
            </a:extLst>
          </p:cNvPr>
          <p:cNvSpPr/>
          <p:nvPr/>
        </p:nvSpPr>
        <p:spPr>
          <a:xfrm>
            <a:off x="0" y="0"/>
            <a:ext cx="9144000" cy="6162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E5A7AA-A351-415A-D3EE-5FD4D699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D4EBE9"/>
                </a:solidFill>
              </a:rPr>
              <a:t>Performance </a:t>
            </a:r>
            <a:r>
              <a:rPr lang="de-DE" dirty="0" err="1">
                <a:solidFill>
                  <a:srgbClr val="D4EBE9"/>
                </a:solidFill>
              </a:rPr>
              <a:t>tuning</a:t>
            </a:r>
            <a:endParaRPr lang="de-DE" dirty="0">
              <a:solidFill>
                <a:srgbClr val="D4EBE9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D7875B-E386-4615-DF22-A1455FE4C88E}"/>
              </a:ext>
            </a:extLst>
          </p:cNvPr>
          <p:cNvSpPr txBox="1"/>
          <p:nvPr/>
        </p:nvSpPr>
        <p:spPr>
          <a:xfrm>
            <a:off x="375513" y="769545"/>
            <a:ext cx="8307054" cy="2714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Live-Coding Beispiel: Data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Loader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Material von 06_data_loader: Schema und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RatingController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Query mit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wird aus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MicroService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abgefragt</a:t>
            </a: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Console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-Log vom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UserService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=&gt; doppelte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Ids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40000"/>
              </a:lnSpc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🕵️‍♀️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DataLoader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im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RatingController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aktivieren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r">
              <a:lnSpc>
                <a:spcPct val="140000"/>
              </a:lnSpc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045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1CDD6-F297-70BE-B968-EA6FC2E4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D84611-F0A7-B2D2-6809-BB32A73E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</a:t>
            </a:r>
            <a:r>
              <a:rPr lang="de-DE" dirty="0" err="1"/>
              <a:t>tuning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EBE9A00-5756-BE05-2745-A48E41644672}"/>
              </a:ext>
            </a:extLst>
          </p:cNvPr>
          <p:cNvSpPr txBox="1"/>
          <p:nvPr/>
        </p:nvSpPr>
        <p:spPr>
          <a:xfrm>
            <a:off x="375513" y="769545"/>
            <a:ext cx="8513510" cy="1398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Performance von GraphQL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 Funktionen werden per Default nacheinander ausgeführt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4317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7C526-5627-86B4-FD84-9E989819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6BD3F-1243-5C05-751A-40C9734F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</a:t>
            </a:r>
            <a:r>
              <a:rPr lang="de-DE" dirty="0" err="1"/>
              <a:t>tuning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25A5201-B1CC-ABD3-93FC-09F4EC3E73F5}"/>
              </a:ext>
            </a:extLst>
          </p:cNvPr>
          <p:cNvSpPr txBox="1"/>
          <p:nvPr/>
        </p:nvSpPr>
        <p:spPr>
          <a:xfrm>
            <a:off x="375513" y="769545"/>
            <a:ext cx="8513510" cy="220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Performance von GraphQL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 Funktionen werden per Default nacheinander ausgeführt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Frameworks unterstützen typischerweise:</a:t>
            </a:r>
          </a:p>
          <a:p>
            <a:pPr marL="800100" lvl="1" indent="-342900">
              <a:lnSpc>
                <a:spcPct val="17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Asynchrone Verarbeitung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934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B46D-7967-AEDE-1CF7-2646BB6E2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A3C49-F63D-3035-6B2F-60E62330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</a:t>
            </a:r>
            <a:r>
              <a:rPr lang="de-DE" dirty="0" err="1"/>
              <a:t>tuning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F9A44AC-8646-FD6A-17B6-7DFD7B01718B}"/>
              </a:ext>
            </a:extLst>
          </p:cNvPr>
          <p:cNvSpPr txBox="1"/>
          <p:nvPr/>
        </p:nvSpPr>
        <p:spPr>
          <a:xfrm>
            <a:off x="375513" y="769545"/>
            <a:ext cx="8513510" cy="2673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Performance von GraphQL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 Funktionen werden per Default nacheinander ausgeführt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Frameworks unterstützen typischerweise:</a:t>
            </a:r>
          </a:p>
          <a:p>
            <a:pPr marL="800100" lvl="1" indent="-342900">
              <a:lnSpc>
                <a:spcPct val="17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Asynchrone Verarbeitung</a:t>
            </a:r>
          </a:p>
          <a:p>
            <a:pPr marL="800100" lvl="1" indent="-342900">
              <a:lnSpc>
                <a:spcPct val="17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"Data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Loader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 zum Zusammenfassen von Aufrufen externer Dienste (DB, ...)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380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1558B7F-6CA0-A1C1-D33C-DDCA01399031}"/>
              </a:ext>
            </a:extLst>
          </p:cNvPr>
          <p:cNvSpPr/>
          <p:nvPr/>
        </p:nvSpPr>
        <p:spPr>
          <a:xfrm>
            <a:off x="3447334" y="1712339"/>
            <a:ext cx="224933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6600" b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über</a:t>
            </a:r>
            <a:endParaRPr lang="de-DE" sz="66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E364636-D9E1-F7F4-5636-7288EBF3B333}"/>
              </a:ext>
            </a:extLst>
          </p:cNvPr>
          <p:cNvSpPr/>
          <p:nvPr/>
        </p:nvSpPr>
        <p:spPr>
          <a:xfrm>
            <a:off x="1495628" y="208179"/>
            <a:ext cx="6000362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800" b="1" dirty="0">
                <a:solidFill>
                  <a:srgbClr val="F3973B"/>
                </a:solidFill>
                <a:latin typeface="Montserrat" charset="0"/>
                <a:ea typeface="Montserrat" charset="0"/>
                <a:cs typeface="Montserrat" charset="0"/>
              </a:rPr>
              <a:t>Aussagen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58A85E6-6C3C-7008-A463-C90402EFFB55}"/>
              </a:ext>
            </a:extLst>
          </p:cNvPr>
          <p:cNvSpPr/>
          <p:nvPr/>
        </p:nvSpPr>
        <p:spPr>
          <a:xfrm>
            <a:off x="1051645" y="2631176"/>
            <a:ext cx="7040709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1500" b="1" dirty="0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</a:p>
        </p:txBody>
      </p:sp>
    </p:spTree>
    <p:extLst>
      <p:ext uri="{BB962C8B-B14F-4D97-AF65-F5344CB8AC3E}">
        <p14:creationId xmlns:p14="http://schemas.microsoft.com/office/powerpoint/2010/main" val="3250909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8465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637254" cy="1121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in der Absolutheit so nicht richtig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943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ED78-5FE4-E203-E268-A4827BA8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660BAC-7E74-6BEB-EFB0-E7DDDD26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0BCCC91-5DC2-0853-CF3B-286F4DB7DBB1}"/>
              </a:ext>
            </a:extLst>
          </p:cNvPr>
          <p:cNvSpPr txBox="1"/>
          <p:nvPr/>
        </p:nvSpPr>
        <p:spPr>
          <a:xfrm>
            <a:off x="339911" y="883022"/>
            <a:ext cx="8465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EE0019C-3846-F5BF-C3DD-439059DB5682}"/>
              </a:ext>
            </a:extLst>
          </p:cNvPr>
          <p:cNvSpPr txBox="1"/>
          <p:nvPr/>
        </p:nvSpPr>
        <p:spPr>
          <a:xfrm>
            <a:off x="375513" y="1635041"/>
            <a:ext cx="8637254" cy="1842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REST API sind konzeptionell relativ "einfach": Jeder Request liefert </a:t>
            </a:r>
            <a:r>
              <a:rPr lang="de-DE" b="1" i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eine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Ressource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Was genau abgefragt wird, ist bereits zur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Entwicklungszeit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bekannt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Wird vorgegeben durch das Backend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1522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6173-C2F0-0AFE-91A0-5A9A53544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55337-AEAA-728A-B399-94056A18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C591C90-3665-27CD-20A0-23EBF6D38D89}"/>
              </a:ext>
            </a:extLst>
          </p:cNvPr>
          <p:cNvSpPr txBox="1"/>
          <p:nvPr/>
        </p:nvSpPr>
        <p:spPr>
          <a:xfrm>
            <a:off x="339911" y="883022"/>
            <a:ext cx="8465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D00F2C9-1B6D-7FC8-5B30-14CF80F31BFE}"/>
              </a:ext>
            </a:extLst>
          </p:cNvPr>
          <p:cNvSpPr txBox="1"/>
          <p:nvPr/>
        </p:nvSpPr>
        <p:spPr>
          <a:xfrm>
            <a:off x="375513" y="1635041"/>
            <a:ext cx="8637254" cy="328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REST API sind konzeptionell relativ "einfach": Jeder Request liefert </a:t>
            </a:r>
            <a:r>
              <a:rPr lang="de-DE" b="1" i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eine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Ressource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Was genau abgefragt wird, ist bereits zur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Entwicklungszeit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bekannt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Wird vorgegeben durch das Backend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GraphQL kann mehrere Objekte liefern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Was genau abgefragt wird, ist erst zur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Laufzeit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bekannt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Wird vorgegeben vom Client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35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6AE1-E47F-F06D-1484-ABC0FE7A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28F00-A835-06BE-798A-0CCF40F8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40B52C2-3AF0-003A-C1CB-9F990915959F}"/>
              </a:ext>
            </a:extLst>
          </p:cNvPr>
          <p:cNvSpPr txBox="1"/>
          <p:nvPr/>
        </p:nvSpPr>
        <p:spPr>
          <a:xfrm>
            <a:off x="339911" y="883022"/>
            <a:ext cx="8465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43BA2C-0801-FF8B-25E2-204BA3BBFF88}"/>
              </a:ext>
            </a:extLst>
          </p:cNvPr>
          <p:cNvSpPr txBox="1"/>
          <p:nvPr/>
        </p:nvSpPr>
        <p:spPr>
          <a:xfrm>
            <a:off x="375513" y="1635041"/>
            <a:ext cx="8637254" cy="3642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REST API sind konzeptionell relativ "einfach": Jeder Request liefert </a:t>
            </a:r>
            <a:r>
              <a:rPr lang="de-DE" b="1" i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eine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Ressource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Was genau abgefragt wird, ist bereits zur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Entwicklungszeit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bekannt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Wird vorgegeben durch das Backend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GraphQL kann mehrere Objekte liefern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Was genau abgefragt wird, ist erst zur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Laufzeit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bekannt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Wird vorgegeben vom Client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</a:endParaRPr>
          </a:p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👉 Optimierungen sind dadurch schwieriger als in REST APIs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992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8465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599154" cy="200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Aufwand der Entwicklung hängt an mehreren Faktoren: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Größe und Komplexität des Schemas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Anzahl und Art der Datenquellen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Wie gut passen die vorhandenen Daten zum Schema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086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860613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7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Größe und Komplexität des Schemas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Extrem Beispiel: "GraphQL API, REST-Style"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AA62AD6-B79C-2E4A-C1E2-4BF99AB6E742}"/>
              </a:ext>
            </a:extLst>
          </p:cNvPr>
          <p:cNvSpPr txBox="1"/>
          <p:nvPr/>
        </p:nvSpPr>
        <p:spPr>
          <a:xfrm>
            <a:off x="339911" y="3059796"/>
            <a:ext cx="5005567" cy="16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Beer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name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ratings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[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Rating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!]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41719C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0E894ED-008B-C885-7DCE-BE018C500440}"/>
              </a:ext>
            </a:extLst>
          </p:cNvPr>
          <p:cNvSpPr txBox="1"/>
          <p:nvPr/>
        </p:nvSpPr>
        <p:spPr>
          <a:xfrm>
            <a:off x="2269592" y="3059795"/>
            <a:ext cx="1817971" cy="16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Rating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comment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stars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41719C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7AD84FA-3E01-C378-D49F-F06582C8DD1B}"/>
              </a:ext>
            </a:extLst>
          </p:cNvPr>
          <p:cNvSpPr txBox="1"/>
          <p:nvPr/>
        </p:nvSpPr>
        <p:spPr>
          <a:xfrm>
            <a:off x="6179783" y="3059794"/>
            <a:ext cx="5005567" cy="16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Query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beerById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(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!):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Beer</a:t>
            </a: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ratingById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(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!):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Rating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shopById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(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!):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Shop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41719C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FEB5497-3677-691B-35B9-F1B5B7DEA436}"/>
              </a:ext>
            </a:extLst>
          </p:cNvPr>
          <p:cNvSpPr txBox="1"/>
          <p:nvPr/>
        </p:nvSpPr>
        <p:spPr>
          <a:xfrm>
            <a:off x="4120404" y="3059795"/>
            <a:ext cx="2069974" cy="16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Shop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name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  <a:endParaRPr lang="de-DE" sz="1151" dirty="0">
              <a:solidFill>
                <a:srgbClr val="9E60B8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address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:[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!]!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41719C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886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7C9A-1BE1-460F-E5C3-0C64FA24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F41FF-77FD-060F-2828-929F5EE2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57E1907-4B72-52E2-2EDB-D3A9C3AA8683}"/>
              </a:ext>
            </a:extLst>
          </p:cNvPr>
          <p:cNvSpPr txBox="1"/>
          <p:nvPr/>
        </p:nvSpPr>
        <p:spPr>
          <a:xfrm>
            <a:off x="339911" y="883022"/>
            <a:ext cx="8465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komplexer in der Entwicklung als REST APIs"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20A8B21-376F-5291-0AC6-08D998ED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99" y="2122602"/>
            <a:ext cx="7721446" cy="2565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6AC2B54-1E7C-0202-048D-566693216D7C}"/>
              </a:ext>
            </a:extLst>
          </p:cNvPr>
          <p:cNvSpPr txBox="1"/>
          <p:nvPr/>
        </p:nvSpPr>
        <p:spPr>
          <a:xfrm>
            <a:off x="4818131" y="4714484"/>
            <a:ext cx="3413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100" dirty="0">
                <a:solidFill>
                  <a:srgbClr val="41719C"/>
                </a:solidFill>
                <a:effectLst/>
              </a:rPr>
              <a:t>https://</a:t>
            </a:r>
            <a:r>
              <a:rPr lang="de-DE" sz="1100" dirty="0" err="1">
                <a:solidFill>
                  <a:srgbClr val="41719C"/>
                </a:solidFill>
                <a:effectLst/>
              </a:rPr>
              <a:t>x.com</a:t>
            </a:r>
            <a:r>
              <a:rPr lang="de-DE" sz="1100" dirty="0">
                <a:solidFill>
                  <a:srgbClr val="41719C"/>
                </a:solidFill>
                <a:effectLst/>
              </a:rPr>
              <a:t>/</a:t>
            </a:r>
            <a:r>
              <a:rPr lang="de-DE" sz="1100" dirty="0" err="1">
                <a:solidFill>
                  <a:srgbClr val="41719C"/>
                </a:solidFill>
                <a:effectLst/>
              </a:rPr>
              <a:t>Cal_Irvine</a:t>
            </a:r>
            <a:r>
              <a:rPr lang="de-DE" sz="1100" dirty="0">
                <a:solidFill>
                  <a:srgbClr val="41719C"/>
                </a:solidFill>
                <a:effectLst/>
              </a:rPr>
              <a:t>/</a:t>
            </a:r>
            <a:r>
              <a:rPr lang="de-DE" sz="1100" dirty="0" err="1">
                <a:solidFill>
                  <a:srgbClr val="41719C"/>
                </a:solidFill>
                <a:effectLst/>
              </a:rPr>
              <a:t>status</a:t>
            </a:r>
            <a:r>
              <a:rPr lang="de-DE" sz="1100" dirty="0">
                <a:solidFill>
                  <a:srgbClr val="41719C"/>
                </a:solidFill>
                <a:effectLst/>
              </a:rPr>
              <a:t>/1768044262124323175</a:t>
            </a:r>
            <a:endParaRPr lang="de-DE" sz="1100" dirty="0">
              <a:solidFill>
                <a:srgbClr val="41719C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D94498D-1B5F-B7F0-AB96-4F5AAC8B2B0C}"/>
              </a:ext>
            </a:extLst>
          </p:cNvPr>
          <p:cNvSpPr txBox="1"/>
          <p:nvPr/>
        </p:nvSpPr>
        <p:spPr>
          <a:xfrm>
            <a:off x="375513" y="1635041"/>
            <a:ext cx="4258480" cy="42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Zusammenfassung</a:t>
            </a:r>
            <a:endParaRPr lang="de-DE" sz="1800" dirty="0">
              <a:solidFill>
                <a:srgbClr val="F3973B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45789BBB-B415-02E5-5DAB-3747753460AC}"/>
                  </a:ext>
                </a:extLst>
              </p14:cNvPr>
              <p14:cNvContentPartPr/>
              <p14:nvPr/>
            </p14:nvContentPartPr>
            <p14:xfrm>
              <a:off x="6316871" y="2978467"/>
              <a:ext cx="1222200" cy="734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45789BBB-B415-02E5-5DAB-3747753460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2871" y="2870827"/>
                <a:ext cx="13298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911CEBFC-E0BC-6A28-84FC-468CAD942DA3}"/>
                  </a:ext>
                </a:extLst>
              </p14:cNvPr>
              <p14:cNvContentPartPr/>
              <p14:nvPr/>
            </p14:nvContentPartPr>
            <p14:xfrm>
              <a:off x="655511" y="3328747"/>
              <a:ext cx="6873120" cy="1065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911CEBFC-E0BC-6A28-84FC-468CAD942D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511" y="3220747"/>
                <a:ext cx="6980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3DE7A170-750D-BCDA-ABE1-95B43584960A}"/>
                  </a:ext>
                </a:extLst>
              </p14:cNvPr>
              <p14:cNvContentPartPr/>
              <p14:nvPr/>
            </p14:nvContentPartPr>
            <p14:xfrm>
              <a:off x="651191" y="3693427"/>
              <a:ext cx="392400" cy="453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3DE7A170-750D-BCDA-ABE1-95B4358496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551" y="3585787"/>
                <a:ext cx="500040" cy="2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34592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44151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ist SQL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für's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46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</p:txBody>
      </p:sp>
    </p:spTree>
    <p:extLst>
      <p:ext uri="{BB962C8B-B14F-4D97-AF65-F5344CB8AC3E}">
        <p14:creationId xmlns:p14="http://schemas.microsoft.com/office/powerpoint/2010/main" val="41817212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F25B2-0561-C18A-0015-C5E9D842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34277B-B29D-486E-8F31-072384C6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AF1200-D657-BDED-21AE-1279D0C35CFB}"/>
              </a:ext>
            </a:extLst>
          </p:cNvPr>
          <p:cNvSpPr txBox="1"/>
          <p:nvPr/>
        </p:nvSpPr>
        <p:spPr>
          <a:xfrm>
            <a:off x="339911" y="883022"/>
            <a:ext cx="44151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ist SQL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für's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1570CC-4D69-3466-77B8-AB4478CAC336}"/>
              </a:ext>
            </a:extLst>
          </p:cNvPr>
          <p:cNvSpPr txBox="1"/>
          <p:nvPr/>
        </p:nvSpPr>
        <p:spPr>
          <a:xfrm>
            <a:off x="375513" y="1635041"/>
            <a:ext cx="8307054" cy="1295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ist viel mächtiger als die GraphQL Sprache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Wir haben kein SORT BY, LIMIT, JOIN etc.</a:t>
            </a:r>
          </a:p>
        </p:txBody>
      </p:sp>
    </p:spTree>
    <p:extLst>
      <p:ext uri="{BB962C8B-B14F-4D97-AF65-F5344CB8AC3E}">
        <p14:creationId xmlns:p14="http://schemas.microsoft.com/office/powerpoint/2010/main" val="28153456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ACE55-C394-2B95-AB96-EE6B7992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39A22-20CF-87CC-FBCF-074ACB64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8FA2549-FF0C-1BA4-F3DB-B2732C68C682}"/>
              </a:ext>
            </a:extLst>
          </p:cNvPr>
          <p:cNvSpPr txBox="1"/>
          <p:nvPr/>
        </p:nvSpPr>
        <p:spPr>
          <a:xfrm>
            <a:off x="339911" y="883022"/>
            <a:ext cx="44151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ist SQL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für's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8015ED-1632-B2C6-0AEF-347A9FB46185}"/>
              </a:ext>
            </a:extLst>
          </p:cNvPr>
          <p:cNvSpPr txBox="1"/>
          <p:nvPr/>
        </p:nvSpPr>
        <p:spPr>
          <a:xfrm>
            <a:off x="375513" y="1635041"/>
            <a:ext cx="8307054" cy="212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ist viel mächtiger als die GraphQL Sprache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Wir haben kein SORT BY, LIMIT, JOIN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werden keine fertigen Datenbank-Schema oder –Inhalte ungefiltert ausgeliefert</a:t>
            </a:r>
          </a:p>
        </p:txBody>
      </p:sp>
    </p:spTree>
    <p:extLst>
      <p:ext uri="{BB962C8B-B14F-4D97-AF65-F5344CB8AC3E}">
        <p14:creationId xmlns:p14="http://schemas.microsoft.com/office/powerpoint/2010/main" val="2951128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CDDD-A640-F312-4EF4-CE368C5D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D77A92-EDB8-CA64-E3F9-15C00033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2A414A-3469-5E5B-E0EA-491D0EE7823D}"/>
              </a:ext>
            </a:extLst>
          </p:cNvPr>
          <p:cNvSpPr txBox="1"/>
          <p:nvPr/>
        </p:nvSpPr>
        <p:spPr>
          <a:xfrm>
            <a:off x="339911" y="883022"/>
            <a:ext cx="44151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ist SQL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für's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D1B3450-67AD-0D24-9D85-AB2872F56E6A}"/>
              </a:ext>
            </a:extLst>
          </p:cNvPr>
          <p:cNvSpPr txBox="1"/>
          <p:nvPr/>
        </p:nvSpPr>
        <p:spPr>
          <a:xfrm>
            <a:off x="375513" y="1635041"/>
            <a:ext cx="8307054" cy="2541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ist viel mächtiger als die GraphQL Sprache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Wir haben kein SORT BY, LIMIT, JOIN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werden keine fertigen Datenbank-Schema oder –Inhalte ungefiltert ausgeliefert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Daten müssen gar nicht aus einer Datenbank kommen</a:t>
            </a:r>
          </a:p>
        </p:txBody>
      </p:sp>
    </p:spTree>
    <p:extLst>
      <p:ext uri="{BB962C8B-B14F-4D97-AF65-F5344CB8AC3E}">
        <p14:creationId xmlns:p14="http://schemas.microsoft.com/office/powerpoint/2010/main" val="28168632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CC4B-0390-5246-37D1-4AE246235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FE8DD-273C-B33C-C202-697D8931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083976A-EC20-0268-F53A-A6690B124F5B}"/>
              </a:ext>
            </a:extLst>
          </p:cNvPr>
          <p:cNvSpPr txBox="1"/>
          <p:nvPr/>
        </p:nvSpPr>
        <p:spPr>
          <a:xfrm>
            <a:off x="339911" y="883022"/>
            <a:ext cx="44151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ist SQL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für's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544C6BC-A278-E011-CB7D-809E0800C63E}"/>
              </a:ext>
            </a:extLst>
          </p:cNvPr>
          <p:cNvSpPr txBox="1"/>
          <p:nvPr/>
        </p:nvSpPr>
        <p:spPr>
          <a:xfrm>
            <a:off x="375513" y="1635041"/>
            <a:ext cx="8307054" cy="337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ist viel mächtiger als die GraphQL Sprache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Wir haben kein SORT BY, LIMIT, JOIN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 werden keine fertigen Datenbank-Schema oder –Inhalte ungefiltert ausgeliefert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Daten müssen gar nicht aus einer Datenbank kommen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Was und wie ausgeliefert wird entscheidet das Schema bzw. die Resolver-Funktionen</a:t>
            </a:r>
          </a:p>
        </p:txBody>
      </p:sp>
    </p:spTree>
    <p:extLst>
      <p:ext uri="{BB962C8B-B14F-4D97-AF65-F5344CB8AC3E}">
        <p14:creationId xmlns:p14="http://schemas.microsoft.com/office/powerpoint/2010/main" val="33661698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DC85-4B6F-7102-D244-F4F9F350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FD141-5215-DCA3-AD04-9D890C96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FD7541B-3EAF-C0E1-5AE1-7A4634AD0186}"/>
              </a:ext>
            </a:extLst>
          </p:cNvPr>
          <p:cNvSpPr txBox="1"/>
          <p:nvPr/>
        </p:nvSpPr>
        <p:spPr>
          <a:xfrm>
            <a:off x="339911" y="883022"/>
            <a:ext cx="860613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für Faule, die kein Bock auf API Design haben"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F9D0F4-F3BB-A184-7DC5-E3CE42D8360F}"/>
              </a:ext>
            </a:extLst>
          </p:cNvPr>
          <p:cNvSpPr txBox="1"/>
          <p:nvPr/>
        </p:nvSpPr>
        <p:spPr>
          <a:xfrm>
            <a:off x="375513" y="1635041"/>
            <a:ext cx="8307054" cy="42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</p:txBody>
      </p:sp>
    </p:spTree>
    <p:extLst>
      <p:ext uri="{BB962C8B-B14F-4D97-AF65-F5344CB8AC3E}">
        <p14:creationId xmlns:p14="http://schemas.microsoft.com/office/powerpoint/2010/main" val="33655549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EF6F-5E5F-BF19-C11E-682E34B8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A3C05-4DE3-5F97-8295-BE3DEA81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42CE37-C779-4338-A712-2609AB4DD423}"/>
              </a:ext>
            </a:extLst>
          </p:cNvPr>
          <p:cNvSpPr txBox="1"/>
          <p:nvPr/>
        </p:nvSpPr>
        <p:spPr>
          <a:xfrm>
            <a:off x="339911" y="883022"/>
            <a:ext cx="860613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für Faule, die kein Bock auf API Design haben"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51034C-0D5A-0E7A-CD3A-BE2C65392B93}"/>
              </a:ext>
            </a:extLst>
          </p:cNvPr>
          <p:cNvSpPr txBox="1"/>
          <p:nvPr/>
        </p:nvSpPr>
        <p:spPr>
          <a:xfrm>
            <a:off x="375513" y="1635041"/>
            <a:ext cx="8307054" cy="1239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Suggeriert wird, dass man mit GraphQL einfach alle Daten strukturlos zur Verfügung stellt</a:t>
            </a:r>
          </a:p>
        </p:txBody>
      </p:sp>
    </p:spTree>
    <p:extLst>
      <p:ext uri="{BB962C8B-B14F-4D97-AF65-F5344CB8AC3E}">
        <p14:creationId xmlns:p14="http://schemas.microsoft.com/office/powerpoint/2010/main" val="14887772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BED44-BF70-BA74-269E-B3D166EC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804CA-1E26-7FFA-C405-35ADD5449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705078C-DDFF-825D-C6BE-F98E57477AD2}"/>
              </a:ext>
            </a:extLst>
          </p:cNvPr>
          <p:cNvSpPr txBox="1"/>
          <p:nvPr/>
        </p:nvSpPr>
        <p:spPr>
          <a:xfrm>
            <a:off x="339911" y="883022"/>
            <a:ext cx="860613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für Faule, die kein Bock auf API Design haben"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24DF18-CB93-BFCA-E044-394C8393979A}"/>
              </a:ext>
            </a:extLst>
          </p:cNvPr>
          <p:cNvSpPr txBox="1"/>
          <p:nvPr/>
        </p:nvSpPr>
        <p:spPr>
          <a:xfrm>
            <a:off x="375513" y="1635041"/>
            <a:ext cx="8307054" cy="180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Suggeriert wird, dass man mit GraphQL einfach alle Daten strukturlos zur Verfügung stellt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Schema-Design ist aber genauso wie in anderen API-Technologien</a:t>
            </a:r>
          </a:p>
        </p:txBody>
      </p:sp>
    </p:spTree>
    <p:extLst>
      <p:ext uri="{BB962C8B-B14F-4D97-AF65-F5344CB8AC3E}">
        <p14:creationId xmlns:p14="http://schemas.microsoft.com/office/powerpoint/2010/main" val="34480485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B753-449D-1F62-F6A9-23341FD1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D673F-558B-B1D1-3877-6C52B763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92C32C-87F9-5F76-394A-098D5615BE79}"/>
              </a:ext>
            </a:extLst>
          </p:cNvPr>
          <p:cNvSpPr txBox="1"/>
          <p:nvPr/>
        </p:nvSpPr>
        <p:spPr>
          <a:xfrm>
            <a:off x="339911" y="883022"/>
            <a:ext cx="860613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für Faule, die kein Bock auf API Design haben"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A6BCAD-82A4-554F-351E-9BC4C1FD44EE}"/>
              </a:ext>
            </a:extLst>
          </p:cNvPr>
          <p:cNvSpPr txBox="1"/>
          <p:nvPr/>
        </p:nvSpPr>
        <p:spPr>
          <a:xfrm>
            <a:off x="375513" y="1635041"/>
            <a:ext cx="8307054" cy="2378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Suggeriert wird, dass man mit GraphQL einfach alle Daten strukturlos zur Verfügung stellt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Schema-Design ist aber genauso wie in anderen API-Technologien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Wie die API aussieht, bestimmen wir und nicht GraphQL</a:t>
            </a:r>
          </a:p>
        </p:txBody>
      </p:sp>
    </p:spTree>
    <p:extLst>
      <p:ext uri="{BB962C8B-B14F-4D97-AF65-F5344CB8AC3E}">
        <p14:creationId xmlns:p14="http://schemas.microsoft.com/office/powerpoint/2010/main" val="28906793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397C-F715-5EC7-24E1-8D18E826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0A982-2299-065A-4E95-7F638797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748FB28-1E63-A013-946F-B03DE6F9DB91}"/>
              </a:ext>
            </a:extLst>
          </p:cNvPr>
          <p:cNvSpPr txBox="1"/>
          <p:nvPr/>
        </p:nvSpPr>
        <p:spPr>
          <a:xfrm>
            <a:off x="339911" y="883022"/>
            <a:ext cx="860613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APIs sind für Faule, die kein Bock auf API Design haben"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39DA43-137E-6459-26B9-C26829A5B057}"/>
              </a:ext>
            </a:extLst>
          </p:cNvPr>
          <p:cNvSpPr txBox="1"/>
          <p:nvPr/>
        </p:nvSpPr>
        <p:spPr>
          <a:xfrm>
            <a:off x="375513" y="1635041"/>
            <a:ext cx="8307054" cy="2947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falsch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Suggeriert wird, dass man mit GraphQL einfach alle Daten strukturlos zur Verfügung stellt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Schema-Design ist aber genauso wie in anderen API-Technologien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Wie die API aussieht, bestimmen wir und nicht GraphQL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Man kann sich wie bei allem anderen Mühe geben... oder eben nicht</a:t>
            </a:r>
          </a:p>
        </p:txBody>
      </p:sp>
    </p:spTree>
    <p:extLst>
      <p:ext uri="{BB962C8B-B14F-4D97-AF65-F5344CB8AC3E}">
        <p14:creationId xmlns:p14="http://schemas.microsoft.com/office/powerpoint/2010/main" val="23480701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468269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"Mit GraphQL gibt es kein Caching"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7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übertrieben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Aussage bezieht sich in der Regel auf GraphQL Anfragen per HTTP</a:t>
            </a:r>
          </a:p>
        </p:txBody>
      </p:sp>
    </p:spTree>
    <p:extLst>
      <p:ext uri="{BB962C8B-B14F-4D97-AF65-F5344CB8AC3E}">
        <p14:creationId xmlns:p14="http://schemas.microsoft.com/office/powerpoint/2010/main" val="3057684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468269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"Mit GraphQL gibt es kein Caching"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202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Probleme beim Caching #1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HTTP Post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nicht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cachebar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Theoretisch ginge aber auch GET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 Entwurf der neuen "GraphQL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HTTP"-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Spec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ist GET explizit vorgesehen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51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ED4D-DE55-8241-83EC-8EA28690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FB609-8578-6C32-A802-4814B3DC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45D137D-04EF-C24A-8DBB-C2F48126F1D3}"/>
              </a:ext>
            </a:extLst>
          </p:cNvPr>
          <p:cNvSpPr txBox="1"/>
          <p:nvPr/>
        </p:nvSpPr>
        <p:spPr>
          <a:xfrm>
            <a:off x="339911" y="883022"/>
            <a:ext cx="468269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"Mit GraphQL gibt es kein Caching"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343C7EA-F565-A62D-549C-56A416754267}"/>
              </a:ext>
            </a:extLst>
          </p:cNvPr>
          <p:cNvSpPr txBox="1"/>
          <p:nvPr/>
        </p:nvSpPr>
        <p:spPr>
          <a:xfrm>
            <a:off x="375513" y="1635041"/>
            <a:ext cx="8307054" cy="169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Probleme beim Caching #2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Wenn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mehrere Objekte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abgefragt werden, muss die kürzeste Cache-Dauer gewinnen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29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6673-DCE2-B6BE-4676-0E9188E4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7B664-2C1B-D62B-42CF-C7D465FA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F2B8F5F-D121-B7D3-92DF-006324D1BCA6}"/>
              </a:ext>
            </a:extLst>
          </p:cNvPr>
          <p:cNvSpPr txBox="1"/>
          <p:nvPr/>
        </p:nvSpPr>
        <p:spPr>
          <a:xfrm>
            <a:off x="339911" y="883022"/>
            <a:ext cx="468269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"Mit GraphQL gibt es kein Caching"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F340C9-E1A7-DDB1-26FC-16A20B8E129C}"/>
              </a:ext>
            </a:extLst>
          </p:cNvPr>
          <p:cNvSpPr txBox="1"/>
          <p:nvPr/>
        </p:nvSpPr>
        <p:spPr>
          <a:xfrm>
            <a:off x="375513" y="1635041"/>
            <a:ext cx="8307054" cy="358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Probleme beim Caching #2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Wenn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mehrere Objekte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abgefragt werden, muss die kürzeste Cache-Dauer gewinnen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Beispiel: Beer und Shop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Beer ist wahrscheinlich "stabil", gut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cachebar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Shop vielleicht nicht, weil sich daran Dinge ändern können (z.B. Öffnungszeiten)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0516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EEBE-A441-EA76-839D-EFFD74FF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9FD7D-19E1-2797-28DD-F15E357F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9B55E08-28A8-0A8F-C324-47CE908A37CE}"/>
              </a:ext>
            </a:extLst>
          </p:cNvPr>
          <p:cNvSpPr txBox="1"/>
          <p:nvPr/>
        </p:nvSpPr>
        <p:spPr>
          <a:xfrm>
            <a:off x="339911" y="883022"/>
            <a:ext cx="468269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"Mit GraphQL gibt es kein Caching"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A29989-3818-3AF4-56E8-B3E21956F735}"/>
              </a:ext>
            </a:extLst>
          </p:cNvPr>
          <p:cNvSpPr txBox="1"/>
          <p:nvPr/>
        </p:nvSpPr>
        <p:spPr>
          <a:xfrm>
            <a:off x="375513" y="1635041"/>
            <a:ext cx="8307054" cy="407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Probleme beim Caching #2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Wenn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mehrere Objekte 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abgefragt werden, muss die kürzeste Cache-Dauer gewinnen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Beispiel: Beer und Shop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Beer ist wahrscheinlich "stabil", gut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cachebar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Shop vielleicht nicht, weil sich daran Dinge ändern können (z.B. Öffnungszeiten)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REST 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kann jede Ressource für sich entscheiden, wie lange sie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cachbar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ist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6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6008376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spart Daten gegen über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91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nur teilweise korrekt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8005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7281-1785-A917-08F7-CC853054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6030C-26E7-0A89-24A9-CEAAC83A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45B914E-6F0D-FAC9-B9AF-DAD5AD1002F3}"/>
              </a:ext>
            </a:extLst>
          </p:cNvPr>
          <p:cNvSpPr txBox="1"/>
          <p:nvPr/>
        </p:nvSpPr>
        <p:spPr>
          <a:xfrm>
            <a:off x="339911" y="883022"/>
            <a:ext cx="6008376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spart Daten gegen über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403B7BE-BFC3-127D-2935-C277C44D5584}"/>
              </a:ext>
            </a:extLst>
          </p:cNvPr>
          <p:cNvSpPr txBox="1"/>
          <p:nvPr/>
        </p:nvSpPr>
        <p:spPr>
          <a:xfrm>
            <a:off x="375513" y="1635041"/>
            <a:ext cx="8307054" cy="140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nur teilweise korrekt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Richtig ist, das Netzwerk-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und damit Latenz gespart werden kann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6740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913B2-03D3-A1D7-7E21-8AE56EDF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6CF38D-8D51-B05E-28F6-24A300B2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1985D5D-C907-9F32-9800-FAB44CF7CCB9}"/>
              </a:ext>
            </a:extLst>
          </p:cNvPr>
          <p:cNvSpPr txBox="1"/>
          <p:nvPr/>
        </p:nvSpPr>
        <p:spPr>
          <a:xfrm>
            <a:off x="339911" y="883022"/>
            <a:ext cx="6008376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spart Daten gegen über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FF57879-1DD1-2C65-9502-8CD02A40D52B}"/>
              </a:ext>
            </a:extLst>
          </p:cNvPr>
          <p:cNvSpPr txBox="1"/>
          <p:nvPr/>
        </p:nvSpPr>
        <p:spPr>
          <a:xfrm>
            <a:off x="375513" y="1635041"/>
            <a:ext cx="8307054" cy="3300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nur teilweise korrekt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Richtig ist, das Netzwerk-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und damit Latenz gespart werden kann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Daten werden nicht automatisch de-dupliziert oder normalisiert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Eine Abfrage von X Ratings mit denselben Autoren liefert X mal die abgefragten Daten der Autoren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kann sparsamer sein als in REST, muss es aber nicht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902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DB02-B65D-0860-CA98-2BEA8083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DBE3B-8DC4-F37B-340C-BE7741EE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C7B47E-D605-78C2-60F6-228BCAAF3CFF}"/>
              </a:ext>
            </a:extLst>
          </p:cNvPr>
          <p:cNvSpPr txBox="1"/>
          <p:nvPr/>
        </p:nvSpPr>
        <p:spPr>
          <a:xfrm>
            <a:off x="339911" y="883022"/>
            <a:ext cx="6008376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"GraphQL spart Daten gegen über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82B981B-DA70-E6E9-9C2D-807E6299B36F}"/>
              </a:ext>
            </a:extLst>
          </p:cNvPr>
          <p:cNvSpPr txBox="1"/>
          <p:nvPr/>
        </p:nvSpPr>
        <p:spPr>
          <a:xfrm>
            <a:off x="375513" y="1635041"/>
            <a:ext cx="8307054" cy="379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Das ist nur teilweise korrekt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Richtig ist, das Netzwerk-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und damit Latenz gespart werden kann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Daten werden nicht automatisch de-dupliziert oder normalisiert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Eine Abfrage von X Ratings mit denselben Autoren liefert X mal die abgefragten Daten der Autoren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kann sparsamer sein als in REST, muss es aber nicht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Eine "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unmodified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"-Antwort einer REST-Ressource liefert überhaupt keine Daten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7394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6543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"Das kann ich alles auch mit REST APIs machen..."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7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Oftmals korrekt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51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0EAB-8770-5D12-8C11-A76E3CC7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72EE0-3A1B-CBC0-341A-F29B32B5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7E208FB-0CF0-87A7-B8BC-06B50B9EFDA5}"/>
              </a:ext>
            </a:extLst>
          </p:cNvPr>
          <p:cNvSpPr txBox="1"/>
          <p:nvPr/>
        </p:nvSpPr>
        <p:spPr>
          <a:xfrm>
            <a:off x="339911" y="883022"/>
            <a:ext cx="6543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"Das kann ich alles auch mit REST APIs machen..."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3388E1F-FDE1-04B4-8604-22A4C5A5F699}"/>
              </a:ext>
            </a:extLst>
          </p:cNvPr>
          <p:cNvSpPr txBox="1"/>
          <p:nvPr/>
        </p:nvSpPr>
        <p:spPr>
          <a:xfrm>
            <a:off x="375513" y="1635041"/>
            <a:ext cx="8307054" cy="119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Oftmals korrekt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Search-Parametern etc. kann man oft die Anzahl der Attribute einschränken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1218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23F3-337D-E1C2-9619-99D3A0D2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3893B-4FB0-8B44-A534-9E13CB16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972881D-71D5-0A60-2243-6E2CE9004163}"/>
              </a:ext>
            </a:extLst>
          </p:cNvPr>
          <p:cNvSpPr txBox="1"/>
          <p:nvPr/>
        </p:nvSpPr>
        <p:spPr>
          <a:xfrm>
            <a:off x="339911" y="883022"/>
            <a:ext cx="6543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"Das kann ich alles auch mit REST APIs machen..."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D0F542-B008-4931-6807-B2702474581C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Oftmals korrekt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Search-Parametern etc. kann man oft die Anzahl der Attribute einschränken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 Schema kann man zum Beispiel mit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beschreiben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01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FDCD-1EF8-A24F-8C0A-60331B2A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42D34-DD81-D8F6-331A-DA91AFD5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8B27648-856C-144D-6F36-D24798A5B82B}"/>
              </a:ext>
            </a:extLst>
          </p:cNvPr>
          <p:cNvSpPr txBox="1"/>
          <p:nvPr/>
        </p:nvSpPr>
        <p:spPr>
          <a:xfrm>
            <a:off x="339911" y="883022"/>
            <a:ext cx="6543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"Das kann ich alles auch mit REST APIs machen..."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C20B95-B843-CF4B-C169-653BDBD97373}"/>
              </a:ext>
            </a:extLst>
          </p:cNvPr>
          <p:cNvSpPr txBox="1"/>
          <p:nvPr/>
        </p:nvSpPr>
        <p:spPr>
          <a:xfrm>
            <a:off x="375513" y="1635041"/>
            <a:ext cx="8307054" cy="202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Oftmals korrekt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Search-Parametern etc. kann man oft die Anzahl der Attribute einschränken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 Schema kann man zum Beispiel mit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beschreiben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Auch mit einer REST-API können Unterobjekte geliefert werden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5618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4476-4F68-B14A-DDA3-AC8F8B8D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D4152-4901-7366-9D79-00F5DCFA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F9CD2D-672C-1798-E1D9-6DCFC02178BD}"/>
              </a:ext>
            </a:extLst>
          </p:cNvPr>
          <p:cNvSpPr txBox="1"/>
          <p:nvPr/>
        </p:nvSpPr>
        <p:spPr>
          <a:xfrm>
            <a:off x="339911" y="883022"/>
            <a:ext cx="6543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"Das kann ich alles auch mit REST APIs machen..."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979609-881D-F2BB-C114-8BEB1AE2DF51}"/>
              </a:ext>
            </a:extLst>
          </p:cNvPr>
          <p:cNvSpPr txBox="1"/>
          <p:nvPr/>
        </p:nvSpPr>
        <p:spPr>
          <a:xfrm>
            <a:off x="375513" y="1635041"/>
            <a:ext cx="8307054" cy="286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Oftmals korrekt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Search-Parametern etc. kann man oft die Anzahl der Attribute einschränken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 Schema kann man zum Beispiel mit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beschreiben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Auch mit einer REST-API können Unterobjekte geliefert werden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HATEOS zeigt der Server wo bzw. wie weitere Daten geladen werden können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6048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FFFF-9D92-EE5A-9D5F-45DB0256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92AFE-F616-1BBF-A5EB-D66A670A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862E48-18F4-CC15-A2C2-F4051B06536A}"/>
              </a:ext>
            </a:extLst>
          </p:cNvPr>
          <p:cNvSpPr txBox="1"/>
          <p:nvPr/>
        </p:nvSpPr>
        <p:spPr>
          <a:xfrm>
            <a:off x="339911" y="883022"/>
            <a:ext cx="65437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"Das kann ich alles auch mit REST APIs machen..."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A59506-3B7D-114F-AAB0-843F5C1555DB}"/>
              </a:ext>
            </a:extLst>
          </p:cNvPr>
          <p:cNvSpPr txBox="1"/>
          <p:nvPr/>
        </p:nvSpPr>
        <p:spPr>
          <a:xfrm>
            <a:off x="375513" y="1635041"/>
            <a:ext cx="8307054" cy="369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Oftmals korrekt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Search-Parametern etc. kann man oft die Anzahl der Attribute einschränken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Ein Schema kann man zum Beispiel mit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beschreiben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Auch mit einer REST-API können Unterobjekte geliefert werden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Mit HATEOS zeigt der Server wo bzw. wie weitere Daten geladen werden können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Aber: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das alles in GraphQL "eingebaut", man bekommt es aus einer Hand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96906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89B6-E612-292F-2B27-32275746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ECBCE8-9822-F43B-7417-4814B573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3669B6-58E9-EE41-6DDA-376AF4E78B06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DA900F5-16FC-25DB-08FB-09D7AA45E649}"/>
              </a:ext>
            </a:extLst>
          </p:cNvPr>
          <p:cNvSpPr txBox="1"/>
          <p:nvPr/>
        </p:nvSpPr>
        <p:spPr>
          <a:xfrm>
            <a:off x="375513" y="1635041"/>
            <a:ext cx="8307054" cy="119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6170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C7A6-EF7A-A8ED-145A-538B3569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3152F-7220-704C-5112-98DBC348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EFE3978-F311-128D-7229-19100307A97C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2F79C7E-9304-7420-EFAA-8D08E9DB4DC3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(meines Erachtens überbewertet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20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3FA9-459F-CC01-14F3-DF8AB707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05F4DE-425A-94F3-2C7B-0D4D677B4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082BD5F-DBA2-D3D6-A43E-4973CA85B993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120DB72-CA21-B2C1-CD9A-050B43C22527}"/>
              </a:ext>
            </a:extLst>
          </p:cNvPr>
          <p:cNvSpPr txBox="1"/>
          <p:nvPr/>
        </p:nvSpPr>
        <p:spPr>
          <a:xfrm>
            <a:off x="375513" y="1635041"/>
            <a:ext cx="8307054" cy="202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(meines Erachtens überbewertet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Schema-Evolution ermöglicht kontinuierliche Weiterentwicklung der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2058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95C3-93F7-4A3A-4D28-BF8D96391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F441E-BD9E-0C31-A154-86F2CD0D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D590434-1EA9-4491-369F-3DB0D26F2F3A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EEF1E1B-B1B1-A254-5AFF-8A03EEBB8529}"/>
              </a:ext>
            </a:extLst>
          </p:cNvPr>
          <p:cNvSpPr txBox="1"/>
          <p:nvPr/>
        </p:nvSpPr>
        <p:spPr>
          <a:xfrm>
            <a:off x="375513" y="1635041"/>
            <a:ext cx="8307054" cy="244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(meines Erachtens überbewertet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Schema-Evolution ermöglicht kontinuierliche Weiterentwicklung der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Tooling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und Typsicherheit bieten sehr gute Entwicklungserfahrung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5849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662F-BDA5-9B56-E62F-7FAC1386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F08E9-4B20-44EC-F544-8D7439C8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9F6DF2F-CED7-1460-5133-95AE06420523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301E72E-CF20-924D-F39D-0BA15FCAF4B7}"/>
              </a:ext>
            </a:extLst>
          </p:cNvPr>
          <p:cNvSpPr txBox="1"/>
          <p:nvPr/>
        </p:nvSpPr>
        <p:spPr>
          <a:xfrm>
            <a:off x="375513" y="1635041"/>
            <a:ext cx="8307054" cy="286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(meines Erachtens überbewertet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Schema-Evolution ermöglicht kontinuierliche Weiterentwicklung der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Tooling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und Typsicherheit bieten sehr gute Entwicklungserfahrung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Fehlerbehandlung expliziter als mit REST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6850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BF19-F8CC-AAC2-284B-98FC4F9F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48C290-7E28-27A6-5B3C-84196ACC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F821CFB-D247-EB67-2CD4-EAEB8D7EBB01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130F25-8FA3-24EC-D40C-FCFE0E00B5AC}"/>
              </a:ext>
            </a:extLst>
          </p:cNvPr>
          <p:cNvSpPr txBox="1"/>
          <p:nvPr/>
        </p:nvSpPr>
        <p:spPr>
          <a:xfrm>
            <a:off x="375513" y="1635041"/>
            <a:ext cx="8307054" cy="119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 dagegen: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083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5189-DF0A-99B2-82CD-42B866DB0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764CD-7D46-194E-165A-7D40920F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68D48CE-E305-895B-332C-6A4AAE811E6D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BEAE13-D647-8A06-29CA-0F240AB0FFA7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 dagegen: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REST ist Mainstream und in der Entwicklung gut verstanden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180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504C-8F8C-5BE4-18BE-72C991C8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EC836-5533-01DD-1653-B810A07A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E16F85A-8AB6-25CB-FBC8-29BFEF1C9F8C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3BB8BDC-F53A-D1C6-E90F-4ACA4DEC9BD3}"/>
              </a:ext>
            </a:extLst>
          </p:cNvPr>
          <p:cNvSpPr txBox="1"/>
          <p:nvPr/>
        </p:nvSpPr>
        <p:spPr>
          <a:xfrm>
            <a:off x="375513" y="1635041"/>
            <a:ext cx="8307054" cy="202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 dagegen: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REST ist Mainstream und in der Entwicklung gut verstanden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Konsumenten wissen, wie REST funktioniert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0930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7FCE-66E0-2EB2-F7BD-059AC448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2EC6AD-D034-9A6C-29BD-A202E03F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BFFF1C9-5290-1686-C1D3-F15F57088C94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DFAFF75-67A5-0E16-F1AE-7150E8BA8B7E}"/>
              </a:ext>
            </a:extLst>
          </p:cNvPr>
          <p:cNvSpPr txBox="1"/>
          <p:nvPr/>
        </p:nvSpPr>
        <p:spPr>
          <a:xfrm>
            <a:off x="375513" y="1635041"/>
            <a:ext cx="8307054" cy="244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Es gibt gute Gründe dagegen: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REST ist Mainstream und in der Entwicklung gut verstanden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Konsumenten wissen, wie REST funktioniert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Caching und Datensparsamkeit (kommt auf Anforderung an)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3114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6AC9-84A5-3822-A003-5292D9E0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900C5-E630-D5FF-123B-65183F1B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7B4BFC-6F33-8746-35FA-50D37A3DA0F6}"/>
              </a:ext>
            </a:extLst>
          </p:cNvPr>
          <p:cNvSpPr txBox="1"/>
          <p:nvPr/>
        </p:nvSpPr>
        <p:spPr>
          <a:xfrm>
            <a:off x="339911" y="883022"/>
            <a:ext cx="709841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"Wann soll ich dann GraphQL überhaupt verwenden?"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7A988E-2BC4-281E-17C9-289118E7EAEC}"/>
              </a:ext>
            </a:extLst>
          </p:cNvPr>
          <p:cNvSpPr txBox="1"/>
          <p:nvPr/>
        </p:nvSpPr>
        <p:spPr>
          <a:xfrm rot="21280636">
            <a:off x="1361316" y="2017751"/>
            <a:ext cx="4491935" cy="1107996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66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it</a:t>
            </a:r>
            <a:r>
              <a:rPr lang="de-DE" sz="66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66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depends</a:t>
            </a:r>
            <a:r>
              <a:rPr lang="de-DE" sz="6600" b="1" i="1" dirty="0">
                <a:solidFill>
                  <a:srgbClr val="36544F"/>
                </a:solidFill>
                <a:latin typeface="Candara" panose="020E0502030303020204" pitchFamily="34" charset="0"/>
              </a:rPr>
              <a:t>...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DF3FEF8-4CBF-B099-3E74-89A0B95D7983}"/>
              </a:ext>
            </a:extLst>
          </p:cNvPr>
          <p:cNvSpPr txBox="1"/>
          <p:nvPr/>
        </p:nvSpPr>
        <p:spPr>
          <a:xfrm rot="21254442">
            <a:off x="1883894" y="3969966"/>
            <a:ext cx="3446777" cy="707886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4000" b="1" i="1" dirty="0">
                <a:solidFill>
                  <a:srgbClr val="36544F"/>
                </a:solidFill>
                <a:latin typeface="Candara" panose="020E0502030303020204" pitchFamily="34" charset="0"/>
              </a:rPr>
              <a:t>(wie immer  </a:t>
            </a:r>
            <a:r>
              <a:rPr lang="de-DE" sz="3200" b="1" dirty="0">
                <a:solidFill>
                  <a:srgbClr val="36544F"/>
                </a:solidFill>
                <a:latin typeface="Candara" panose="020E0502030303020204" pitchFamily="34" charset="0"/>
              </a:rPr>
              <a:t>😇</a:t>
            </a:r>
            <a:r>
              <a:rPr lang="de-DE" sz="4000" b="1" i="1" dirty="0">
                <a:solidFill>
                  <a:srgbClr val="36544F"/>
                </a:solidFill>
                <a:latin typeface="Candara" panose="020E0502030303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856589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Wasser, gelb, Sonnenuntergang, Badewanne enthält.&#10;&#10;Automatisch generierte Beschreibung">
            <a:extLst>
              <a:ext uri="{FF2B5EF4-FFF2-40B4-BE49-F238E27FC236}">
                <a16:creationId xmlns:a16="http://schemas.microsoft.com/office/drawing/2014/main" id="{5712451A-62CD-F995-F2CB-CE8DF184E0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57"/>
          <a:stretch/>
        </p:blipFill>
        <p:spPr>
          <a:xfrm>
            <a:off x="0" y="-10238"/>
            <a:ext cx="9144000" cy="521221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B486D047-2845-FD46-9E97-96862A46AB8E}"/>
              </a:ext>
            </a:extLst>
          </p:cNvPr>
          <p:cNvSpPr/>
          <p:nvPr/>
        </p:nvSpPr>
        <p:spPr>
          <a:xfrm>
            <a:off x="-20096" y="-10237"/>
            <a:ext cx="9144000" cy="5212214"/>
          </a:xfrm>
          <a:prstGeom prst="rect">
            <a:avLst/>
          </a:prstGeom>
          <a:solidFill>
            <a:srgbClr val="D4EBE9">
              <a:alpha val="149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A7CEA2F-9B98-C545-A913-2FD65D763AE3}"/>
              </a:ext>
            </a:extLst>
          </p:cNvPr>
          <p:cNvSpPr/>
          <p:nvPr/>
        </p:nvSpPr>
        <p:spPr>
          <a:xfrm>
            <a:off x="857250" y="4550833"/>
            <a:ext cx="7429500" cy="592667"/>
          </a:xfrm>
          <a:prstGeom prst="rect">
            <a:avLst/>
          </a:prstGeom>
          <a:solidFill>
            <a:srgbClr val="5AB88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DDDCEAB-80AC-984C-A849-8AFD5EA1A016}"/>
              </a:ext>
            </a:extLst>
          </p:cNvPr>
          <p:cNvSpPr/>
          <p:nvPr/>
        </p:nvSpPr>
        <p:spPr>
          <a:xfrm>
            <a:off x="2388725" y="1575032"/>
            <a:ext cx="4592255" cy="776853"/>
          </a:xfrm>
          <a:prstGeom prst="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0" b="1" dirty="0">
                <a:solidFill>
                  <a:srgbClr val="B04532"/>
                </a:solidFill>
                <a:latin typeface="Source Sans Pro" panose="020B0503030403020204" pitchFamily="34" charset="77"/>
                <a:ea typeface="Source Sans Pro SemiBold" charset="0"/>
                <a:cs typeface="Source Sans Pro SemiBold" charset="0"/>
              </a:rPr>
              <a:t>Vielen Dank!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FA1580C-A24E-6760-15D7-D52EBC5F8BB2}"/>
              </a:ext>
            </a:extLst>
          </p:cNvPr>
          <p:cNvSpPr/>
          <p:nvPr/>
        </p:nvSpPr>
        <p:spPr>
          <a:xfrm>
            <a:off x="872158" y="214864"/>
            <a:ext cx="7414592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9300" b="1" dirty="0">
                <a:solidFill>
                  <a:srgbClr val="EF7D1D"/>
                </a:solidFill>
                <a:latin typeface="Source Sans Pro SemiBold" charset="0"/>
                <a:ea typeface="Source Sans Pro SemiBold" charset="0"/>
                <a:cs typeface="Source Sans Pro SemiBold" charset="0"/>
              </a:rPr>
              <a:t>🍻</a:t>
            </a:r>
            <a:endParaRPr lang="de-DE" sz="93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36CAD2B-FCD2-6561-1D44-BC05EDF8A755}"/>
              </a:ext>
            </a:extLst>
          </p:cNvPr>
          <p:cNvSpPr/>
          <p:nvPr/>
        </p:nvSpPr>
        <p:spPr>
          <a:xfrm>
            <a:off x="313491" y="2842209"/>
            <a:ext cx="6774113" cy="173968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de-DE" b="1" dirty="0">
                <a:solidFill>
                  <a:srgbClr val="36544F"/>
                </a:solidFill>
              </a:rPr>
              <a:t>Slides &amp; Source: </a:t>
            </a:r>
            <a:r>
              <a:rPr lang="de-DE" b="1" dirty="0">
                <a:solidFill>
                  <a:srgbClr val="41719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de-DE" b="1" dirty="0" err="1">
                <a:solidFill>
                  <a:srgbClr val="41719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graphql.schule</a:t>
            </a:r>
            <a:r>
              <a:rPr lang="de-DE" b="1" dirty="0">
                <a:solidFill>
                  <a:srgbClr val="41719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/softwerkskammer-</a:t>
            </a:r>
            <a:r>
              <a:rPr lang="de-DE" b="1" dirty="0" err="1">
                <a:solidFill>
                  <a:srgbClr val="41719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nuernberg</a:t>
            </a:r>
            <a:endParaRPr lang="de-DE" b="1" dirty="0">
              <a:solidFill>
                <a:srgbClr val="41719C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de-DE" b="1" dirty="0">
                <a:solidFill>
                  <a:srgbClr val="36544F"/>
                </a:solidFill>
              </a:rPr>
              <a:t>Fragen und Kontakt: </a:t>
            </a:r>
            <a:r>
              <a:rPr lang="de-DE" b="1" dirty="0">
                <a:solidFill>
                  <a:srgbClr val="41719C"/>
                </a:solidFill>
              </a:rPr>
              <a:t>nils@nilshartmann.net</a:t>
            </a:r>
          </a:p>
          <a:p>
            <a:pPr algn="ctr">
              <a:lnSpc>
                <a:spcPct val="200000"/>
              </a:lnSpc>
            </a:pPr>
            <a:r>
              <a:rPr lang="de-DE" b="1" dirty="0">
                <a:solidFill>
                  <a:srgbClr val="36544F"/>
                </a:solidFill>
              </a:rPr>
              <a:t>Meine Workshops: </a:t>
            </a:r>
            <a:r>
              <a:rPr lang="de-DE" b="1" dirty="0">
                <a:solidFill>
                  <a:srgbClr val="41719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https://nilshartmann.net/workshops </a:t>
            </a:r>
            <a:r>
              <a:rPr lang="de-DE" b="1" dirty="0">
                <a:solidFill>
                  <a:srgbClr val="41719C"/>
                </a:solidFill>
              </a:rPr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E927CA4-A787-22DF-1A51-E6F6F2CE2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575" y="2842209"/>
            <a:ext cx="1739688" cy="173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6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3534</Words>
  <Application>Microsoft Macintosh PowerPoint</Application>
  <PresentationFormat>Bildschirmpräsentation (16:9)</PresentationFormat>
  <Paragraphs>612</Paragraphs>
  <Slides>97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97</vt:i4>
      </vt:variant>
    </vt:vector>
  </HeadingPairs>
  <TitlesOfParts>
    <vt:vector size="111" baseType="lpstr">
      <vt:lpstr>Arial</vt:lpstr>
      <vt:lpstr>Calibri</vt:lpstr>
      <vt:lpstr>Calibri Light</vt:lpstr>
      <vt:lpstr>Candara</vt:lpstr>
      <vt:lpstr>Helvetica Neue</vt:lpstr>
      <vt:lpstr>Montserrat</vt:lpstr>
      <vt:lpstr>Source Code Pro</vt:lpstr>
      <vt:lpstr>Source Code Pro Light</vt:lpstr>
      <vt:lpstr>Source Code Pro Medium</vt:lpstr>
      <vt:lpstr>Source Code Pro Semibold</vt:lpstr>
      <vt:lpstr>Source Sans Pro</vt:lpstr>
      <vt:lpstr>Source Sans Pro Light</vt:lpstr>
      <vt:lpstr>Source Sans Pro SemiBold</vt:lpstr>
      <vt:lpstr>Office-Design</vt:lpstr>
      <vt:lpstr>Softwerkskammer Nürnberg | 21. April 2026 | @nilshartmann</vt:lpstr>
      <vt:lpstr>https://nilshartmann.net</vt:lpstr>
      <vt:lpstr>Source: https://github.com/nilshartmann/spring-graphql-talk</vt:lpstr>
      <vt:lpstr>Eine Api für den BeerAdvisor</vt:lpstr>
      <vt:lpstr>Eine Api für den BeerAdvisor</vt:lpstr>
      <vt:lpstr>Eine Api für den BeerAdvisor</vt:lpstr>
      <vt:lpstr>Eine Api für den BeerAdvisor</vt:lpstr>
      <vt:lpstr>Eine Api für den BeerAdvisor</vt:lpstr>
      <vt:lpstr>Eine Api für den BeerAdvisor</vt:lpstr>
      <vt:lpstr>Eine Api für den BeerAdvisor</vt:lpstr>
      <vt:lpstr>Eine Api für den BeerAdvisor</vt:lpstr>
      <vt:lpstr>PowerPoint-Präsentation</vt:lpstr>
      <vt:lpstr>Query Language</vt:lpstr>
      <vt:lpstr>Query Language</vt:lpstr>
      <vt:lpstr>Query Language</vt:lpstr>
      <vt:lpstr>Query Language</vt:lpstr>
      <vt:lpstr>Query Language</vt:lpstr>
      <vt:lpstr>Query Language</vt:lpstr>
      <vt:lpstr>Query Language</vt:lpstr>
      <vt:lpstr>PowerPoint-Präsentation</vt:lpstr>
      <vt:lpstr>Query Language</vt:lpstr>
      <vt:lpstr>Query Language</vt:lpstr>
      <vt:lpstr>Query Language</vt:lpstr>
      <vt:lpstr>Query Language</vt:lpstr>
      <vt:lpstr>Query Language</vt:lpstr>
      <vt:lpstr>PowerPoint-Präsentation</vt:lpstr>
      <vt:lpstr>GraphQL Schema</vt:lpstr>
      <vt:lpstr>GraphQL Schema</vt:lpstr>
      <vt:lpstr>PowerPoint-Präsentation</vt:lpstr>
      <vt:lpstr>GraphQL APIs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Implementierung</vt:lpstr>
      <vt:lpstr>Queries ausführen</vt:lpstr>
      <vt:lpstr>Queries ausführen</vt:lpstr>
      <vt:lpstr>Implementierung</vt:lpstr>
      <vt:lpstr>Implementierung</vt:lpstr>
      <vt:lpstr>Implementierung</vt:lpstr>
      <vt:lpstr>Performance tuning</vt:lpstr>
      <vt:lpstr>Performance tuning</vt:lpstr>
      <vt:lpstr>Performance tuning</vt:lpstr>
      <vt:lpstr>Performance tuning</vt:lpstr>
      <vt:lpstr>Performance tuning</vt:lpstr>
      <vt:lpstr>Performance tuning</vt:lpstr>
      <vt:lpstr>PowerPoint-Präsentation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GraphQL in der Praxis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Nils Hartmann</dc:creator>
  <cp:lastModifiedBy>Nils Hartmann</cp:lastModifiedBy>
  <cp:revision>1254</cp:revision>
  <cp:lastPrinted>2019-09-03T13:49:24Z</cp:lastPrinted>
  <dcterms:created xsi:type="dcterms:W3CDTF">2016-03-28T15:59:53Z</dcterms:created>
  <dcterms:modified xsi:type="dcterms:W3CDTF">2026-04-21T15:24:08Z</dcterms:modified>
</cp:coreProperties>
</file>